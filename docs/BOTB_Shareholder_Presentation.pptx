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Us</c:v>
                </c:pt>
              </c:strCache>
            </c:strRef>
          </c:tx>
          <c:spPr>
            <a:solidFill>
              <a:srgbClr val="E3A94E"/>
            </a:solidFill>
            <a:ln w="31750" cap="flat">
              <a:solidFill>
                <a:srgbClr val="E3A9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3A94E"/>
              </a:solidFill>
              <a:ln w="9525" cap="flat">
                <a:solidFill>
                  <a:srgbClr val="E3A94E"/>
                </a:solidFill>
                <a:prstDash val="solid"/>
                <a:round/>
              </a:ln>
              <a:effectLst/>
            </c:spPr>
          </c:marker>
          <c:cat>
            <c:multiLvlStrRef>
              <c:f>Sheet1!$A$2:$A$10</c:f>
              <c:multiLvlStrCache>
                <c:ptCount val="9"/>
                <c:lvl>
                  <c:pt idx="0">
                    <c:v>Q4/28</c:v>
                  </c:pt>
                  <c:pt idx="1">
                    <c:v>Q1/29</c:v>
                  </c:pt>
                  <c:pt idx="2">
                    <c:v>Q2/29</c:v>
                  </c:pt>
                  <c:pt idx="3">
                    <c:v>Q3/29</c:v>
                  </c:pt>
                  <c:pt idx="4">
                    <c:v>Q4/29</c:v>
                  </c:pt>
                  <c:pt idx="5">
                    <c:v>Q1/30</c:v>
                  </c:pt>
                  <c:pt idx="6">
                    <c:v>Q2/30</c:v>
                  </c:pt>
                  <c:pt idx="7">
                    <c:v>Q3/30</c:v>
                  </c:pt>
                  <c:pt idx="8">
                    <c:v>Q4/30</c:v>
                  </c:pt>
                </c:lvl>
              </c:multiLvlStrCache>
            </c:multiLvlStrRef>
          </c:cat>
          <c:val>
            <c:numRef>
              <c:f>Sheet1!$B$2:$B$10</c:f>
              <c:numCache>
                <c:formatCode>General</c:formatCode>
                <c:ptCount val="9"/>
                <c:pt idx="0">
                  <c:v>34.82</c:v>
                </c:pt>
                <c:pt idx="1">
                  <c:v>26.99</c:v>
                </c:pt>
                <c:pt idx="2">
                  <c:v>22.97</c:v>
                </c:pt>
                <c:pt idx="3">
                  <c:v>30.19</c:v>
                </c:pt>
                <c:pt idx="4">
                  <c:v>31.59</c:v>
                </c:pt>
                <c:pt idx="5">
                  <c:v>42.3</c:v>
                </c:pt>
                <c:pt idx="6">
                  <c:v>43.44</c:v>
                </c:pt>
                <c:pt idx="7">
                  <c:v>47.41</c:v>
                </c:pt>
                <c:pt idx="8">
                  <c:v>41.36</c:v>
                </c:pt>
              </c:numCache>
            </c:numRef>
          </c:val>
          <c:smooth val="0"/>
        </c:ser>
        <c:ser>
          <c:idx val="1"/>
          <c:order val="1"/>
          <c:tx>
            <c:strRef>
              <c:f>Sheet1!$C$1</c:f>
              <c:strCache>
                <c:ptCount val="1"/>
                <c:pt idx="0">
                  <c:v>Bank 2</c:v>
                </c:pt>
              </c:strCache>
            </c:strRef>
          </c:tx>
          <c:spPr>
            <a:solidFill>
              <a:srgbClr val="97A0AD"/>
            </a:solidFill>
            <a:ln w="31750" cap="flat">
              <a:solidFill>
                <a:srgbClr val="97A0A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97A0AD"/>
              </a:solidFill>
              <a:ln w="9525" cap="flat">
                <a:solidFill>
                  <a:srgbClr val="97A0AD"/>
                </a:solidFill>
                <a:prstDash val="solid"/>
                <a:round/>
              </a:ln>
              <a:effectLst/>
            </c:spPr>
          </c:marker>
          <c:cat>
            <c:multiLvlStrRef>
              <c:f>Sheet1!$A$2:$A$10</c:f>
              <c:multiLvlStrCache>
                <c:ptCount val="9"/>
                <c:lvl>
                  <c:pt idx="0">
                    <c:v>Q4/28</c:v>
                  </c:pt>
                  <c:pt idx="1">
                    <c:v>Q1/29</c:v>
                  </c:pt>
                  <c:pt idx="2">
                    <c:v>Q2/29</c:v>
                  </c:pt>
                  <c:pt idx="3">
                    <c:v>Q3/29</c:v>
                  </c:pt>
                  <c:pt idx="4">
                    <c:v>Q4/29</c:v>
                  </c:pt>
                  <c:pt idx="5">
                    <c:v>Q1/30</c:v>
                  </c:pt>
                  <c:pt idx="6">
                    <c:v>Q2/30</c:v>
                  </c:pt>
                  <c:pt idx="7">
                    <c:v>Q3/30</c:v>
                  </c:pt>
                  <c:pt idx="8">
                    <c:v>Q4/30</c:v>
                  </c:pt>
                </c:lvl>
              </c:multiLvlStrCache>
            </c:multiLvlStrRef>
          </c:cat>
          <c:val>
            <c:numRef>
              <c:f>Sheet1!$C$2:$C$10</c:f>
              <c:numCache>
                <c:formatCode>General</c:formatCode>
                <c:ptCount val="9"/>
                <c:pt idx="0">
                  <c:v>34.82</c:v>
                </c:pt>
                <c:pt idx="1">
                  <c:v>24.86</c:v>
                </c:pt>
                <c:pt idx="2">
                  <c:v>22.5</c:v>
                </c:pt>
                <c:pt idx="3">
                  <c:v>26.13</c:v>
                </c:pt>
                <c:pt idx="4">
                  <c:v>32.23</c:v>
                </c:pt>
                <c:pt idx="5">
                  <c:v>33.92</c:v>
                </c:pt>
                <c:pt idx="6">
                  <c:v>43.93</c:v>
                </c:pt>
                <c:pt idx="7">
                  <c:v>38.62</c:v>
                </c:pt>
                <c:pt idx="8">
                  <c:v>40.36</c:v>
                </c:pt>
              </c:numCache>
            </c:numRef>
          </c:val>
          <c:smooth val="0"/>
        </c:ser>
        <c:ser>
          <c:idx val="2"/>
          <c:order val="2"/>
          <c:tx>
            <c:strRef>
              <c:f>Sheet1!$D$1</c:f>
              <c:strCache>
                <c:ptCount val="1"/>
                <c:pt idx="0">
                  <c:v>Bank 3</c:v>
                </c:pt>
              </c:strCache>
            </c:strRef>
          </c:tx>
          <c:spPr>
            <a:solidFill>
              <a:srgbClr val="6B8F71"/>
            </a:solidFill>
            <a:ln w="31750" cap="flat">
              <a:solidFill>
                <a:srgbClr val="6B8F7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6B8F71"/>
              </a:solidFill>
              <a:ln w="9525" cap="flat">
                <a:solidFill>
                  <a:srgbClr val="6B8F71"/>
                </a:solidFill>
                <a:prstDash val="solid"/>
                <a:round/>
              </a:ln>
              <a:effectLst/>
            </c:spPr>
          </c:marker>
          <c:cat>
            <c:multiLvlStrRef>
              <c:f>Sheet1!$A$2:$A$10</c:f>
              <c:multiLvlStrCache>
                <c:ptCount val="9"/>
                <c:lvl>
                  <c:pt idx="0">
                    <c:v>Q4/28</c:v>
                  </c:pt>
                  <c:pt idx="1">
                    <c:v>Q1/29</c:v>
                  </c:pt>
                  <c:pt idx="2">
                    <c:v>Q2/29</c:v>
                  </c:pt>
                  <c:pt idx="3">
                    <c:v>Q3/29</c:v>
                  </c:pt>
                  <c:pt idx="4">
                    <c:v>Q4/29</c:v>
                  </c:pt>
                  <c:pt idx="5">
                    <c:v>Q1/30</c:v>
                  </c:pt>
                  <c:pt idx="6">
                    <c:v>Q2/30</c:v>
                  </c:pt>
                  <c:pt idx="7">
                    <c:v>Q3/30</c:v>
                  </c:pt>
                  <c:pt idx="8">
                    <c:v>Q4/30</c:v>
                  </c:pt>
                </c:lvl>
              </c:multiLvlStrCache>
            </c:multiLvlStrRef>
          </c:cat>
          <c:val>
            <c:numRef>
              <c:f>Sheet1!$D$2:$D$10</c:f>
              <c:numCache>
                <c:formatCode>General</c:formatCode>
                <c:ptCount val="9"/>
                <c:pt idx="0">
                  <c:v>34.82</c:v>
                </c:pt>
                <c:pt idx="1">
                  <c:v>34.74</c:v>
                </c:pt>
                <c:pt idx="2">
                  <c:v>29.49</c:v>
                </c:pt>
                <c:pt idx="3">
                  <c:v>30.01</c:v>
                </c:pt>
                <c:pt idx="4">
                  <c:v>37.61</c:v>
                </c:pt>
                <c:pt idx="5">
                  <c:v>53.98</c:v>
                </c:pt>
                <c:pt idx="6">
                  <c:v>52.43</c:v>
                </c:pt>
                <c:pt idx="7">
                  <c:v>51.21</c:v>
                </c:pt>
                <c:pt idx="8">
                  <c:v>43.11</c:v>
                </c:pt>
              </c:numCache>
            </c:numRef>
          </c:val>
          <c:smooth val="0"/>
        </c:ser>
        <c:ser>
          <c:idx val="3"/>
          <c:order val="3"/>
          <c:tx>
            <c:strRef>
              <c:f>Sheet1!$E$1</c:f>
              <c:strCache>
                <c:ptCount val="1"/>
                <c:pt idx="0">
                  <c:v>Bank 4</c:v>
                </c:pt>
              </c:strCache>
            </c:strRef>
          </c:tx>
          <c:spPr>
            <a:solidFill>
              <a:srgbClr val="9A8FB8"/>
            </a:solidFill>
            <a:ln w="31750" cap="flat">
              <a:solidFill>
                <a:srgbClr val="9A8F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9A8FB8"/>
              </a:solidFill>
              <a:ln w="9525" cap="flat">
                <a:solidFill>
                  <a:srgbClr val="9A8FB8"/>
                </a:solidFill>
                <a:prstDash val="solid"/>
                <a:round/>
              </a:ln>
              <a:effectLst/>
            </c:spPr>
          </c:marker>
          <c:cat>
            <c:multiLvlStrRef>
              <c:f>Sheet1!$A$2:$A$10</c:f>
              <c:multiLvlStrCache>
                <c:ptCount val="9"/>
                <c:lvl>
                  <c:pt idx="0">
                    <c:v>Q4/28</c:v>
                  </c:pt>
                  <c:pt idx="1">
                    <c:v>Q1/29</c:v>
                  </c:pt>
                  <c:pt idx="2">
                    <c:v>Q2/29</c:v>
                  </c:pt>
                  <c:pt idx="3">
                    <c:v>Q3/29</c:v>
                  </c:pt>
                  <c:pt idx="4">
                    <c:v>Q4/29</c:v>
                  </c:pt>
                  <c:pt idx="5">
                    <c:v>Q1/30</c:v>
                  </c:pt>
                  <c:pt idx="6">
                    <c:v>Q2/30</c:v>
                  </c:pt>
                  <c:pt idx="7">
                    <c:v>Q3/30</c:v>
                  </c:pt>
                  <c:pt idx="8">
                    <c:v>Q4/30</c:v>
                  </c:pt>
                </c:lvl>
              </c:multiLvlStrCache>
            </c:multiLvlStrRef>
          </c:cat>
          <c:val>
            <c:numRef>
              <c:f>Sheet1!$E$2:$E$10</c:f>
              <c:numCache>
                <c:formatCode>General</c:formatCode>
                <c:ptCount val="9"/>
                <c:pt idx="0">
                  <c:v>34.82</c:v>
                </c:pt>
                <c:pt idx="1">
                  <c:v>29.11</c:v>
                </c:pt>
                <c:pt idx="2">
                  <c:v>31.47</c:v>
                </c:pt>
                <c:pt idx="3">
                  <c:v>34.33</c:v>
                </c:pt>
                <c:pt idx="4">
                  <c:v>37.01</c:v>
                </c:pt>
                <c:pt idx="5">
                  <c:v>33.9</c:v>
                </c:pt>
                <c:pt idx="6">
                  <c:v>36.41</c:v>
                </c:pt>
                <c:pt idx="7">
                  <c:v>49.38</c:v>
                </c:pt>
                <c:pt idx="8">
                  <c:v>39.29</c:v>
                </c:pt>
              </c:numCache>
            </c:numRef>
          </c:val>
          <c:smooth val="0"/>
        </c:ser>
        <c:ser>
          <c:idx val="4"/>
          <c:order val="4"/>
          <c:tx>
            <c:strRef>
              <c:f>Sheet1!$F$1</c:f>
              <c:strCache>
                <c:ptCount val="1"/>
                <c:pt idx="0">
                  <c:v>Bank 5</c:v>
                </c:pt>
              </c:strCache>
            </c:strRef>
          </c:tx>
          <c:spPr>
            <a:solidFill>
              <a:srgbClr val="B98A64"/>
            </a:solidFill>
            <a:ln w="31750" cap="flat">
              <a:solidFill>
                <a:srgbClr val="B98A6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8A64"/>
              </a:solidFill>
              <a:ln w="9525" cap="flat">
                <a:solidFill>
                  <a:srgbClr val="B98A64"/>
                </a:solidFill>
                <a:prstDash val="solid"/>
                <a:round/>
              </a:ln>
              <a:effectLst/>
            </c:spPr>
          </c:marker>
          <c:cat>
            <c:multiLvlStrRef>
              <c:f>Sheet1!$A$2:$A$10</c:f>
              <c:multiLvlStrCache>
                <c:ptCount val="9"/>
                <c:lvl>
                  <c:pt idx="0">
                    <c:v>Q4/28</c:v>
                  </c:pt>
                  <c:pt idx="1">
                    <c:v>Q1/29</c:v>
                  </c:pt>
                  <c:pt idx="2">
                    <c:v>Q2/29</c:v>
                  </c:pt>
                  <c:pt idx="3">
                    <c:v>Q3/29</c:v>
                  </c:pt>
                  <c:pt idx="4">
                    <c:v>Q4/29</c:v>
                  </c:pt>
                  <c:pt idx="5">
                    <c:v>Q1/30</c:v>
                  </c:pt>
                  <c:pt idx="6">
                    <c:v>Q2/30</c:v>
                  </c:pt>
                  <c:pt idx="7">
                    <c:v>Q3/30</c:v>
                  </c:pt>
                  <c:pt idx="8">
                    <c:v>Q4/30</c:v>
                  </c:pt>
                </c:lvl>
              </c:multiLvlStrCache>
            </c:multiLvlStrRef>
          </c:cat>
          <c:val>
            <c:numRef>
              <c:f>Sheet1!$F$2:$F$10</c:f>
              <c:numCache>
                <c:formatCode>General</c:formatCode>
                <c:ptCount val="9"/>
                <c:pt idx="0">
                  <c:v>34.82</c:v>
                </c:pt>
                <c:pt idx="1">
                  <c:v>25.3</c:v>
                </c:pt>
                <c:pt idx="2">
                  <c:v>20.57</c:v>
                </c:pt>
                <c:pt idx="3">
                  <c:v>26.4</c:v>
                </c:pt>
                <c:pt idx="4">
                  <c:v>27.9</c:v>
                </c:pt>
                <c:pt idx="5">
                  <c:v>23.74</c:v>
                </c:pt>
                <c:pt idx="6">
                  <c:v>26.67</c:v>
                </c:pt>
                <c:pt idx="7">
                  <c:v>33.45</c:v>
                </c:pt>
                <c:pt idx="8">
                  <c:v>35.8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4B7"/>
            </a:solidFill>
            <a:prstDash val="solid"/>
            <a:round/>
          </a:ln>
        </c:spPr>
        <c:txPr>
          <a:bodyPr/>
          <a:lstStyle/>
          <a:p>
            <a:pPr>
              <a:defRPr sz="1000" b="0" i="0" u="none" strike="noStrike">
                <a:solidFill>
                  <a:srgbClr val="6E7480"/>
                </a:solidFill>
                <a:latin typeface="Arial"/>
              </a:defRPr>
            </a:pPr>
            <a:endParaRPr lang="en-US"/>
          </a:p>
        </c:txPr>
        <c:crossAx val="2094734552"/>
        <c:crosses val="autoZero"/>
        <c:auto val="1"/>
        <c:lblAlgn val="ctr"/>
        <c:noMultiLvlLbl val="1"/>
      </c:catAx>
      <c:valAx>
        <c:axId val="2094734552"/>
        <c:scaling>
          <c:orientation val="minMax"/>
          <c:max val="55"/>
          <c:min val="15"/>
        </c:scaling>
        <c:delete val="0"/>
        <c:axPos val="l"/>
        <c:majorGridlines>
          <c:spPr>
            <a:ln w="6350" cap="flat">
              <a:solidFill>
                <a:srgbClr val="E4E0D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E7480"/>
                </a:solidFill>
                <a:latin typeface="Arial"/>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6E7480"/>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earnings</c:v>
                </c:pt>
              </c:strCache>
            </c:strRef>
          </c:tx>
          <c:spPr>
            <a:solidFill>
              <a:srgbClr val="E3A94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Q1/29</c:v>
                  </c:pt>
                  <c:pt idx="1">
                    <c:v>Q2/29</c:v>
                  </c:pt>
                  <c:pt idx="2">
                    <c:v>Q3/29</c:v>
                  </c:pt>
                  <c:pt idx="3">
                    <c:v>Q4/29</c:v>
                  </c:pt>
                  <c:pt idx="4">
                    <c:v>Q1/30</c:v>
                  </c:pt>
                  <c:pt idx="5">
                    <c:v>Q2/30</c:v>
                  </c:pt>
                  <c:pt idx="6">
                    <c:v>Q3/30</c:v>
                  </c:pt>
                  <c:pt idx="7">
                    <c:v>Q4/30</c:v>
                  </c:pt>
                </c:lvl>
              </c:multiLvlStrCache>
            </c:multiLvlStrRef>
          </c:cat>
          <c:val>
            <c:numRef>
              <c:f>Sheet1!$B$2:$B$9</c:f>
              <c:numCache>
                <c:formatCode>General</c:formatCode>
                <c:ptCount val="8"/>
                <c:pt idx="0">
                  <c:v>-1.341</c:v>
                </c:pt>
                <c:pt idx="1">
                  <c:v>-1.186</c:v>
                </c:pt>
                <c:pt idx="2">
                  <c:v>0.321</c:v>
                </c:pt>
                <c:pt idx="3">
                  <c:v>1.603</c:v>
                </c:pt>
                <c:pt idx="4">
                  <c:v>2.131</c:v>
                </c:pt>
                <c:pt idx="5">
                  <c:v>1.276</c:v>
                </c:pt>
                <c:pt idx="6">
                  <c:v>3.825</c:v>
                </c:pt>
                <c:pt idx="7">
                  <c:v>0.577</c:v>
                </c:pt>
              </c:numCache>
            </c:numRef>
          </c:val>
        </c:ser>
        <c:ser>
          <c:idx val="1"/>
          <c:order val="1"/>
          <c:tx>
            <c:strRef>
              <c:f>Sheet1!$C$1</c:f>
              <c:strCache>
                <c:ptCount val="1"/>
                <c:pt idx="0">
                  <c:v>Net income</c:v>
                </c:pt>
              </c:strCache>
            </c:strRef>
          </c:tx>
          <c:spPr>
            <a:solidFill>
              <a:srgbClr val="1F2A4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Q1/29</c:v>
                  </c:pt>
                  <c:pt idx="1">
                    <c:v>Q2/29</c:v>
                  </c:pt>
                  <c:pt idx="2">
                    <c:v>Q3/29</c:v>
                  </c:pt>
                  <c:pt idx="3">
                    <c:v>Q4/29</c:v>
                  </c:pt>
                  <c:pt idx="4">
                    <c:v>Q1/30</c:v>
                  </c:pt>
                  <c:pt idx="5">
                    <c:v>Q2/30</c:v>
                  </c:pt>
                  <c:pt idx="6">
                    <c:v>Q3/30</c:v>
                  </c:pt>
                  <c:pt idx="7">
                    <c:v>Q4/30</c:v>
                  </c:pt>
                </c:lvl>
              </c:multiLvlStrCache>
            </c:multiLvlStrRef>
          </c:cat>
          <c:val>
            <c:numRef>
              <c:f>Sheet1!$C$2:$C$9</c:f>
              <c:numCache>
                <c:formatCode>General</c:formatCode>
                <c:ptCount val="8"/>
                <c:pt idx="0">
                  <c:v>-0.627</c:v>
                </c:pt>
                <c:pt idx="1">
                  <c:v>-1.226</c:v>
                </c:pt>
                <c:pt idx="2">
                  <c:v>0.023</c:v>
                </c:pt>
                <c:pt idx="3">
                  <c:v>1.782</c:v>
                </c:pt>
                <c:pt idx="4">
                  <c:v>1.704</c:v>
                </c:pt>
                <c:pt idx="5">
                  <c:v>1.029</c:v>
                </c:pt>
                <c:pt idx="6">
                  <c:v>3.043</c:v>
                </c:pt>
                <c:pt idx="7">
                  <c:v>0.906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4B7"/>
            </a:solidFill>
            <a:prstDash val="solid"/>
            <a:round/>
          </a:ln>
        </c:spPr>
        <c:txPr>
          <a:bodyPr/>
          <a:lstStyle/>
          <a:p>
            <a:pPr>
              <a:defRPr sz="1000" b="0" i="0" u="none" strike="noStrike">
                <a:solidFill>
                  <a:srgbClr val="6E74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0D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E7480"/>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6E7480"/>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Us</c:v>
                </c:pt>
              </c:strCache>
            </c:strRef>
          </c:tx>
          <c:spPr>
            <a:solidFill>
              <a:srgbClr val="E3A94E"/>
            </a:solidFill>
            <a:ln w="31750" cap="flat">
              <a:solidFill>
                <a:srgbClr val="E3A9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3A94E"/>
              </a:solidFill>
              <a:ln w="9525" cap="flat">
                <a:solidFill>
                  <a:srgbClr val="E3A94E"/>
                </a:solidFill>
                <a:prstDash val="solid"/>
                <a:round/>
              </a:ln>
              <a:effectLst/>
            </c:spPr>
          </c:marker>
          <c:cat>
            <c:multiLvlStrRef>
              <c:f>Sheet1!$A$2:$A$9</c:f>
              <c:multiLvlStrCache>
                <c:ptCount val="8"/>
                <c:lvl>
                  <c:pt idx="0">
                    <c:v>Q1/29</c:v>
                  </c:pt>
                  <c:pt idx="1">
                    <c:v>Q2/29</c:v>
                  </c:pt>
                  <c:pt idx="2">
                    <c:v>Q3/29</c:v>
                  </c:pt>
                  <c:pt idx="3">
                    <c:v>Q4/29</c:v>
                  </c:pt>
                  <c:pt idx="4">
                    <c:v>Q1/30</c:v>
                  </c:pt>
                  <c:pt idx="5">
                    <c:v>Q2/30</c:v>
                  </c:pt>
                  <c:pt idx="6">
                    <c:v>Q3/30</c:v>
                  </c:pt>
                  <c:pt idx="7">
                    <c:v>Q4/30</c:v>
                  </c:pt>
                </c:lvl>
              </c:multiLvlStrCache>
            </c:multiLvlStrRef>
          </c:cat>
          <c:val>
            <c:numRef>
              <c:f>Sheet1!$B$2:$B$9</c:f>
              <c:numCache>
                <c:formatCode>General</c:formatCode>
                <c:ptCount val="8"/>
                <c:pt idx="0">
                  <c:v>3.12</c:v>
                </c:pt>
                <c:pt idx="1">
                  <c:v>3.13</c:v>
                </c:pt>
                <c:pt idx="2">
                  <c:v>3.24</c:v>
                </c:pt>
                <c:pt idx="3">
                  <c:v>3.7</c:v>
                </c:pt>
                <c:pt idx="4">
                  <c:v>3.85</c:v>
                </c:pt>
                <c:pt idx="5">
                  <c:v>3.96</c:v>
                </c:pt>
                <c:pt idx="6">
                  <c:v>4.1</c:v>
                </c:pt>
                <c:pt idx="7">
                  <c:v>3.36</c:v>
                </c:pt>
              </c:numCache>
            </c:numRef>
          </c:val>
          <c:smooth val="0"/>
        </c:ser>
        <c:ser>
          <c:idx val="1"/>
          <c:order val="1"/>
          <c:tx>
            <c:strRef>
              <c:f>Sheet1!$C$1</c:f>
              <c:strCache>
                <c:ptCount val="1"/>
                <c:pt idx="0">
                  <c:v>Bank 3</c:v>
                </c:pt>
              </c:strCache>
            </c:strRef>
          </c:tx>
          <c:spPr>
            <a:solidFill>
              <a:srgbClr val="6B8F71"/>
            </a:solidFill>
            <a:ln w="31750" cap="flat">
              <a:solidFill>
                <a:srgbClr val="6B8F7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6B8F71"/>
              </a:solidFill>
              <a:ln w="9525" cap="flat">
                <a:solidFill>
                  <a:srgbClr val="6B8F71"/>
                </a:solidFill>
                <a:prstDash val="solid"/>
                <a:round/>
              </a:ln>
              <a:effectLst/>
            </c:spPr>
          </c:marker>
          <c:cat>
            <c:multiLvlStrRef>
              <c:f>Sheet1!$A$2:$A$9</c:f>
              <c:multiLvlStrCache>
                <c:ptCount val="8"/>
                <c:lvl>
                  <c:pt idx="0">
                    <c:v>Q1/29</c:v>
                  </c:pt>
                  <c:pt idx="1">
                    <c:v>Q2/29</c:v>
                  </c:pt>
                  <c:pt idx="2">
                    <c:v>Q3/29</c:v>
                  </c:pt>
                  <c:pt idx="3">
                    <c:v>Q4/29</c:v>
                  </c:pt>
                  <c:pt idx="4">
                    <c:v>Q1/30</c:v>
                  </c:pt>
                  <c:pt idx="5">
                    <c:v>Q2/30</c:v>
                  </c:pt>
                  <c:pt idx="6">
                    <c:v>Q3/30</c:v>
                  </c:pt>
                  <c:pt idx="7">
                    <c:v>Q4/30</c:v>
                  </c:pt>
                </c:lvl>
              </c:multiLvlStrCache>
            </c:multiLvlStrRef>
          </c:cat>
          <c:val>
            <c:numRef>
              <c:f>Sheet1!$C$2:$C$9</c:f>
              <c:numCache>
                <c:formatCode>General</c:formatCode>
                <c:ptCount val="8"/>
                <c:pt idx="0">
                  <c:v>3.28</c:v>
                </c:pt>
                <c:pt idx="1">
                  <c:v>3.19</c:v>
                </c:pt>
                <c:pt idx="2">
                  <c:v>3.33</c:v>
                </c:pt>
                <c:pt idx="3">
                  <c:v>3.67</c:v>
                </c:pt>
                <c:pt idx="4">
                  <c:v>3.56</c:v>
                </c:pt>
                <c:pt idx="5">
                  <c:v>4.02</c:v>
                </c:pt>
                <c:pt idx="6">
                  <c:v>4.33</c:v>
                </c:pt>
                <c:pt idx="7">
                  <c:v>3.71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4B7"/>
            </a:solidFill>
            <a:prstDash val="solid"/>
            <a:round/>
          </a:ln>
        </c:spPr>
        <c:txPr>
          <a:bodyPr/>
          <a:lstStyle/>
          <a:p>
            <a:pPr>
              <a:defRPr sz="1000" b="0" i="0" u="none" strike="noStrike">
                <a:solidFill>
                  <a:srgbClr val="6E7480"/>
                </a:solidFill>
                <a:latin typeface="Arial"/>
              </a:defRPr>
            </a:pPr>
            <a:endParaRPr lang="en-US"/>
          </a:p>
        </c:txPr>
        <c:crossAx val="2094734552"/>
        <c:crosses val="autoZero"/>
        <c:auto val="1"/>
        <c:lblAlgn val="ctr"/>
        <c:noMultiLvlLbl val="1"/>
      </c:catAx>
      <c:valAx>
        <c:axId val="2094734552"/>
        <c:scaling>
          <c:orientation val="minMax"/>
          <c:max val="4.4"/>
          <c:min val="3"/>
        </c:scaling>
        <c:delete val="0"/>
        <c:axPos val="l"/>
        <c:majorGridlines>
          <c:spPr>
            <a:ln w="6350" cap="flat">
              <a:solidFill>
                <a:srgbClr val="E4E0D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E7480"/>
                </a:solidFill>
                <a:latin typeface="Arial"/>
              </a:defRPr>
            </a:pPr>
            <a:endParaRPr lang="en-US"/>
          </a:p>
        </c:txPr>
        <c:crossAx val="2094734554"/>
        <c:crosses val="autoZero"/>
        <c:crossBetween val="between"/>
        <c:majorUnit val="0.4"/>
      </c:valAx>
      <c:spPr>
        <a:noFill/>
        <a:ln>
          <a:noFill/>
        </a:ln>
        <a:effectLst/>
      </c:spPr>
    </c:plotArea>
    <c:legend>
      <c:legendPos val="b"/>
      <c:overlay val="0"/>
      <c:txPr>
        <a:bodyPr/>
        <a:lstStyle/>
        <a:p>
          <a:pPr>
            <a:defRPr sz="1100">
              <a:solidFill>
                <a:srgbClr val="6E7480"/>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Efficiency</c:v>
                </c:pt>
              </c:strCache>
            </c:strRef>
          </c:tx>
          <c:spPr>
            <a:solidFill>
              <a:srgbClr val="B9791F"/>
            </a:solidFill>
            <a:ln w="31750" cap="flat">
              <a:solidFill>
                <a:srgbClr val="B979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791F"/>
              </a:solidFill>
              <a:ln w="9525" cap="flat">
                <a:solidFill>
                  <a:srgbClr val="B9791F"/>
                </a:solidFill>
                <a:prstDash val="solid"/>
                <a:round/>
              </a:ln>
              <a:effectLst/>
            </c:spPr>
          </c:marker>
          <c:cat>
            <c:multiLvlStrRef>
              <c:f>Sheet1!$A$2:$A$9</c:f>
              <c:multiLvlStrCache>
                <c:ptCount val="8"/>
                <c:lvl>
                  <c:pt idx="0">
                    <c:v>Q1/29</c:v>
                  </c:pt>
                  <c:pt idx="1">
                    <c:v>Q2/29</c:v>
                  </c:pt>
                  <c:pt idx="2">
                    <c:v>Q3/29</c:v>
                  </c:pt>
                  <c:pt idx="3">
                    <c:v>Q4/29</c:v>
                  </c:pt>
                  <c:pt idx="4">
                    <c:v>Q1/30</c:v>
                  </c:pt>
                  <c:pt idx="5">
                    <c:v>Q2/30</c:v>
                  </c:pt>
                  <c:pt idx="6">
                    <c:v>Q3/30</c:v>
                  </c:pt>
                  <c:pt idx="7">
                    <c:v>Q4/30</c:v>
                  </c:pt>
                </c:lvl>
              </c:multiLvlStrCache>
            </c:multiLvlStrRef>
          </c:cat>
          <c:val>
            <c:numRef>
              <c:f>Sheet1!$B$2:$B$9</c:f>
              <c:numCache>
                <c:formatCode>General</c:formatCode>
                <c:ptCount val="8"/>
                <c:pt idx="0">
                  <c:v>89</c:v>
                </c:pt>
                <c:pt idx="1">
                  <c:v>89</c:v>
                </c:pt>
                <c:pt idx="2">
                  <c:v>72</c:v>
                </c:pt>
                <c:pt idx="3">
                  <c:v>67</c:v>
                </c:pt>
                <c:pt idx="4">
                  <c:v>63</c:v>
                </c:pt>
                <c:pt idx="5">
                  <c:v>62</c:v>
                </c:pt>
                <c:pt idx="6">
                  <c:v>60</c:v>
                </c:pt>
                <c:pt idx="7">
                  <c:v>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4B7"/>
            </a:solidFill>
            <a:prstDash val="solid"/>
            <a:round/>
          </a:ln>
        </c:spPr>
        <c:txPr>
          <a:bodyPr/>
          <a:lstStyle/>
          <a:p>
            <a:pPr>
              <a:defRPr sz="1000" b="0" i="0" u="none" strike="noStrike">
                <a:solidFill>
                  <a:srgbClr val="6E7480"/>
                </a:solidFill>
                <a:latin typeface="Arial"/>
              </a:defRPr>
            </a:pPr>
            <a:endParaRPr lang="en-US"/>
          </a:p>
        </c:txPr>
        <c:crossAx val="2094734552"/>
        <c:crosses val="autoZero"/>
        <c:auto val="1"/>
        <c:lblAlgn val="ctr"/>
        <c:noMultiLvlLbl val="1"/>
      </c:catAx>
      <c:valAx>
        <c:axId val="2094734552"/>
        <c:scaling>
          <c:orientation val="minMax"/>
          <c:max val="95"/>
          <c:min val="55"/>
        </c:scaling>
        <c:delete val="0"/>
        <c:axPos val="l"/>
        <c:majorGridlines>
          <c:spPr>
            <a:ln w="6350" cap="flat">
              <a:solidFill>
                <a:srgbClr val="E4E0D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E7480"/>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Start (Q4/28)</c:v>
                </c:pt>
              </c:strCache>
            </c:strRef>
          </c:tx>
          <c:spPr>
            <a:solidFill>
              <a:srgbClr val="C9C4B7"/>
            </a:solidFill>
            <a:effectLst/>
          </c:spPr>
          <c:invertIfNegative val="0"/>
          <c:dLbls>
            <c:numFmt formatCode="#,##0" sourceLinked="0"/>
            <c:txPr>
              <a:bodyPr/>
              <a:lstStyle/>
              <a:p>
                <a:pPr>
                  <a:defRPr b="0" i="0" strike="noStrike" sz="1000" u="none">
                    <a:solidFill>
                      <a:srgbClr val="6E7480"/>
                    </a:solidFill>
                    <a:latin typeface="Arial"/>
                  </a:defRPr>
                </a:pPr>
              </a:p>
            </c:txPr>
            <c:showLegendKey val="0"/>
            <c:showVal val="1"/>
            <c:showCatName val="0"/>
            <c:showSerName val="0"/>
            <c:showPercent val="0"/>
            <c:showBubbleSize val="0"/>
            <c:showLeaderLines val="0"/>
          </c:dLbls>
          <c:cat>
            <c:multiLvlStrRef>
              <c:f>Sheet1!$A$2:$A$5</c:f>
              <c:multiLvlStrCache>
                <c:ptCount val="4"/>
                <c:lvl>
                  <c:pt idx="0">
                    <c:v>Total assets</c:v>
                  </c:pt>
                  <c:pt idx="1">
                    <c:v>Loans</c:v>
                  </c:pt>
                  <c:pt idx="2">
                    <c:v>Deposits</c:v>
                  </c:pt>
                  <c:pt idx="3">
                    <c:v>Equity + sub debt</c:v>
                  </c:pt>
                </c:lvl>
              </c:multiLvlStrCache>
            </c:multiLvlStrRef>
          </c:cat>
          <c:val>
            <c:numRef>
              <c:f>Sheet1!$B$2:$B$5</c:f>
              <c:numCache>
                <c:formatCode>General</c:formatCode>
                <c:ptCount val="4"/>
                <c:pt idx="0">
                  <c:v>739.8</c:v>
                </c:pt>
                <c:pt idx="1">
                  <c:v>588</c:v>
                </c:pt>
                <c:pt idx="2">
                  <c:v>551.1</c:v>
                </c:pt>
                <c:pt idx="3">
                  <c:v>47</c:v>
                </c:pt>
              </c:numCache>
            </c:numRef>
          </c:val>
        </c:ser>
        <c:ser>
          <c:idx val="1"/>
          <c:order val="1"/>
          <c:tx>
            <c:strRef>
              <c:f>Sheet1!$C$1</c:f>
              <c:strCache>
                <c:ptCount val="1"/>
                <c:pt idx="0">
                  <c:v>Finish (Q4/30)</c:v>
                </c:pt>
              </c:strCache>
            </c:strRef>
          </c:tx>
          <c:spPr>
            <a:solidFill>
              <a:srgbClr val="E3A94E"/>
            </a:solidFill>
            <a:effectLst/>
          </c:spPr>
          <c:invertIfNegative val="0"/>
          <c:dLbls>
            <c:numFmt formatCode="#,##0" sourceLinked="0"/>
            <c:txPr>
              <a:bodyPr/>
              <a:lstStyle/>
              <a:p>
                <a:pPr>
                  <a:defRPr b="0" i="0" strike="noStrike" sz="1000" u="none">
                    <a:solidFill>
                      <a:srgbClr val="6E7480"/>
                    </a:solidFill>
                    <a:latin typeface="Arial"/>
                  </a:defRPr>
                </a:pPr>
              </a:p>
            </c:txPr>
            <c:showLegendKey val="0"/>
            <c:showVal val="1"/>
            <c:showCatName val="0"/>
            <c:showSerName val="0"/>
            <c:showPercent val="0"/>
            <c:showBubbleSize val="0"/>
            <c:showLeaderLines val="0"/>
          </c:dLbls>
          <c:cat>
            <c:multiLvlStrRef>
              <c:f>Sheet1!$A$2:$A$5</c:f>
              <c:multiLvlStrCache>
                <c:ptCount val="4"/>
                <c:lvl>
                  <c:pt idx="0">
                    <c:v>Total assets</c:v>
                  </c:pt>
                  <c:pt idx="1">
                    <c:v>Loans</c:v>
                  </c:pt>
                  <c:pt idx="2">
                    <c:v>Deposits</c:v>
                  </c:pt>
                  <c:pt idx="3">
                    <c:v>Equity + sub debt</c:v>
                  </c:pt>
                </c:lvl>
              </c:multiLvlStrCache>
            </c:multiLvlStrRef>
          </c:cat>
          <c:val>
            <c:numRef>
              <c:f>Sheet1!$C$2:$C$5</c:f>
              <c:numCache>
                <c:formatCode>General</c:formatCode>
                <c:ptCount val="4"/>
                <c:pt idx="0">
                  <c:v>818.1</c:v>
                </c:pt>
                <c:pt idx="1">
                  <c:v>663.2</c:v>
                </c:pt>
                <c:pt idx="2">
                  <c:v>658</c:v>
                </c:pt>
                <c:pt idx="3">
                  <c:v>80</c:v>
                </c:pt>
              </c:numCache>
            </c:numRef>
          </c:val>
        </c:ser>
        <c:dLbls>
          <c:numFmt formatCode="#,##0" sourceLinked="0"/>
          <c:txPr>
            <a:bodyPr/>
            <a:lstStyle/>
            <a:p>
              <a:pPr>
                <a:defRPr b="0" i="0" strike="noStrike" sz="1000" u="none">
                  <a:solidFill>
                    <a:srgbClr val="6E7480"/>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4B7"/>
            </a:solidFill>
            <a:prstDash val="solid"/>
            <a:round/>
          </a:ln>
        </c:spPr>
        <c:txPr>
          <a:bodyPr/>
          <a:lstStyle/>
          <a:p>
            <a:pPr>
              <a:defRPr sz="1000" b="0" i="0" u="none" strike="noStrike">
                <a:solidFill>
                  <a:srgbClr val="6E7480"/>
                </a:solidFill>
                <a:latin typeface="Arial"/>
              </a:defRPr>
            </a:pPr>
            <a:endParaRPr lang="en-US"/>
          </a:p>
        </c:txPr>
        <c:crossAx val="2094734552"/>
        <c:crosses val="autoZero"/>
        <c:auto val="1"/>
        <c:lblAlgn val="ctr"/>
        <c:noMultiLvlLbl val="1"/>
      </c:catAx>
      <c:valAx>
        <c:axId val="2094734552"/>
        <c:scaling>
          <c:orientation val="minMax"/>
          <c:max val="900"/>
        </c:scaling>
        <c:delete val="0"/>
        <c:axPos val="l"/>
        <c:majorGridlines>
          <c:spPr>
            <a:ln w="6350" cap="flat">
              <a:solidFill>
                <a:srgbClr val="E4E0D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E74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E7480"/>
              </a:solidFil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Construction / capital</c:v>
                </c:pt>
              </c:strCache>
            </c:strRef>
          </c:tx>
          <c:spPr>
            <a:solidFill>
              <a:srgbClr val="B9791F"/>
            </a:solidFill>
            <a:ln w="31750" cap="flat">
              <a:solidFill>
                <a:srgbClr val="B979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791F"/>
              </a:solidFill>
              <a:ln w="9525" cap="flat">
                <a:solidFill>
                  <a:srgbClr val="B9791F"/>
                </a:solidFill>
                <a:prstDash val="solid"/>
                <a:round/>
              </a:ln>
              <a:effectLst/>
            </c:spPr>
          </c:marker>
          <c:cat>
            <c:multiLvlStrRef>
              <c:f>Sheet1!$A$2:$A$9</c:f>
              <c:multiLvlStrCache>
                <c:ptCount val="8"/>
                <c:lvl>
                  <c:pt idx="0">
                    <c:v>Q1/29</c:v>
                  </c:pt>
                  <c:pt idx="1">
                    <c:v>Q2/29</c:v>
                  </c:pt>
                  <c:pt idx="2">
                    <c:v>Q3/29</c:v>
                  </c:pt>
                  <c:pt idx="3">
                    <c:v>Q4/29</c:v>
                  </c:pt>
                  <c:pt idx="4">
                    <c:v>Q1/30</c:v>
                  </c:pt>
                  <c:pt idx="5">
                    <c:v>Q2/30</c:v>
                  </c:pt>
                  <c:pt idx="6">
                    <c:v>Q3/30</c:v>
                  </c:pt>
                  <c:pt idx="7">
                    <c:v>Q4/30</c:v>
                  </c:pt>
                </c:lvl>
              </c:multiLvlStrCache>
            </c:multiLvlStrRef>
          </c:cat>
          <c:val>
            <c:numRef>
              <c:f>Sheet1!$B$2:$B$9</c:f>
              <c:numCache>
                <c:formatCode>General</c:formatCode>
                <c:ptCount val="8"/>
                <c:pt idx="0">
                  <c:v>133</c:v>
                </c:pt>
                <c:pt idx="1">
                  <c:v>132</c:v>
                </c:pt>
                <c:pt idx="2">
                  <c:v>169</c:v>
                </c:pt>
                <c:pt idx="3">
                  <c:v>179</c:v>
                </c:pt>
                <c:pt idx="4">
                  <c:v>198</c:v>
                </c:pt>
                <c:pt idx="5">
                  <c:v>184</c:v>
                </c:pt>
                <c:pt idx="6">
                  <c:v>177</c:v>
                </c:pt>
                <c:pt idx="7">
                  <c:v>147</c:v>
                </c:pt>
              </c:numCache>
            </c:numRef>
          </c:val>
          <c:smooth val="0"/>
        </c:ser>
        <c:ser>
          <c:idx val="1"/>
          <c:order val="1"/>
          <c:tx>
            <c:strRef>
              <c:f>Sheet1!$C$1</c:f>
              <c:strCache>
                <c:ptCount val="1"/>
                <c:pt idx="0">
                  <c:v>Guidance</c:v>
                </c:pt>
              </c:strCache>
            </c:strRef>
          </c:tx>
          <c:spPr>
            <a:solidFill>
              <a:srgbClr val="B3402E"/>
            </a:solidFill>
            <a:ln w="31750" cap="flat">
              <a:solidFill>
                <a:srgbClr val="B34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3402E"/>
              </a:solidFill>
              <a:ln w="9525" cap="flat">
                <a:solidFill>
                  <a:srgbClr val="B3402E"/>
                </a:solidFill>
                <a:prstDash val="solid"/>
                <a:round/>
              </a:ln>
              <a:effectLst/>
            </c:spPr>
          </c:marker>
          <c:cat>
            <c:multiLvlStrRef>
              <c:f>Sheet1!$A$2:$A$9</c:f>
              <c:multiLvlStrCache>
                <c:ptCount val="8"/>
                <c:lvl>
                  <c:pt idx="0">
                    <c:v>Q1/29</c:v>
                  </c:pt>
                  <c:pt idx="1">
                    <c:v>Q2/29</c:v>
                  </c:pt>
                  <c:pt idx="2">
                    <c:v>Q3/29</c:v>
                  </c:pt>
                  <c:pt idx="3">
                    <c:v>Q4/29</c:v>
                  </c:pt>
                  <c:pt idx="4">
                    <c:v>Q1/30</c:v>
                  </c:pt>
                  <c:pt idx="5">
                    <c:v>Q2/30</c:v>
                  </c:pt>
                  <c:pt idx="6">
                    <c:v>Q3/30</c:v>
                  </c:pt>
                  <c:pt idx="7">
                    <c:v>Q4/30</c:v>
                  </c:pt>
                </c:lvl>
              </c:multiLvlStrCache>
            </c:multiLvlStrRef>
          </c:cat>
          <c:val>
            <c:numRef>
              <c:f>Sheet1!$C$2:$C$9</c:f>
              <c:numCache>
                <c:formatCode>General</c:formatCode>
                <c:ptCount val="8"/>
                <c:pt idx="0">
                  <c:v>100</c:v>
                </c:pt>
                <c:pt idx="1">
                  <c:v>100</c:v>
                </c:pt>
                <c:pt idx="2">
                  <c:v>100</c:v>
                </c:pt>
                <c:pt idx="3">
                  <c:v>100</c:v>
                </c:pt>
                <c:pt idx="4">
                  <c:v>100</c:v>
                </c:pt>
                <c:pt idx="5">
                  <c:v>100</c:v>
                </c:pt>
                <c:pt idx="6">
                  <c:v>100</c:v>
                </c:pt>
                <c:pt idx="7">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4B7"/>
            </a:solidFill>
            <a:prstDash val="solid"/>
            <a:round/>
          </a:ln>
        </c:spPr>
        <c:txPr>
          <a:bodyPr/>
          <a:lstStyle/>
          <a:p>
            <a:pPr>
              <a:defRPr sz="1000" b="0" i="0" u="none" strike="noStrike">
                <a:solidFill>
                  <a:srgbClr val="6E7480"/>
                </a:solidFill>
                <a:latin typeface="Arial"/>
              </a:defRPr>
            </a:pPr>
            <a:endParaRPr lang="en-US"/>
          </a:p>
        </c:txPr>
        <c:crossAx val="2094734552"/>
        <c:crosses val="autoZero"/>
        <c:auto val="1"/>
        <c:lblAlgn val="ctr"/>
        <c:noMultiLvlLbl val="1"/>
      </c:catAx>
      <c:valAx>
        <c:axId val="2094734552"/>
        <c:scaling>
          <c:orientation val="minMax"/>
          <c:max val="220"/>
          <c:min val="0"/>
        </c:scaling>
        <c:delete val="0"/>
        <c:axPos val="l"/>
        <c:majorGridlines>
          <c:spPr>
            <a:ln w="6350" cap="flat">
              <a:solidFill>
                <a:srgbClr val="E4E0D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E7480"/>
                </a:solidFill>
                <a:latin typeface="Arial"/>
              </a:defRPr>
            </a:pPr>
            <a:endParaRPr lang="en-US"/>
          </a:p>
        </c:txPr>
        <c:crossAx val="2094734554"/>
        <c:crosses val="autoZero"/>
        <c:crossBetween val="between"/>
        <c:majorUnit val="50"/>
      </c:valAx>
      <c:spPr>
        <a:noFill/>
        <a:ln>
          <a:noFill/>
        </a:ln>
        <a:effectLst/>
      </c:spPr>
    </c:plotArea>
    <c:legend>
      <c:legendPos val="b"/>
      <c:overlay val="0"/>
      <c:txPr>
        <a:bodyPr/>
        <a:lstStyle/>
        <a:p>
          <a:pPr>
            <a:defRPr sz="1100">
              <a:solidFill>
                <a:srgbClr val="6E748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(CEO, 1 min): Two years ago this bank earned its name — losses, a funding emergency, a C rating. Today we hand shareholders an A-rated bank paying a growing dividend, trading above the price we inherited, with record earnings behind us. This is the story of how we aged it.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CEO (30 sec): Our founding metaphor wasn't a joke about our name — it was the operating model. Nothing we did was a quick fix; every decision was made to compound. Keep this slide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CEO (20 sec): introduce the team and the flow. The initials match who owned each decision screen during the sim — each person presents what they actually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CEO (2 min): Set the scene honestly — the name was earned. An unsafe-and-unsound funding position (fed funds at 187% of equity), an underfunded loss reserve, a dividend the earnings couldn't cover, and a new capital rule (the Boulder Accord: 6% leverage / 10% total risk-based by end of 2029) hanging over everything. The cartoon was our actual first slide as a team — we promised each other we'd stop following the lemmings. Q&amp;A prep: if asked 'was it really that bad' — the C rating and the 187% number are both straight off the regulatory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 (30 sec bridge): One chart is the whole story. Every bank started at $34.82. We fell hardest early — on purpose, as you'll see — and finished second, within $2 of the champion. The gold line is us. Q&amp;A prep: 'why not #1?' — Bank 3 never had our starting problems; closing an 11-point gap to $2 in six quarters is the differentiated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 (90 sec): Walk one phase per column. The through-line: sequence matters. You cannot reprice loans while your funding is on fire, and you cannot harvest a margin you never repriced. Phase 1 bought stability with margin; Phase 2 traded volume for pricing power and pre-paid the credit bill; Phase 3 collected. Q&amp;A prep: 'what was the biggest mistake?' — honest answer: our Round 1 loan-rate cuts; we corrected within one quarter and the correction became the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KS (60 sec): Pick two rows and tell them fast — repricing and the consumer exit are the most vivid. Hand off to CU for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 (90 sec): The shape matters more than any single bar. Three losing quarters — each one smaller — breakeven in Q3/29, then five straight profitable quarters including the community's best single quarter. FY29 operating loss $2.5M; FY30 operating profit $7.8M. Reported net income for FY30: $6.7M after we resumed paying taxes — a problem we're delighted to have. Q&amp;A prep: 'was FY30 just falling rates?' — partly (variable funding helped ~$1.5M), but margin held when rates ROSE again in H2/30, because the book itself was repriced.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 (60 sec): Two engines. Left — margin: we crossed the champion's NIM in mid-2030 and held above 3.9% for the second half. Right — efficiency: the consumer exit and volume discipline took us from one of the field's worst cost structures to its best. These are structural, not cyclical.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 (60 sec): FY29 was the investment year — every dollar of that $0.6M operating loss shows up in FY30's $7.8M. Note the provision line: we NEVER bought earnings by under-reserving; provisions came down because the book got safer, not because we stopped counting. Q&amp;A prep: fees fell year-over-year because FY29 included one-time loan-sale gains and origination surges — FY30 fees are the clean run-rate.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 (45 sec): We grew $78M while REDUCING risk: the loan-to-deposit ratio came back to par, wholesale funding went to zero, and equity+sub-debt grew 70%. Growth funded by depositors who chose us, not by overnight borrowings.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 (90 sec): Five of six goals fully hit, most early or exceeded. Be candid on the sixth — we set out to win the stock race and finished second by $1.75, from the worst starting position in the field. Q&amp;A prep: 'what would #1 have taken?' — one quarter less construction concentration and one fewer capital raise; Bank 3 never had to dilute.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 (90 sec): Lead with honesty — it disarms the question. We had exactly two compliance issues in eight quarters: the fed-funds breach (a growth-outran-funding problem we fixed structurally, not cosmetically) and construction concentration (a flagged guidance item, not a violation, which we took to 198% deliberately when it was our most profitable asset, then walked down as the cycle aged). Everything else — capital, CECL, loan review, dividends — clean. The rating agencies agreed: C to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 (45 sec): This is the slide the sharpest shareholder will ask about, so present it first. We ran our biggest risk on purpose, priced it properly, watched it weekly, and took it down before the economy told us to. Coverage of non-performers finished at 106% — the strongest in our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 (2 min): Forward look = three tailwinds, three disciplines. The one-sentence thesis: the same machine that produced $7.8M in 2030 now has rising rates, spare deposit capacity, and $15M of excess capital behind it. If asked for FY31 guidance: run-rate suggests $8-10M operating earnings if rates hold their upward drift and credit stays benign — but we guide conservatively on purpose; it's why we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team (30 sec + 5 min Q&amp;A): Each member stands for questions in their area. Closing line as written. Q&amp;A crib sheet — hardest expected questions: (1) Why did you dilute at 0.52x book? Because the penalty regime was worse and waiting cost more; the later raises were at 0.75x and above. (2) Construction at 198%? Priced for it, reviewed it, took it down before the cycle did. (3) Is FY30 repeatable? Margin is structural; rate tailwind is a bonus; guide conservative. (4) Why trust your numbers? Every figure tonight is from the regulatory reports B001-B901 — nothing adjusted.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1"/>
        </a:solidFill>
      </p:bgPr>
    </p:bg>
    <p:spTree>
      <p:nvGrpSpPr>
        <p:cNvPr id="1" name=""/>
        <p:cNvGrpSpPr/>
        <p:nvPr/>
      </p:nvGrpSpPr>
      <p:grpSpPr>
        <a:xfrm>
          <a:off x="0" y="0"/>
          <a:ext cx="0" cy="0"/>
          <a:chOff x="0" y="0"/>
          <a:chExt cx="0" cy="0"/>
        </a:xfrm>
      </p:grpSpPr>
      <p:pic>
        <p:nvPicPr>
          <p:cNvPr id="2" name="Image 0" descr="bottle.jpg">    </p:cNvPr>
          <p:cNvPicPr>
            <a:picLocks noChangeAspect="1"/>
          </p:cNvPicPr>
          <p:nvPr/>
        </p:nvPicPr>
        <p:blipFill>
          <a:blip r:embed="rId1"/>
          <a:stretch>
            <a:fillRect/>
          </a:stretch>
        </p:blipFill>
        <p:spPr>
          <a:xfrm>
            <a:off x="8275320" y="685800"/>
            <a:ext cx="3310128" cy="4965192"/>
          </a:xfrm>
          <a:prstGeom prst="rect">
            <a:avLst/>
          </a:prstGeom>
        </p:spPr>
      </p:pic>
      <p:sp>
        <p:nvSpPr>
          <p:cNvPr id="3" name="Text 0"/>
          <p:cNvSpPr/>
          <p:nvPr/>
        </p:nvSpPr>
        <p:spPr>
          <a:xfrm>
            <a:off x="685800" y="1371600"/>
            <a:ext cx="7406640" cy="457200"/>
          </a:xfrm>
          <a:prstGeom prst="rect">
            <a:avLst/>
          </a:prstGeom>
          <a:noFill/>
          <a:ln/>
        </p:spPr>
        <p:txBody>
          <a:bodyPr wrap="square" lIns="0" tIns="0" rIns="0" bIns="0" rtlCol="0" anchor="ctr"/>
          <a:lstStyle/>
          <a:p>
            <a:pPr indent="0" marL="0">
              <a:buNone/>
            </a:pPr>
            <a:r>
              <a:rPr lang="en-US" sz="1600" b="1" spc="300" kern="0" dirty="0">
                <a:solidFill>
                  <a:srgbClr val="E3A94E"/>
                </a:solidFill>
                <a:latin typeface="Calibri" pitchFamily="34" charset="0"/>
                <a:ea typeface="Calibri" pitchFamily="34" charset="-122"/>
                <a:cs typeface="Calibri" pitchFamily="34" charset="-120"/>
              </a:rPr>
              <a:t>BOTTOM OF THE BARREL BANK</a:t>
            </a:r>
            <a:endParaRPr lang="en-US" sz="1600" dirty="0"/>
          </a:p>
        </p:txBody>
      </p:sp>
      <p:sp>
        <p:nvSpPr>
          <p:cNvPr id="4" name="Text 1"/>
          <p:cNvSpPr/>
          <p:nvPr/>
        </p:nvSpPr>
        <p:spPr>
          <a:xfrm>
            <a:off x="685800" y="1828800"/>
            <a:ext cx="7498080" cy="2011680"/>
          </a:xfrm>
          <a:prstGeom prst="rect">
            <a:avLst/>
          </a:prstGeom>
          <a:noFill/>
          <a:ln/>
        </p:spPr>
        <p:txBody>
          <a:bodyPr wrap="square" lIns="0" tIns="0" rIns="0" bIns="0" rtlCol="0" anchor="ctr"/>
          <a:lstStyle/>
          <a:p>
            <a:pPr indent="0" marL="0">
              <a:lnSpc>
                <a:spcPts val="5600"/>
              </a:lnSpc>
              <a:buNone/>
            </a:pPr>
            <a:r>
              <a:rPr lang="en-US" sz="4800" b="1" dirty="0">
                <a:solidFill>
                  <a:srgbClr val="FFFFFF"/>
                </a:solidFill>
                <a:latin typeface="Cambria" pitchFamily="34" charset="0"/>
                <a:ea typeface="Cambria" pitchFamily="34" charset="-122"/>
                <a:cs typeface="Cambria" pitchFamily="34" charset="-120"/>
              </a:rPr>
              <a:t>Aged Two Years.</a:t>
            </a:r>
            <a:endParaRPr lang="en-US" sz="4800" dirty="0"/>
          </a:p>
          <a:p>
            <a:pPr indent="0" marL="0">
              <a:lnSpc>
                <a:spcPts val="5600"/>
              </a:lnSpc>
              <a:buNone/>
            </a:pPr>
            <a:r>
              <a:rPr lang="en-US" sz="4800" b="1" dirty="0">
                <a:solidFill>
                  <a:srgbClr val="FFFFFF"/>
                </a:solidFill>
                <a:latin typeface="Cambria" pitchFamily="34" charset="0"/>
                <a:ea typeface="Cambria" pitchFamily="34" charset="-122"/>
                <a:cs typeface="Cambria" pitchFamily="34" charset="-120"/>
              </a:rPr>
              <a:t>Finally Top Shelf.</a:t>
            </a:r>
            <a:endParaRPr lang="en-US" sz="4800" dirty="0"/>
          </a:p>
        </p:txBody>
      </p:sp>
      <p:sp>
        <p:nvSpPr>
          <p:cNvPr id="5" name="Text 2"/>
          <p:cNvSpPr/>
          <p:nvPr/>
        </p:nvSpPr>
        <p:spPr>
          <a:xfrm>
            <a:off x="685800" y="3977640"/>
            <a:ext cx="7406640" cy="365760"/>
          </a:xfrm>
          <a:prstGeom prst="rect">
            <a:avLst/>
          </a:prstGeom>
          <a:noFill/>
          <a:ln/>
        </p:spPr>
        <p:txBody>
          <a:bodyPr wrap="square" lIns="0" tIns="0" rIns="0" bIns="0" rtlCol="0" anchor="ctr"/>
          <a:lstStyle/>
          <a:p>
            <a:pPr indent="0" marL="0">
              <a:buNone/>
            </a:pPr>
            <a:r>
              <a:rPr lang="en-US" sz="1400" dirty="0">
                <a:solidFill>
                  <a:srgbClr val="C9CFDC"/>
                </a:solidFill>
                <a:latin typeface="Calibri" pitchFamily="34" charset="0"/>
                <a:ea typeface="Calibri" pitchFamily="34" charset="-122"/>
                <a:cs typeface="Calibri" pitchFamily="34" charset="-120"/>
              </a:rPr>
              <a:t>2026 Annual Shareholder Presentation  ·  Graduate School of Banking at Colorado</a:t>
            </a:r>
            <a:endParaRPr lang="en-US" sz="1400" dirty="0"/>
          </a:p>
        </p:txBody>
      </p:sp>
      <p:sp>
        <p:nvSpPr>
          <p:cNvPr id="6" name="Text 3"/>
          <p:cNvSpPr/>
          <p:nvPr/>
        </p:nvSpPr>
        <p:spPr>
          <a:xfrm>
            <a:off x="685800" y="4370832"/>
            <a:ext cx="7406640" cy="365760"/>
          </a:xfrm>
          <a:prstGeom prst="rect">
            <a:avLst/>
          </a:prstGeom>
          <a:noFill/>
          <a:ln/>
        </p:spPr>
        <p:txBody>
          <a:bodyPr wrap="square" lIns="0" tIns="0" rIns="0" bIns="0" rtlCol="0" anchor="ctr"/>
          <a:lstStyle/>
          <a:p>
            <a:pPr indent="0" marL="0">
              <a:buNone/>
            </a:pPr>
            <a:r>
              <a:rPr lang="en-US" sz="1400" dirty="0">
                <a:solidFill>
                  <a:srgbClr val="C9CFDC"/>
                </a:solidFill>
                <a:latin typeface="Calibri" pitchFamily="34" charset="0"/>
                <a:ea typeface="Calibri" pitchFamily="34" charset="-122"/>
                <a:cs typeface="Calibri" pitchFamily="34" charset="-120"/>
              </a:rPr>
              <a:t>Team B1  ·  Community B  ·  Fiscal Years 2029–2030</a:t>
            </a:r>
            <a:endParaRPr lang="en-US" sz="1400" dirty="0"/>
          </a:p>
        </p:txBody>
      </p:sp>
      <p:sp>
        <p:nvSpPr>
          <p:cNvPr id="7" name="Text 4"/>
          <p:cNvSpPr/>
          <p:nvPr/>
        </p:nvSpPr>
        <p:spPr>
          <a:xfrm>
            <a:off x="685800" y="5394960"/>
            <a:ext cx="7498080" cy="457200"/>
          </a:xfrm>
          <a:prstGeom prst="rect">
            <a:avLst/>
          </a:prstGeom>
          <a:noFill/>
          <a:ln/>
        </p:spPr>
        <p:txBody>
          <a:bodyPr wrap="square" lIns="0" tIns="0" rIns="0" bIns="0" rtlCol="0" anchor="ctr"/>
          <a:lstStyle/>
          <a:p>
            <a:pPr indent="0" marL="0">
              <a:buNone/>
            </a:pPr>
            <a:r>
              <a:rPr lang="en-US" sz="1400" b="1" dirty="0">
                <a:solidFill>
                  <a:srgbClr val="E3A94E"/>
                </a:solidFill>
                <a:latin typeface="Calibri" pitchFamily="34" charset="0"/>
                <a:ea typeface="Calibri" pitchFamily="34" charset="-122"/>
                <a:cs typeface="Calibri" pitchFamily="34" charset="-120"/>
              </a:rPr>
              <a:t>$34.82 → $41.36</a:t>
            </a:r>
            <a:pPr indent="0" marL="0">
              <a:buNone/>
            </a:pPr>
            <a:r>
              <a:rPr lang="en-US" sz="1400" dirty="0">
                <a:solidFill>
                  <a:srgbClr val="C9CFDC"/>
                </a:solidFill>
                <a:latin typeface="Calibri" pitchFamily="34" charset="0"/>
                <a:ea typeface="Calibri" pitchFamily="34" charset="-122"/>
                <a:cs typeface="Calibri" pitchFamily="34" charset="-120"/>
              </a:rPr>
              <a:t>  share price   ·   </a:t>
            </a:r>
            <a:pPr indent="0" marL="0">
              <a:buNone/>
            </a:pPr>
            <a:r>
              <a:rPr lang="en-US" sz="1400" b="1" dirty="0">
                <a:solidFill>
                  <a:srgbClr val="E3A94E"/>
                </a:solidFill>
                <a:latin typeface="Calibri" pitchFamily="34" charset="0"/>
                <a:ea typeface="Calibri" pitchFamily="34" charset="-122"/>
                <a:cs typeface="Calibri" pitchFamily="34" charset="-120"/>
              </a:rPr>
              <a:t>C → A</a:t>
            </a:r>
            <a:pPr indent="0" marL="0">
              <a:buNone/>
            </a:pPr>
            <a:r>
              <a:rPr lang="en-US" sz="1400" dirty="0">
                <a:solidFill>
                  <a:srgbClr val="C9CFDC"/>
                </a:solidFill>
                <a:latin typeface="Calibri" pitchFamily="34" charset="0"/>
                <a:ea typeface="Calibri" pitchFamily="34" charset="-122"/>
                <a:cs typeface="Calibri" pitchFamily="34" charset="-120"/>
              </a:rPr>
              <a:t>  credit rating   ·   </a:t>
            </a:r>
            <a:pPr indent="0" marL="0">
              <a:buNone/>
            </a:pPr>
            <a:r>
              <a:rPr lang="en-US" sz="1400" b="1" dirty="0">
                <a:solidFill>
                  <a:srgbClr val="E3A94E"/>
                </a:solidFill>
                <a:latin typeface="Calibri" pitchFamily="34" charset="0"/>
                <a:ea typeface="Calibri" pitchFamily="34" charset="-122"/>
                <a:cs typeface="Calibri" pitchFamily="34" charset="-120"/>
              </a:rPr>
              <a:t>−$1.9M → +$6.7M</a:t>
            </a:r>
            <a:pPr indent="0" marL="0">
              <a:buNone/>
            </a:pPr>
            <a:r>
              <a:rPr lang="en-US" sz="1400" dirty="0">
                <a:solidFill>
                  <a:srgbClr val="C9CFDC"/>
                </a:solidFill>
                <a:latin typeface="Calibri" pitchFamily="34" charset="0"/>
                <a:ea typeface="Calibri" pitchFamily="34" charset="-122"/>
                <a:cs typeface="Calibri" pitchFamily="34" charset="-120"/>
              </a:rPr>
              <a:t>  annual net income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WHO WE ARE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Vision, Mission &amp; Values</a:t>
            </a:r>
            <a:endParaRPr lang="en-US" sz="3200" dirty="0"/>
          </a:p>
        </p:txBody>
      </p:sp>
      <p:sp>
        <p:nvSpPr>
          <p:cNvPr id="4" name="Shape 2"/>
          <p:cNvSpPr/>
          <p:nvPr/>
        </p:nvSpPr>
        <p:spPr>
          <a:xfrm>
            <a:off x="548640" y="1600200"/>
            <a:ext cx="7315200" cy="1298448"/>
          </a:xfrm>
          <a:prstGeom prst="roundRect">
            <a:avLst>
              <a:gd name="adj" fmla="val 5634"/>
            </a:avLst>
          </a:prstGeom>
          <a:solidFill>
            <a:srgbClr val="F5F0E4"/>
          </a:solidFill>
          <a:ln/>
        </p:spPr>
      </p:sp>
      <p:sp>
        <p:nvSpPr>
          <p:cNvPr id="5" name="Text 3"/>
          <p:cNvSpPr/>
          <p:nvPr/>
        </p:nvSpPr>
        <p:spPr>
          <a:xfrm>
            <a:off x="868680" y="1764792"/>
            <a:ext cx="1828800" cy="320040"/>
          </a:xfrm>
          <a:prstGeom prst="rect">
            <a:avLst/>
          </a:prstGeom>
          <a:noFill/>
          <a:ln/>
        </p:spPr>
        <p:txBody>
          <a:bodyPr wrap="square" lIns="0" tIns="0" rIns="0" bIns="0" rtlCol="0" anchor="ctr"/>
          <a:lstStyle/>
          <a:p>
            <a:pPr indent="0" marL="0">
              <a:buNone/>
            </a:pPr>
            <a:r>
              <a:rPr lang="en-US" sz="1300" b="1" spc="200" kern="0" dirty="0">
                <a:solidFill>
                  <a:srgbClr val="B9791F"/>
                </a:solidFill>
                <a:latin typeface="Calibri" pitchFamily="34" charset="0"/>
                <a:ea typeface="Calibri" pitchFamily="34" charset="-122"/>
                <a:cs typeface="Calibri" pitchFamily="34" charset="-120"/>
              </a:rPr>
              <a:t>VISION</a:t>
            </a:r>
            <a:endParaRPr lang="en-US" sz="1300" dirty="0"/>
          </a:p>
        </p:txBody>
      </p:sp>
      <p:sp>
        <p:nvSpPr>
          <p:cNvPr id="6" name="Text 4"/>
          <p:cNvSpPr/>
          <p:nvPr/>
        </p:nvSpPr>
        <p:spPr>
          <a:xfrm>
            <a:off x="868680" y="2057400"/>
            <a:ext cx="6675120" cy="777240"/>
          </a:xfrm>
          <a:prstGeom prst="rect">
            <a:avLst/>
          </a:prstGeom>
          <a:noFill/>
          <a:ln/>
        </p:spPr>
        <p:txBody>
          <a:bodyPr wrap="square" lIns="0" tIns="0" rIns="0" bIns="0" rtlCol="0" anchor="ctr"/>
          <a:lstStyle/>
          <a:p>
            <a:pPr indent="0" marL="0">
              <a:buNone/>
            </a:pPr>
            <a:r>
              <a:rPr lang="en-US" sz="1600" i="1" dirty="0">
                <a:solidFill>
                  <a:srgbClr val="232733"/>
                </a:solidFill>
                <a:latin typeface="Cambria" pitchFamily="34" charset="0"/>
                <a:ea typeface="Cambria" pitchFamily="34" charset="-122"/>
                <a:cs typeface="Cambria" pitchFamily="34" charset="-120"/>
              </a:rPr>
              <a:t>To build a bank like a great bourbon: crafted with purpose, strengthened over time, and built to endure.</a:t>
            </a:r>
            <a:endParaRPr lang="en-US" sz="1600" dirty="0"/>
          </a:p>
        </p:txBody>
      </p:sp>
      <p:sp>
        <p:nvSpPr>
          <p:cNvPr id="7" name="Shape 5"/>
          <p:cNvSpPr/>
          <p:nvPr/>
        </p:nvSpPr>
        <p:spPr>
          <a:xfrm>
            <a:off x="548640" y="3136392"/>
            <a:ext cx="7315200" cy="1298448"/>
          </a:xfrm>
          <a:prstGeom prst="roundRect">
            <a:avLst>
              <a:gd name="adj" fmla="val 5634"/>
            </a:avLst>
          </a:prstGeom>
          <a:solidFill>
            <a:srgbClr val="F5F0E4"/>
          </a:solidFill>
          <a:ln/>
        </p:spPr>
      </p:sp>
      <p:sp>
        <p:nvSpPr>
          <p:cNvPr id="8" name="Text 6"/>
          <p:cNvSpPr/>
          <p:nvPr/>
        </p:nvSpPr>
        <p:spPr>
          <a:xfrm>
            <a:off x="868680" y="3300984"/>
            <a:ext cx="1828800" cy="320040"/>
          </a:xfrm>
          <a:prstGeom prst="rect">
            <a:avLst/>
          </a:prstGeom>
          <a:noFill/>
          <a:ln/>
        </p:spPr>
        <p:txBody>
          <a:bodyPr wrap="square" lIns="0" tIns="0" rIns="0" bIns="0" rtlCol="0" anchor="ctr"/>
          <a:lstStyle/>
          <a:p>
            <a:pPr indent="0" marL="0">
              <a:buNone/>
            </a:pPr>
            <a:r>
              <a:rPr lang="en-US" sz="1300" b="1" spc="200" kern="0" dirty="0">
                <a:solidFill>
                  <a:srgbClr val="B9791F"/>
                </a:solidFill>
                <a:latin typeface="Calibri" pitchFamily="34" charset="0"/>
                <a:ea typeface="Calibri" pitchFamily="34" charset="-122"/>
                <a:cs typeface="Calibri" pitchFamily="34" charset="-120"/>
              </a:rPr>
              <a:t>MISSION</a:t>
            </a:r>
            <a:endParaRPr lang="en-US" sz="1300" dirty="0"/>
          </a:p>
        </p:txBody>
      </p:sp>
      <p:sp>
        <p:nvSpPr>
          <p:cNvPr id="9" name="Text 7"/>
          <p:cNvSpPr/>
          <p:nvPr/>
        </p:nvSpPr>
        <p:spPr>
          <a:xfrm>
            <a:off x="868680" y="3593592"/>
            <a:ext cx="6675120" cy="777240"/>
          </a:xfrm>
          <a:prstGeom prst="rect">
            <a:avLst/>
          </a:prstGeom>
          <a:noFill/>
          <a:ln/>
        </p:spPr>
        <p:txBody>
          <a:bodyPr wrap="square" lIns="0" tIns="0" rIns="0" bIns="0" rtlCol="0" anchor="ctr"/>
          <a:lstStyle/>
          <a:p>
            <a:pPr indent="0" marL="0">
              <a:buNone/>
            </a:pPr>
            <a:r>
              <a:rPr lang="en-US" sz="1600" i="1" dirty="0">
                <a:solidFill>
                  <a:srgbClr val="232733"/>
                </a:solidFill>
                <a:latin typeface="Cambria" pitchFamily="34" charset="0"/>
                <a:ea typeface="Cambria" pitchFamily="34" charset="-122"/>
                <a:cs typeface="Cambria" pitchFamily="34" charset="-120"/>
              </a:rPr>
              <a:t>Slow-aged investment, distilled from trust, poured back into the community.</a:t>
            </a:r>
            <a:endParaRPr lang="en-US" sz="1600" dirty="0"/>
          </a:p>
        </p:txBody>
      </p:sp>
      <p:sp>
        <p:nvSpPr>
          <p:cNvPr id="10" name="Shape 8"/>
          <p:cNvSpPr/>
          <p:nvPr/>
        </p:nvSpPr>
        <p:spPr>
          <a:xfrm>
            <a:off x="548640" y="4672584"/>
            <a:ext cx="7315200" cy="1298448"/>
          </a:xfrm>
          <a:prstGeom prst="roundRect">
            <a:avLst>
              <a:gd name="adj" fmla="val 5634"/>
            </a:avLst>
          </a:prstGeom>
          <a:solidFill>
            <a:srgbClr val="F5F0E4"/>
          </a:solidFill>
          <a:ln/>
        </p:spPr>
      </p:sp>
      <p:sp>
        <p:nvSpPr>
          <p:cNvPr id="11" name="Text 9"/>
          <p:cNvSpPr/>
          <p:nvPr/>
        </p:nvSpPr>
        <p:spPr>
          <a:xfrm>
            <a:off x="868680" y="4837176"/>
            <a:ext cx="1828800" cy="320040"/>
          </a:xfrm>
          <a:prstGeom prst="rect">
            <a:avLst/>
          </a:prstGeom>
          <a:noFill/>
          <a:ln/>
        </p:spPr>
        <p:txBody>
          <a:bodyPr wrap="square" lIns="0" tIns="0" rIns="0" bIns="0" rtlCol="0" anchor="ctr"/>
          <a:lstStyle/>
          <a:p>
            <a:pPr indent="0" marL="0">
              <a:buNone/>
            </a:pPr>
            <a:r>
              <a:rPr lang="en-US" sz="1300" b="1" spc="200" kern="0" dirty="0">
                <a:solidFill>
                  <a:srgbClr val="B9791F"/>
                </a:solidFill>
                <a:latin typeface="Calibri" pitchFamily="34" charset="0"/>
                <a:ea typeface="Calibri" pitchFamily="34" charset="-122"/>
                <a:cs typeface="Calibri" pitchFamily="34" charset="-120"/>
              </a:rPr>
              <a:t>VALUES</a:t>
            </a:r>
            <a:endParaRPr lang="en-US" sz="1300" dirty="0"/>
          </a:p>
        </p:txBody>
      </p:sp>
      <p:sp>
        <p:nvSpPr>
          <p:cNvPr id="12" name="Text 10"/>
          <p:cNvSpPr/>
          <p:nvPr/>
        </p:nvSpPr>
        <p:spPr>
          <a:xfrm>
            <a:off x="868680" y="5129784"/>
            <a:ext cx="6675120" cy="777240"/>
          </a:xfrm>
          <a:prstGeom prst="rect">
            <a:avLst/>
          </a:prstGeom>
          <a:noFill/>
          <a:ln/>
        </p:spPr>
        <p:txBody>
          <a:bodyPr wrap="square" lIns="0" tIns="0" rIns="0" bIns="0" rtlCol="0" anchor="ctr"/>
          <a:lstStyle/>
          <a:p>
            <a:pPr indent="0" marL="0">
              <a:buNone/>
            </a:pPr>
            <a:r>
              <a:rPr lang="en-US" sz="1600" dirty="0">
                <a:solidFill>
                  <a:srgbClr val="232733"/>
                </a:solidFill>
                <a:latin typeface="Cambria" pitchFamily="34" charset="0"/>
                <a:ea typeface="Cambria" pitchFamily="34" charset="-122"/>
                <a:cs typeface="Cambria" pitchFamily="34" charset="-120"/>
              </a:rPr>
              <a:t>Crafted with purpose  ·  Strengthened over time  ·  Built to endure</a:t>
            </a:r>
            <a:endParaRPr lang="en-US" sz="1600" dirty="0"/>
          </a:p>
        </p:txBody>
      </p:sp>
      <p:pic>
        <p:nvPicPr>
          <p:cNvPr id="13" name="Image 0" descr="bottle.jpg">    </p:cNvPr>
          <p:cNvPicPr>
            <a:picLocks noChangeAspect="1"/>
          </p:cNvPicPr>
          <p:nvPr/>
        </p:nvPicPr>
        <p:blipFill>
          <a:blip r:embed="rId1"/>
          <a:stretch>
            <a:fillRect/>
          </a:stretch>
        </p:blipFill>
        <p:spPr>
          <a:xfrm>
            <a:off x="8549640" y="1554480"/>
            <a:ext cx="2834640" cy="42519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15 MINUTES + 5 MINUTES Q&amp;A</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Tonight's Pour — Agenda &amp; Presenters</a:t>
            </a:r>
            <a:endParaRPr lang="en-US" sz="3200" dirty="0"/>
          </a:p>
        </p:txBody>
      </p:sp>
      <p:sp>
        <p:nvSpPr>
          <p:cNvPr id="4" name="Shape 2"/>
          <p:cNvSpPr/>
          <p:nvPr/>
        </p:nvSpPr>
        <p:spPr>
          <a:xfrm>
            <a:off x="594360" y="1609344"/>
            <a:ext cx="457200" cy="457200"/>
          </a:xfrm>
          <a:prstGeom prst="ellipse">
            <a:avLst/>
          </a:prstGeom>
          <a:solidFill>
            <a:srgbClr val="1F2A44"/>
          </a:solidFill>
          <a:ln/>
        </p:spPr>
      </p:sp>
      <p:sp>
        <p:nvSpPr>
          <p:cNvPr id="5" name="Text 3"/>
          <p:cNvSpPr/>
          <p:nvPr/>
        </p:nvSpPr>
        <p:spPr>
          <a:xfrm>
            <a:off x="594360" y="1609344"/>
            <a:ext cx="457200" cy="457200"/>
          </a:xfrm>
          <a:prstGeom prst="rect">
            <a:avLst/>
          </a:prstGeom>
          <a:noFill/>
          <a:ln/>
        </p:spPr>
        <p:txBody>
          <a:bodyPr wrap="square" lIns="0" tIns="0" rIns="0" bIns="0" rtlCol="0" anchor="ctr"/>
          <a:lstStyle/>
          <a:p>
            <a:pPr algn="ctr" indent="0" marL="0">
              <a:buNone/>
            </a:pPr>
            <a:r>
              <a:rPr lang="en-US" sz="1600" b="1" dirty="0">
                <a:solidFill>
                  <a:srgbClr val="E3A94E"/>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80160" y="1554480"/>
            <a:ext cx="6035040" cy="548640"/>
          </a:xfrm>
          <a:prstGeom prst="rect">
            <a:avLst/>
          </a:prstGeom>
          <a:noFill/>
          <a:ln/>
        </p:spPr>
        <p:txBody>
          <a:bodyPr wrap="square" lIns="0" tIns="0" rIns="0" bIns="0" rtlCol="0" anchor="ctr"/>
          <a:lstStyle/>
          <a:p>
            <a:pPr indent="0" marL="0">
              <a:buNone/>
            </a:pPr>
            <a:r>
              <a:rPr lang="en-US" sz="1700" b="1" dirty="0">
                <a:solidFill>
                  <a:srgbClr val="232733"/>
                </a:solidFill>
                <a:latin typeface="Calibri" pitchFamily="34" charset="0"/>
                <a:ea typeface="Calibri" pitchFamily="34" charset="-122"/>
                <a:cs typeface="Calibri" pitchFamily="34" charset="-120"/>
              </a:rPr>
              <a:t>The Bank We Inherited</a:t>
            </a:r>
            <a:endParaRPr lang="en-US" sz="1700" dirty="0"/>
          </a:p>
        </p:txBody>
      </p:sp>
      <p:sp>
        <p:nvSpPr>
          <p:cNvPr id="7" name="Text 5"/>
          <p:cNvSpPr/>
          <p:nvPr/>
        </p:nvSpPr>
        <p:spPr>
          <a:xfrm>
            <a:off x="7406640" y="1554480"/>
            <a:ext cx="3108960" cy="548640"/>
          </a:xfrm>
          <a:prstGeom prst="rect">
            <a:avLst/>
          </a:prstGeom>
          <a:noFill/>
          <a:ln/>
        </p:spPr>
        <p:txBody>
          <a:bodyPr wrap="square" lIns="0" tIns="0" rIns="0" bIns="0" rtlCol="0" anchor="ctr"/>
          <a:lstStyle/>
          <a:p>
            <a:pPr indent="0" marL="0">
              <a:buNone/>
            </a:pPr>
            <a:r>
              <a:rPr lang="en-US" sz="1400" dirty="0">
                <a:solidFill>
                  <a:srgbClr val="6E7480"/>
                </a:solidFill>
                <a:latin typeface="Calibri" pitchFamily="34" charset="0"/>
                <a:ea typeface="Calibri" pitchFamily="34" charset="-122"/>
                <a:cs typeface="Calibri" pitchFamily="34" charset="-120"/>
              </a:rPr>
              <a:t>[CEO — name]</a:t>
            </a:r>
            <a:endParaRPr lang="en-US" sz="1400" dirty="0"/>
          </a:p>
        </p:txBody>
      </p:sp>
      <p:sp>
        <p:nvSpPr>
          <p:cNvPr id="8" name="Text 6"/>
          <p:cNvSpPr/>
          <p:nvPr/>
        </p:nvSpPr>
        <p:spPr>
          <a:xfrm>
            <a:off x="10607040" y="1554480"/>
            <a:ext cx="1005840" cy="548640"/>
          </a:xfrm>
          <a:prstGeom prst="rect">
            <a:avLst/>
          </a:prstGeom>
          <a:noFill/>
          <a:ln/>
        </p:spPr>
        <p:txBody>
          <a:bodyPr wrap="square" lIns="0" tIns="0" rIns="0" bIns="0" rtlCol="0" anchor="ctr"/>
          <a:lstStyle/>
          <a:p>
            <a:pPr algn="r" indent="0" marL="0">
              <a:buNone/>
            </a:pPr>
            <a:r>
              <a:rPr lang="en-US" sz="1400" b="1" dirty="0">
                <a:solidFill>
                  <a:srgbClr val="B9791F"/>
                </a:solidFill>
                <a:latin typeface="Calibri" pitchFamily="34" charset="0"/>
                <a:ea typeface="Calibri" pitchFamily="34" charset="-122"/>
                <a:cs typeface="Calibri" pitchFamily="34" charset="-120"/>
              </a:rPr>
              <a:t>2 min</a:t>
            </a:r>
            <a:endParaRPr lang="en-US" sz="1400" dirty="0"/>
          </a:p>
        </p:txBody>
      </p:sp>
      <p:sp>
        <p:nvSpPr>
          <p:cNvPr id="9" name="Shape 7"/>
          <p:cNvSpPr/>
          <p:nvPr/>
        </p:nvSpPr>
        <p:spPr>
          <a:xfrm>
            <a:off x="594360" y="2368296"/>
            <a:ext cx="457200" cy="457200"/>
          </a:xfrm>
          <a:prstGeom prst="ellipse">
            <a:avLst/>
          </a:prstGeom>
          <a:solidFill>
            <a:srgbClr val="1F2A44"/>
          </a:solidFill>
          <a:ln/>
        </p:spPr>
      </p:sp>
      <p:sp>
        <p:nvSpPr>
          <p:cNvPr id="10" name="Text 8"/>
          <p:cNvSpPr/>
          <p:nvPr/>
        </p:nvSpPr>
        <p:spPr>
          <a:xfrm>
            <a:off x="594360" y="2368296"/>
            <a:ext cx="457200" cy="457200"/>
          </a:xfrm>
          <a:prstGeom prst="rect">
            <a:avLst/>
          </a:prstGeom>
          <a:noFill/>
          <a:ln/>
        </p:spPr>
        <p:txBody>
          <a:bodyPr wrap="square" lIns="0" tIns="0" rIns="0" bIns="0" rtlCol="0" anchor="ctr"/>
          <a:lstStyle/>
          <a:p>
            <a:pPr algn="ctr" indent="0" marL="0">
              <a:buNone/>
            </a:pPr>
            <a:r>
              <a:rPr lang="en-US" sz="1600" b="1" dirty="0">
                <a:solidFill>
                  <a:srgbClr val="E3A94E"/>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280160" y="2313432"/>
            <a:ext cx="6035040" cy="548640"/>
          </a:xfrm>
          <a:prstGeom prst="rect">
            <a:avLst/>
          </a:prstGeom>
          <a:noFill/>
          <a:ln/>
        </p:spPr>
        <p:txBody>
          <a:bodyPr wrap="square" lIns="0" tIns="0" rIns="0" bIns="0" rtlCol="0" anchor="ctr"/>
          <a:lstStyle/>
          <a:p>
            <a:pPr indent="0" marL="0">
              <a:buNone/>
            </a:pPr>
            <a:r>
              <a:rPr lang="en-US" sz="1700" b="1" dirty="0">
                <a:solidFill>
                  <a:srgbClr val="232733"/>
                </a:solidFill>
                <a:latin typeface="Calibri" pitchFamily="34" charset="0"/>
                <a:ea typeface="Calibri" pitchFamily="34" charset="-122"/>
                <a:cs typeface="Calibri" pitchFamily="34" charset="-120"/>
              </a:rPr>
              <a:t>The Recipe — Strategy Over Two Years</a:t>
            </a:r>
            <a:endParaRPr lang="en-US" sz="1700" dirty="0"/>
          </a:p>
        </p:txBody>
      </p:sp>
      <p:sp>
        <p:nvSpPr>
          <p:cNvPr id="12" name="Text 10"/>
          <p:cNvSpPr/>
          <p:nvPr/>
        </p:nvSpPr>
        <p:spPr>
          <a:xfrm>
            <a:off x="7406640" y="2313432"/>
            <a:ext cx="3108960" cy="548640"/>
          </a:xfrm>
          <a:prstGeom prst="rect">
            <a:avLst/>
          </a:prstGeom>
          <a:noFill/>
          <a:ln/>
        </p:spPr>
        <p:txBody>
          <a:bodyPr wrap="square" lIns="0" tIns="0" rIns="0" bIns="0" rtlCol="0" anchor="ctr"/>
          <a:lstStyle/>
          <a:p>
            <a:pPr indent="0" marL="0">
              <a:buNone/>
            </a:pPr>
            <a:r>
              <a:rPr lang="en-US" sz="1400" dirty="0">
                <a:solidFill>
                  <a:srgbClr val="6E7480"/>
                </a:solidFill>
                <a:latin typeface="Calibri" pitchFamily="34" charset="0"/>
                <a:ea typeface="Calibri" pitchFamily="34" charset="-122"/>
                <a:cs typeface="Calibri" pitchFamily="34" charset="-120"/>
              </a:rPr>
              <a:t>[KS — Lending &amp; Credit]</a:t>
            </a:r>
            <a:endParaRPr lang="en-US" sz="1400" dirty="0"/>
          </a:p>
        </p:txBody>
      </p:sp>
      <p:sp>
        <p:nvSpPr>
          <p:cNvPr id="13" name="Text 11"/>
          <p:cNvSpPr/>
          <p:nvPr/>
        </p:nvSpPr>
        <p:spPr>
          <a:xfrm>
            <a:off x="10607040" y="2313432"/>
            <a:ext cx="1005840" cy="548640"/>
          </a:xfrm>
          <a:prstGeom prst="rect">
            <a:avLst/>
          </a:prstGeom>
          <a:noFill/>
          <a:ln/>
        </p:spPr>
        <p:txBody>
          <a:bodyPr wrap="square" lIns="0" tIns="0" rIns="0" bIns="0" rtlCol="0" anchor="ctr"/>
          <a:lstStyle/>
          <a:p>
            <a:pPr algn="r" indent="0" marL="0">
              <a:buNone/>
            </a:pPr>
            <a:r>
              <a:rPr lang="en-US" sz="1400" b="1" dirty="0">
                <a:solidFill>
                  <a:srgbClr val="B9791F"/>
                </a:solidFill>
                <a:latin typeface="Calibri" pitchFamily="34" charset="0"/>
                <a:ea typeface="Calibri" pitchFamily="34" charset="-122"/>
                <a:cs typeface="Calibri" pitchFamily="34" charset="-120"/>
              </a:rPr>
              <a:t>3 min</a:t>
            </a:r>
            <a:endParaRPr lang="en-US" sz="1400" dirty="0"/>
          </a:p>
        </p:txBody>
      </p:sp>
      <p:sp>
        <p:nvSpPr>
          <p:cNvPr id="14" name="Shape 12"/>
          <p:cNvSpPr/>
          <p:nvPr/>
        </p:nvSpPr>
        <p:spPr>
          <a:xfrm>
            <a:off x="594360" y="3127248"/>
            <a:ext cx="457200" cy="457200"/>
          </a:xfrm>
          <a:prstGeom prst="ellipse">
            <a:avLst/>
          </a:prstGeom>
          <a:solidFill>
            <a:srgbClr val="1F2A44"/>
          </a:solidFill>
          <a:ln/>
        </p:spPr>
      </p:sp>
      <p:sp>
        <p:nvSpPr>
          <p:cNvPr id="15" name="Text 13"/>
          <p:cNvSpPr/>
          <p:nvPr/>
        </p:nvSpPr>
        <p:spPr>
          <a:xfrm>
            <a:off x="594360" y="3127248"/>
            <a:ext cx="457200" cy="457200"/>
          </a:xfrm>
          <a:prstGeom prst="rect">
            <a:avLst/>
          </a:prstGeom>
          <a:noFill/>
          <a:ln/>
        </p:spPr>
        <p:txBody>
          <a:bodyPr wrap="square" lIns="0" tIns="0" rIns="0" bIns="0" rtlCol="0" anchor="ctr"/>
          <a:lstStyle/>
          <a:p>
            <a:pPr algn="ctr" indent="0" marL="0">
              <a:buNone/>
            </a:pPr>
            <a:r>
              <a:rPr lang="en-US" sz="1600" b="1" dirty="0">
                <a:solidFill>
                  <a:srgbClr val="E3A94E"/>
                </a:solidFill>
                <a:latin typeface="Cambria" pitchFamily="34" charset="0"/>
                <a:ea typeface="Cambria" pitchFamily="34" charset="-122"/>
                <a:cs typeface="Cambria" pitchFamily="34" charset="-120"/>
              </a:rPr>
              <a:t>3</a:t>
            </a:r>
            <a:endParaRPr lang="en-US" sz="1600" dirty="0"/>
          </a:p>
        </p:txBody>
      </p:sp>
      <p:sp>
        <p:nvSpPr>
          <p:cNvPr id="16" name="Text 14"/>
          <p:cNvSpPr/>
          <p:nvPr/>
        </p:nvSpPr>
        <p:spPr>
          <a:xfrm>
            <a:off x="1280160" y="3072384"/>
            <a:ext cx="6035040" cy="548640"/>
          </a:xfrm>
          <a:prstGeom prst="rect">
            <a:avLst/>
          </a:prstGeom>
          <a:noFill/>
          <a:ln/>
        </p:spPr>
        <p:txBody>
          <a:bodyPr wrap="square" lIns="0" tIns="0" rIns="0" bIns="0" rtlCol="0" anchor="ctr"/>
          <a:lstStyle/>
          <a:p>
            <a:pPr indent="0" marL="0">
              <a:buNone/>
            </a:pPr>
            <a:r>
              <a:rPr lang="en-US" sz="1700" b="1" dirty="0">
                <a:solidFill>
                  <a:srgbClr val="232733"/>
                </a:solidFill>
                <a:latin typeface="Calibri" pitchFamily="34" charset="0"/>
                <a:ea typeface="Calibri" pitchFamily="34" charset="-122"/>
                <a:cs typeface="Calibri" pitchFamily="34" charset="-120"/>
              </a:rPr>
              <a:t>Proof — Operating Results FY29 &amp; FY30</a:t>
            </a:r>
            <a:endParaRPr lang="en-US" sz="1700" dirty="0"/>
          </a:p>
        </p:txBody>
      </p:sp>
      <p:sp>
        <p:nvSpPr>
          <p:cNvPr id="17" name="Text 15"/>
          <p:cNvSpPr/>
          <p:nvPr/>
        </p:nvSpPr>
        <p:spPr>
          <a:xfrm>
            <a:off x="7406640" y="3072384"/>
            <a:ext cx="3108960" cy="548640"/>
          </a:xfrm>
          <a:prstGeom prst="rect">
            <a:avLst/>
          </a:prstGeom>
          <a:noFill/>
          <a:ln/>
        </p:spPr>
        <p:txBody>
          <a:bodyPr wrap="square" lIns="0" tIns="0" rIns="0" bIns="0" rtlCol="0" anchor="ctr"/>
          <a:lstStyle/>
          <a:p>
            <a:pPr indent="0" marL="0">
              <a:buNone/>
            </a:pPr>
            <a:r>
              <a:rPr lang="en-US" sz="1400" dirty="0">
                <a:solidFill>
                  <a:srgbClr val="6E7480"/>
                </a:solidFill>
                <a:latin typeface="Calibri" pitchFamily="34" charset="0"/>
                <a:ea typeface="Calibri" pitchFamily="34" charset="-122"/>
                <a:cs typeface="Calibri" pitchFamily="34" charset="-120"/>
              </a:rPr>
              <a:t>[CU — Treasury &amp; CFO]</a:t>
            </a:r>
            <a:endParaRPr lang="en-US" sz="1400" dirty="0"/>
          </a:p>
        </p:txBody>
      </p:sp>
      <p:sp>
        <p:nvSpPr>
          <p:cNvPr id="18" name="Text 16"/>
          <p:cNvSpPr/>
          <p:nvPr/>
        </p:nvSpPr>
        <p:spPr>
          <a:xfrm>
            <a:off x="10607040" y="3072384"/>
            <a:ext cx="1005840" cy="548640"/>
          </a:xfrm>
          <a:prstGeom prst="rect">
            <a:avLst/>
          </a:prstGeom>
          <a:noFill/>
          <a:ln/>
        </p:spPr>
        <p:txBody>
          <a:bodyPr wrap="square" lIns="0" tIns="0" rIns="0" bIns="0" rtlCol="0" anchor="ctr"/>
          <a:lstStyle/>
          <a:p>
            <a:pPr algn="r" indent="0" marL="0">
              <a:buNone/>
            </a:pPr>
            <a:r>
              <a:rPr lang="en-US" sz="1400" b="1" dirty="0">
                <a:solidFill>
                  <a:srgbClr val="B9791F"/>
                </a:solidFill>
                <a:latin typeface="Calibri" pitchFamily="34" charset="0"/>
                <a:ea typeface="Calibri" pitchFamily="34" charset="-122"/>
                <a:cs typeface="Calibri" pitchFamily="34" charset="-120"/>
              </a:rPr>
              <a:t>4 min</a:t>
            </a:r>
            <a:endParaRPr lang="en-US" sz="1400" dirty="0"/>
          </a:p>
        </p:txBody>
      </p:sp>
      <p:sp>
        <p:nvSpPr>
          <p:cNvPr id="19" name="Shape 17"/>
          <p:cNvSpPr/>
          <p:nvPr/>
        </p:nvSpPr>
        <p:spPr>
          <a:xfrm>
            <a:off x="594360" y="3886200"/>
            <a:ext cx="457200" cy="457200"/>
          </a:xfrm>
          <a:prstGeom prst="ellipse">
            <a:avLst/>
          </a:prstGeom>
          <a:solidFill>
            <a:srgbClr val="1F2A44"/>
          </a:solidFill>
          <a:ln/>
        </p:spPr>
      </p:sp>
      <p:sp>
        <p:nvSpPr>
          <p:cNvPr id="20" name="Text 18"/>
          <p:cNvSpPr/>
          <p:nvPr/>
        </p:nvSpPr>
        <p:spPr>
          <a:xfrm>
            <a:off x="594360" y="3886200"/>
            <a:ext cx="457200" cy="457200"/>
          </a:xfrm>
          <a:prstGeom prst="rect">
            <a:avLst/>
          </a:prstGeom>
          <a:noFill/>
          <a:ln/>
        </p:spPr>
        <p:txBody>
          <a:bodyPr wrap="square" lIns="0" tIns="0" rIns="0" bIns="0" rtlCol="0" anchor="ctr"/>
          <a:lstStyle/>
          <a:p>
            <a:pPr algn="ctr" indent="0" marL="0">
              <a:buNone/>
            </a:pPr>
            <a:r>
              <a:rPr lang="en-US" sz="1600" b="1" dirty="0">
                <a:solidFill>
                  <a:srgbClr val="E3A94E"/>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1280160" y="3831336"/>
            <a:ext cx="6035040" cy="548640"/>
          </a:xfrm>
          <a:prstGeom prst="rect">
            <a:avLst/>
          </a:prstGeom>
          <a:noFill/>
          <a:ln/>
        </p:spPr>
        <p:txBody>
          <a:bodyPr wrap="square" lIns="0" tIns="0" rIns="0" bIns="0" rtlCol="0" anchor="ctr"/>
          <a:lstStyle/>
          <a:p>
            <a:pPr indent="0" marL="0">
              <a:buNone/>
            </a:pPr>
            <a:r>
              <a:rPr lang="en-US" sz="1700" b="1" dirty="0">
                <a:solidFill>
                  <a:srgbClr val="232733"/>
                </a:solidFill>
                <a:latin typeface="Calibri" pitchFamily="34" charset="0"/>
                <a:ea typeface="Calibri" pitchFamily="34" charset="-122"/>
                <a:cs typeface="Calibri" pitchFamily="34" charset="-120"/>
              </a:rPr>
              <a:t>Goals &amp; Regulatory Compliance</a:t>
            </a:r>
            <a:endParaRPr lang="en-US" sz="1700" dirty="0"/>
          </a:p>
        </p:txBody>
      </p:sp>
      <p:sp>
        <p:nvSpPr>
          <p:cNvPr id="22" name="Text 20"/>
          <p:cNvSpPr/>
          <p:nvPr/>
        </p:nvSpPr>
        <p:spPr>
          <a:xfrm>
            <a:off x="7406640" y="3831336"/>
            <a:ext cx="3108960" cy="548640"/>
          </a:xfrm>
          <a:prstGeom prst="rect">
            <a:avLst/>
          </a:prstGeom>
          <a:noFill/>
          <a:ln/>
        </p:spPr>
        <p:txBody>
          <a:bodyPr wrap="square" lIns="0" tIns="0" rIns="0" bIns="0" rtlCol="0" anchor="ctr"/>
          <a:lstStyle/>
          <a:p>
            <a:pPr indent="0" marL="0">
              <a:buNone/>
            </a:pPr>
            <a:r>
              <a:rPr lang="en-US" sz="1400" dirty="0">
                <a:solidFill>
                  <a:srgbClr val="6E7480"/>
                </a:solidFill>
                <a:latin typeface="Calibri" pitchFamily="34" charset="0"/>
                <a:ea typeface="Calibri" pitchFamily="34" charset="-122"/>
                <a:cs typeface="Calibri" pitchFamily="34" charset="-120"/>
              </a:rPr>
              <a:t>[AY — Credit Administration]</a:t>
            </a:r>
            <a:endParaRPr lang="en-US" sz="1400" dirty="0"/>
          </a:p>
        </p:txBody>
      </p:sp>
      <p:sp>
        <p:nvSpPr>
          <p:cNvPr id="23" name="Text 21"/>
          <p:cNvSpPr/>
          <p:nvPr/>
        </p:nvSpPr>
        <p:spPr>
          <a:xfrm>
            <a:off x="10607040" y="3831336"/>
            <a:ext cx="1005840" cy="548640"/>
          </a:xfrm>
          <a:prstGeom prst="rect">
            <a:avLst/>
          </a:prstGeom>
          <a:noFill/>
          <a:ln/>
        </p:spPr>
        <p:txBody>
          <a:bodyPr wrap="square" lIns="0" tIns="0" rIns="0" bIns="0" rtlCol="0" anchor="ctr"/>
          <a:lstStyle/>
          <a:p>
            <a:pPr algn="r" indent="0" marL="0">
              <a:buNone/>
            </a:pPr>
            <a:r>
              <a:rPr lang="en-US" sz="1400" b="1" dirty="0">
                <a:solidFill>
                  <a:srgbClr val="B9791F"/>
                </a:solidFill>
                <a:latin typeface="Calibri" pitchFamily="34" charset="0"/>
                <a:ea typeface="Calibri" pitchFamily="34" charset="-122"/>
                <a:cs typeface="Calibri" pitchFamily="34" charset="-120"/>
              </a:rPr>
              <a:t>3 min</a:t>
            </a:r>
            <a:endParaRPr lang="en-US" sz="1400" dirty="0"/>
          </a:p>
        </p:txBody>
      </p:sp>
      <p:sp>
        <p:nvSpPr>
          <p:cNvPr id="24" name="Shape 22"/>
          <p:cNvSpPr/>
          <p:nvPr/>
        </p:nvSpPr>
        <p:spPr>
          <a:xfrm>
            <a:off x="594360" y="4645152"/>
            <a:ext cx="457200" cy="457200"/>
          </a:xfrm>
          <a:prstGeom prst="ellipse">
            <a:avLst/>
          </a:prstGeom>
          <a:solidFill>
            <a:srgbClr val="1F2A44"/>
          </a:solidFill>
          <a:ln/>
        </p:spPr>
      </p:sp>
      <p:sp>
        <p:nvSpPr>
          <p:cNvPr id="25" name="Text 23"/>
          <p:cNvSpPr/>
          <p:nvPr/>
        </p:nvSpPr>
        <p:spPr>
          <a:xfrm>
            <a:off x="594360" y="4645152"/>
            <a:ext cx="457200" cy="457200"/>
          </a:xfrm>
          <a:prstGeom prst="rect">
            <a:avLst/>
          </a:prstGeom>
          <a:noFill/>
          <a:ln/>
        </p:spPr>
        <p:txBody>
          <a:bodyPr wrap="square" lIns="0" tIns="0" rIns="0" bIns="0" rtlCol="0" anchor="ctr"/>
          <a:lstStyle/>
          <a:p>
            <a:pPr algn="ctr" indent="0" marL="0">
              <a:buNone/>
            </a:pPr>
            <a:r>
              <a:rPr lang="en-US" sz="1600" b="1" dirty="0">
                <a:solidFill>
                  <a:srgbClr val="E3A94E"/>
                </a:solidFill>
                <a:latin typeface="Cambria" pitchFamily="34" charset="0"/>
                <a:ea typeface="Cambria" pitchFamily="34" charset="-122"/>
                <a:cs typeface="Cambria" pitchFamily="34" charset="-120"/>
              </a:rPr>
              <a:t>5</a:t>
            </a:r>
            <a:endParaRPr lang="en-US" sz="1600" dirty="0"/>
          </a:p>
        </p:txBody>
      </p:sp>
      <p:sp>
        <p:nvSpPr>
          <p:cNvPr id="26" name="Text 24"/>
          <p:cNvSpPr/>
          <p:nvPr/>
        </p:nvSpPr>
        <p:spPr>
          <a:xfrm>
            <a:off x="1280160" y="4590288"/>
            <a:ext cx="6035040" cy="548640"/>
          </a:xfrm>
          <a:prstGeom prst="rect">
            <a:avLst/>
          </a:prstGeom>
          <a:noFill/>
          <a:ln/>
        </p:spPr>
        <p:txBody>
          <a:bodyPr wrap="square" lIns="0" tIns="0" rIns="0" bIns="0" rtlCol="0" anchor="ctr"/>
          <a:lstStyle/>
          <a:p>
            <a:pPr indent="0" marL="0">
              <a:buNone/>
            </a:pPr>
            <a:r>
              <a:rPr lang="en-US" sz="1700" b="1" dirty="0">
                <a:solidFill>
                  <a:srgbClr val="232733"/>
                </a:solidFill>
                <a:latin typeface="Calibri" pitchFamily="34" charset="0"/>
                <a:ea typeface="Calibri" pitchFamily="34" charset="-122"/>
                <a:cs typeface="Calibri" pitchFamily="34" charset="-120"/>
              </a:rPr>
              <a:t>The Next Batch — Forward Look</a:t>
            </a:r>
            <a:endParaRPr lang="en-US" sz="1700" dirty="0"/>
          </a:p>
        </p:txBody>
      </p:sp>
      <p:sp>
        <p:nvSpPr>
          <p:cNvPr id="27" name="Text 25"/>
          <p:cNvSpPr/>
          <p:nvPr/>
        </p:nvSpPr>
        <p:spPr>
          <a:xfrm>
            <a:off x="7406640" y="4590288"/>
            <a:ext cx="3108960" cy="548640"/>
          </a:xfrm>
          <a:prstGeom prst="rect">
            <a:avLst/>
          </a:prstGeom>
          <a:noFill/>
          <a:ln/>
        </p:spPr>
        <p:txBody>
          <a:bodyPr wrap="square" lIns="0" tIns="0" rIns="0" bIns="0" rtlCol="0" anchor="ctr"/>
          <a:lstStyle/>
          <a:p>
            <a:pPr indent="0" marL="0">
              <a:buNone/>
            </a:pPr>
            <a:r>
              <a:rPr lang="en-US" sz="1400" dirty="0">
                <a:solidFill>
                  <a:srgbClr val="6E7480"/>
                </a:solidFill>
                <a:latin typeface="Calibri" pitchFamily="34" charset="0"/>
                <a:ea typeface="Calibri" pitchFamily="34" charset="-122"/>
                <a:cs typeface="Calibri" pitchFamily="34" charset="-120"/>
              </a:rPr>
              <a:t>[JS — Deposits &amp; Strategy]</a:t>
            </a:r>
            <a:endParaRPr lang="en-US" sz="1400" dirty="0"/>
          </a:p>
        </p:txBody>
      </p:sp>
      <p:sp>
        <p:nvSpPr>
          <p:cNvPr id="28" name="Text 26"/>
          <p:cNvSpPr/>
          <p:nvPr/>
        </p:nvSpPr>
        <p:spPr>
          <a:xfrm>
            <a:off x="10607040" y="4590288"/>
            <a:ext cx="1005840" cy="548640"/>
          </a:xfrm>
          <a:prstGeom prst="rect">
            <a:avLst/>
          </a:prstGeom>
          <a:noFill/>
          <a:ln/>
        </p:spPr>
        <p:txBody>
          <a:bodyPr wrap="square" lIns="0" tIns="0" rIns="0" bIns="0" rtlCol="0" anchor="ctr"/>
          <a:lstStyle/>
          <a:p>
            <a:pPr algn="r" indent="0" marL="0">
              <a:buNone/>
            </a:pPr>
            <a:r>
              <a:rPr lang="en-US" sz="1400" b="1" dirty="0">
                <a:solidFill>
                  <a:srgbClr val="B9791F"/>
                </a:solidFill>
                <a:latin typeface="Calibri" pitchFamily="34" charset="0"/>
                <a:ea typeface="Calibri" pitchFamily="34" charset="-122"/>
                <a:cs typeface="Calibri" pitchFamily="34" charset="-120"/>
              </a:rPr>
              <a:t>2 min</a:t>
            </a:r>
            <a:endParaRPr lang="en-US" sz="1400" dirty="0"/>
          </a:p>
        </p:txBody>
      </p:sp>
      <p:sp>
        <p:nvSpPr>
          <p:cNvPr id="29" name="Shape 27"/>
          <p:cNvSpPr/>
          <p:nvPr/>
        </p:nvSpPr>
        <p:spPr>
          <a:xfrm>
            <a:off x="594360" y="5404104"/>
            <a:ext cx="457200" cy="457200"/>
          </a:xfrm>
          <a:prstGeom prst="ellipse">
            <a:avLst/>
          </a:prstGeom>
          <a:solidFill>
            <a:srgbClr val="1F2A44"/>
          </a:solidFill>
          <a:ln/>
        </p:spPr>
      </p:sp>
      <p:sp>
        <p:nvSpPr>
          <p:cNvPr id="30" name="Text 28"/>
          <p:cNvSpPr/>
          <p:nvPr/>
        </p:nvSpPr>
        <p:spPr>
          <a:xfrm>
            <a:off x="594360" y="5404104"/>
            <a:ext cx="457200" cy="457200"/>
          </a:xfrm>
          <a:prstGeom prst="rect">
            <a:avLst/>
          </a:prstGeom>
          <a:noFill/>
          <a:ln/>
        </p:spPr>
        <p:txBody>
          <a:bodyPr wrap="square" lIns="0" tIns="0" rIns="0" bIns="0" rtlCol="0" anchor="ctr"/>
          <a:lstStyle/>
          <a:p>
            <a:pPr algn="ctr" indent="0" marL="0">
              <a:buNone/>
            </a:pPr>
            <a:r>
              <a:rPr lang="en-US" sz="1600" b="1" dirty="0">
                <a:solidFill>
                  <a:srgbClr val="E3A94E"/>
                </a:solidFill>
                <a:latin typeface="Cambria" pitchFamily="34" charset="0"/>
                <a:ea typeface="Cambria" pitchFamily="34" charset="-122"/>
                <a:cs typeface="Cambria" pitchFamily="34" charset="-120"/>
              </a:rPr>
              <a:t>6</a:t>
            </a:r>
            <a:endParaRPr lang="en-US" sz="1600" dirty="0"/>
          </a:p>
        </p:txBody>
      </p:sp>
      <p:sp>
        <p:nvSpPr>
          <p:cNvPr id="31" name="Text 29"/>
          <p:cNvSpPr/>
          <p:nvPr/>
        </p:nvSpPr>
        <p:spPr>
          <a:xfrm>
            <a:off x="1280160" y="5349240"/>
            <a:ext cx="6035040" cy="548640"/>
          </a:xfrm>
          <a:prstGeom prst="rect">
            <a:avLst/>
          </a:prstGeom>
          <a:noFill/>
          <a:ln/>
        </p:spPr>
        <p:txBody>
          <a:bodyPr wrap="square" lIns="0" tIns="0" rIns="0" bIns="0" rtlCol="0" anchor="ctr"/>
          <a:lstStyle/>
          <a:p>
            <a:pPr indent="0" marL="0">
              <a:buNone/>
            </a:pPr>
            <a:r>
              <a:rPr lang="en-US" sz="1700" b="1" dirty="0">
                <a:solidFill>
                  <a:srgbClr val="232733"/>
                </a:solidFill>
                <a:latin typeface="Calibri" pitchFamily="34" charset="0"/>
                <a:ea typeface="Calibri" pitchFamily="34" charset="-122"/>
                <a:cs typeface="Calibri" pitchFamily="34" charset="-120"/>
              </a:rPr>
              <a:t>Closing &amp; Questions</a:t>
            </a:r>
            <a:endParaRPr lang="en-US" sz="1700" dirty="0"/>
          </a:p>
        </p:txBody>
      </p:sp>
      <p:sp>
        <p:nvSpPr>
          <p:cNvPr id="32" name="Text 30"/>
          <p:cNvSpPr/>
          <p:nvPr/>
        </p:nvSpPr>
        <p:spPr>
          <a:xfrm>
            <a:off x="7406640" y="5349240"/>
            <a:ext cx="3108960" cy="548640"/>
          </a:xfrm>
          <a:prstGeom prst="rect">
            <a:avLst/>
          </a:prstGeom>
          <a:noFill/>
          <a:ln/>
        </p:spPr>
        <p:txBody>
          <a:bodyPr wrap="square" lIns="0" tIns="0" rIns="0" bIns="0" rtlCol="0" anchor="ctr"/>
          <a:lstStyle/>
          <a:p>
            <a:pPr indent="0" marL="0">
              <a:buNone/>
            </a:pPr>
            <a:r>
              <a:rPr lang="en-US" sz="1400" dirty="0">
                <a:solidFill>
                  <a:srgbClr val="6E7480"/>
                </a:solidFill>
                <a:latin typeface="Calibri" pitchFamily="34" charset="0"/>
                <a:ea typeface="Calibri" pitchFamily="34" charset="-122"/>
                <a:cs typeface="Calibri" pitchFamily="34" charset="-120"/>
              </a:rPr>
              <a:t>Full team</a:t>
            </a:r>
            <a:endParaRPr lang="en-US" sz="1400" dirty="0"/>
          </a:p>
        </p:txBody>
      </p:sp>
      <p:sp>
        <p:nvSpPr>
          <p:cNvPr id="33" name="Text 31"/>
          <p:cNvSpPr/>
          <p:nvPr/>
        </p:nvSpPr>
        <p:spPr>
          <a:xfrm>
            <a:off x="10607040" y="5349240"/>
            <a:ext cx="1005840" cy="548640"/>
          </a:xfrm>
          <a:prstGeom prst="rect">
            <a:avLst/>
          </a:prstGeom>
          <a:noFill/>
          <a:ln/>
        </p:spPr>
        <p:txBody>
          <a:bodyPr wrap="square" lIns="0" tIns="0" rIns="0" bIns="0" rtlCol="0" anchor="ctr"/>
          <a:lstStyle/>
          <a:p>
            <a:pPr algn="r" indent="0" marL="0">
              <a:buNone/>
            </a:pPr>
            <a:r>
              <a:rPr lang="en-US" sz="1400" b="1" dirty="0">
                <a:solidFill>
                  <a:srgbClr val="B9791F"/>
                </a:solidFill>
                <a:latin typeface="Calibri" pitchFamily="34" charset="0"/>
                <a:ea typeface="Calibri" pitchFamily="34" charset="-122"/>
                <a:cs typeface="Calibri" pitchFamily="34" charset="-120"/>
              </a:rPr>
              <a:t>1 + 5 min</a:t>
            </a:r>
            <a:endParaRPr lang="en-US" sz="1400" dirty="0"/>
          </a:p>
        </p:txBody>
      </p:sp>
      <p:sp>
        <p:nvSpPr>
          <p:cNvPr id="34" name="Text 32"/>
          <p:cNvSpPr/>
          <p:nvPr/>
        </p:nvSpPr>
        <p:spPr>
          <a:xfrm>
            <a:off x="594360" y="6263640"/>
            <a:ext cx="10058400" cy="320040"/>
          </a:xfrm>
          <a:prstGeom prst="rect">
            <a:avLst/>
          </a:prstGeom>
          <a:noFill/>
          <a:ln/>
        </p:spPr>
        <p:txBody>
          <a:bodyPr wrap="square" lIns="0" tIns="0" rIns="0" bIns="0" rtlCol="0" anchor="ctr"/>
          <a:lstStyle/>
          <a:p>
            <a:pPr indent="0" marL="0">
              <a:buNone/>
            </a:pPr>
            <a:r>
              <a:rPr lang="en-US" sz="1100" i="1" dirty="0">
                <a:solidFill>
                  <a:srgbClr val="6E7480"/>
                </a:solidFill>
                <a:latin typeface="Calibri" pitchFamily="34" charset="0"/>
                <a:ea typeface="Calibri" pitchFamily="34" charset="-122"/>
                <a:cs typeface="Calibri" pitchFamily="34" charset="-120"/>
              </a:rPr>
              <a:t>Every team member presents — swap the bracketed names for yours.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JANUARY 2029 · SECTION 1</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The Bank We Inherited</a:t>
            </a:r>
            <a:endParaRPr lang="en-US" sz="3200" dirty="0"/>
          </a:p>
        </p:txBody>
      </p:sp>
      <p:pic>
        <p:nvPicPr>
          <p:cNvPr id="4" name="Image 0" descr="lemmings.png">    </p:cNvPr>
          <p:cNvPicPr>
            <a:picLocks noChangeAspect="1"/>
          </p:cNvPicPr>
          <p:nvPr/>
        </p:nvPicPr>
        <p:blipFill>
          <a:blip r:embed="rId1"/>
          <a:srcRect l="0" r="0" t="0" b="0"/>
          <a:stretch/>
        </p:blipFill>
        <p:spPr>
          <a:xfrm>
            <a:off x="8001000" y="1417320"/>
            <a:ext cx="3657600" cy="3657600"/>
          </a:xfrm>
          <a:prstGeom prst="rect">
            <a:avLst/>
          </a:prstGeom>
        </p:spPr>
      </p:pic>
      <p:sp>
        <p:nvSpPr>
          <p:cNvPr id="5" name="Text 2"/>
          <p:cNvSpPr/>
          <p:nvPr/>
        </p:nvSpPr>
        <p:spPr>
          <a:xfrm>
            <a:off x="8001000" y="5230368"/>
            <a:ext cx="3657600" cy="274320"/>
          </a:xfrm>
          <a:prstGeom prst="rect">
            <a:avLst/>
          </a:prstGeom>
          <a:noFill/>
          <a:ln/>
        </p:spPr>
        <p:txBody>
          <a:bodyPr wrap="square" lIns="0" tIns="0" rIns="0" bIns="0" rtlCol="0" anchor="ctr"/>
          <a:lstStyle/>
          <a:p>
            <a:pPr algn="ctr" indent="0" marL="0">
              <a:buNone/>
            </a:pPr>
            <a:r>
              <a:rPr lang="en-US" sz="1100" i="1" dirty="0">
                <a:solidFill>
                  <a:srgbClr val="6E7480"/>
                </a:solidFill>
                <a:latin typeface="Calibri" pitchFamily="34" charset="0"/>
                <a:ea typeface="Calibri" pitchFamily="34" charset="-122"/>
                <a:cs typeface="Calibri" pitchFamily="34" charset="-120"/>
              </a:rPr>
              <a:t>Prior management’s strategy, illustrated.</a:t>
            </a:r>
            <a:endParaRPr lang="en-US" sz="1100" dirty="0"/>
          </a:p>
        </p:txBody>
      </p:sp>
      <p:sp>
        <p:nvSpPr>
          <p:cNvPr id="6" name="Shape 3"/>
          <p:cNvSpPr/>
          <p:nvPr/>
        </p:nvSpPr>
        <p:spPr>
          <a:xfrm>
            <a:off x="548640" y="1481328"/>
            <a:ext cx="3520440" cy="1234440"/>
          </a:xfrm>
          <a:prstGeom prst="roundRect">
            <a:avLst>
              <a:gd name="adj" fmla="val 5926"/>
            </a:avLst>
          </a:prstGeom>
          <a:solidFill>
            <a:srgbClr val="F5F0E4"/>
          </a:solidFill>
          <a:ln/>
        </p:spPr>
      </p:sp>
      <p:sp>
        <p:nvSpPr>
          <p:cNvPr id="7" name="Text 4"/>
          <p:cNvSpPr/>
          <p:nvPr/>
        </p:nvSpPr>
        <p:spPr>
          <a:xfrm>
            <a:off x="685800" y="1591056"/>
            <a:ext cx="3246120" cy="641909"/>
          </a:xfrm>
          <a:prstGeom prst="rect">
            <a:avLst/>
          </a:prstGeom>
          <a:noFill/>
          <a:ln/>
        </p:spPr>
        <p:txBody>
          <a:bodyPr wrap="square" lIns="0" tIns="0" rIns="0" bIns="0" rtlCol="0" anchor="b"/>
          <a:lstStyle/>
          <a:p>
            <a:pPr indent="0" marL="0">
              <a:buNone/>
            </a:pPr>
            <a:r>
              <a:rPr lang="en-US" sz="2600" b="1" dirty="0">
                <a:solidFill>
                  <a:srgbClr val="B3402E"/>
                </a:solidFill>
                <a:latin typeface="Cambria" pitchFamily="34" charset="0"/>
                <a:ea typeface="Cambria" pitchFamily="34" charset="-122"/>
                <a:cs typeface="Cambria" pitchFamily="34" charset="-120"/>
              </a:rPr>
              <a:t>−$0.5M</a:t>
            </a:r>
            <a:endParaRPr lang="en-US" sz="2600" dirty="0"/>
          </a:p>
        </p:txBody>
      </p:sp>
      <p:sp>
        <p:nvSpPr>
          <p:cNvPr id="8" name="Text 5"/>
          <p:cNvSpPr/>
          <p:nvPr/>
        </p:nvSpPr>
        <p:spPr>
          <a:xfrm>
            <a:off x="685800" y="2197303"/>
            <a:ext cx="3246120" cy="49377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quarterly operating loss, and worsening</a:t>
            </a:r>
            <a:endParaRPr lang="en-US" sz="1100" dirty="0"/>
          </a:p>
        </p:txBody>
      </p:sp>
      <p:sp>
        <p:nvSpPr>
          <p:cNvPr id="9" name="Shape 6"/>
          <p:cNvSpPr/>
          <p:nvPr/>
        </p:nvSpPr>
        <p:spPr>
          <a:xfrm>
            <a:off x="4251960" y="1481328"/>
            <a:ext cx="3520440" cy="1234440"/>
          </a:xfrm>
          <a:prstGeom prst="roundRect">
            <a:avLst>
              <a:gd name="adj" fmla="val 5926"/>
            </a:avLst>
          </a:prstGeom>
          <a:solidFill>
            <a:srgbClr val="F5F0E4"/>
          </a:solidFill>
          <a:ln/>
        </p:spPr>
      </p:sp>
      <p:sp>
        <p:nvSpPr>
          <p:cNvPr id="10" name="Text 7"/>
          <p:cNvSpPr/>
          <p:nvPr/>
        </p:nvSpPr>
        <p:spPr>
          <a:xfrm>
            <a:off x="4389120" y="1591056"/>
            <a:ext cx="3246120" cy="641909"/>
          </a:xfrm>
          <a:prstGeom prst="rect">
            <a:avLst/>
          </a:prstGeom>
          <a:noFill/>
          <a:ln/>
        </p:spPr>
        <p:txBody>
          <a:bodyPr wrap="square" lIns="0" tIns="0" rIns="0" bIns="0" rtlCol="0" anchor="b"/>
          <a:lstStyle/>
          <a:p>
            <a:pPr indent="0" marL="0">
              <a:buNone/>
            </a:pPr>
            <a:r>
              <a:rPr lang="en-US" sz="2600" b="1" dirty="0">
                <a:solidFill>
                  <a:srgbClr val="B3402E"/>
                </a:solidFill>
                <a:latin typeface="Cambria" pitchFamily="34" charset="0"/>
                <a:ea typeface="Cambria" pitchFamily="34" charset="-122"/>
                <a:cs typeface="Cambria" pitchFamily="34" charset="-120"/>
              </a:rPr>
              <a:t>187%</a:t>
            </a:r>
            <a:endParaRPr lang="en-US" sz="2600" dirty="0"/>
          </a:p>
        </p:txBody>
      </p:sp>
      <p:sp>
        <p:nvSpPr>
          <p:cNvPr id="11" name="Text 8"/>
          <p:cNvSpPr/>
          <p:nvPr/>
        </p:nvSpPr>
        <p:spPr>
          <a:xfrm>
            <a:off x="4389120" y="2197303"/>
            <a:ext cx="3246120" cy="49377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fed funds purchased vs equity — regulatory limit is 100%</a:t>
            </a:r>
            <a:endParaRPr lang="en-US" sz="1100" dirty="0"/>
          </a:p>
        </p:txBody>
      </p:sp>
      <p:sp>
        <p:nvSpPr>
          <p:cNvPr id="12" name="Shape 9"/>
          <p:cNvSpPr/>
          <p:nvPr/>
        </p:nvSpPr>
        <p:spPr>
          <a:xfrm>
            <a:off x="548640" y="2898648"/>
            <a:ext cx="3520440" cy="1234440"/>
          </a:xfrm>
          <a:prstGeom prst="roundRect">
            <a:avLst>
              <a:gd name="adj" fmla="val 5926"/>
            </a:avLst>
          </a:prstGeom>
          <a:solidFill>
            <a:srgbClr val="F5F0E4"/>
          </a:solidFill>
          <a:ln/>
        </p:spPr>
      </p:sp>
      <p:sp>
        <p:nvSpPr>
          <p:cNvPr id="13" name="Text 10"/>
          <p:cNvSpPr/>
          <p:nvPr/>
        </p:nvSpPr>
        <p:spPr>
          <a:xfrm>
            <a:off x="685800" y="3008376"/>
            <a:ext cx="3246120" cy="641909"/>
          </a:xfrm>
          <a:prstGeom prst="rect">
            <a:avLst/>
          </a:prstGeom>
          <a:noFill/>
          <a:ln/>
        </p:spPr>
        <p:txBody>
          <a:bodyPr wrap="square" lIns="0" tIns="0" rIns="0" bIns="0" rtlCol="0" anchor="b"/>
          <a:lstStyle/>
          <a:p>
            <a:pPr indent="0" marL="0">
              <a:buNone/>
            </a:pPr>
            <a:r>
              <a:rPr lang="en-US" sz="2600" b="1" dirty="0">
                <a:solidFill>
                  <a:srgbClr val="B3402E"/>
                </a:solidFill>
                <a:latin typeface="Cambria" pitchFamily="34" charset="0"/>
                <a:ea typeface="Cambria" pitchFamily="34" charset="-122"/>
                <a:cs typeface="Cambria" pitchFamily="34" charset="-120"/>
              </a:rPr>
              <a:t>0.85%</a:t>
            </a:r>
            <a:endParaRPr lang="en-US" sz="2600" dirty="0"/>
          </a:p>
        </p:txBody>
      </p:sp>
      <p:sp>
        <p:nvSpPr>
          <p:cNvPr id="14" name="Text 11"/>
          <p:cNvSpPr/>
          <p:nvPr/>
        </p:nvSpPr>
        <p:spPr>
          <a:xfrm>
            <a:off x="685800" y="3614623"/>
            <a:ext cx="3246120" cy="49377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loss reserve vs the 1.25% regulators expected</a:t>
            </a:r>
            <a:endParaRPr lang="en-US" sz="1100" dirty="0"/>
          </a:p>
        </p:txBody>
      </p:sp>
      <p:sp>
        <p:nvSpPr>
          <p:cNvPr id="15" name="Shape 12"/>
          <p:cNvSpPr/>
          <p:nvPr/>
        </p:nvSpPr>
        <p:spPr>
          <a:xfrm>
            <a:off x="4251960" y="2898648"/>
            <a:ext cx="3520440" cy="1234440"/>
          </a:xfrm>
          <a:prstGeom prst="roundRect">
            <a:avLst>
              <a:gd name="adj" fmla="val 5926"/>
            </a:avLst>
          </a:prstGeom>
          <a:solidFill>
            <a:srgbClr val="F5F0E4"/>
          </a:solidFill>
          <a:ln/>
        </p:spPr>
      </p:sp>
      <p:sp>
        <p:nvSpPr>
          <p:cNvPr id="16" name="Text 13"/>
          <p:cNvSpPr/>
          <p:nvPr/>
        </p:nvSpPr>
        <p:spPr>
          <a:xfrm>
            <a:off x="4389120" y="3008376"/>
            <a:ext cx="3246120" cy="641909"/>
          </a:xfrm>
          <a:prstGeom prst="rect">
            <a:avLst/>
          </a:prstGeom>
          <a:noFill/>
          <a:ln/>
        </p:spPr>
        <p:txBody>
          <a:bodyPr wrap="square" lIns="0" tIns="0" rIns="0" bIns="0" rtlCol="0" anchor="b"/>
          <a:lstStyle/>
          <a:p>
            <a:pPr indent="0" marL="0">
              <a:buNone/>
            </a:pPr>
            <a:r>
              <a:rPr lang="en-US" sz="2600" b="1" dirty="0">
                <a:solidFill>
                  <a:srgbClr val="B3402E"/>
                </a:solidFill>
                <a:latin typeface="Cambria" pitchFamily="34" charset="0"/>
                <a:ea typeface="Cambria" pitchFamily="34" charset="-122"/>
                <a:cs typeface="Cambria" pitchFamily="34" charset="-120"/>
              </a:rPr>
              <a:t>8.64%</a:t>
            </a:r>
            <a:endParaRPr lang="en-US" sz="2600" dirty="0"/>
          </a:p>
        </p:txBody>
      </p:sp>
      <p:sp>
        <p:nvSpPr>
          <p:cNvPr id="17" name="Text 14"/>
          <p:cNvSpPr/>
          <p:nvPr/>
        </p:nvSpPr>
        <p:spPr>
          <a:xfrm>
            <a:off x="4389120" y="3614623"/>
            <a:ext cx="3246120" cy="49377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risk capital vs a new 10% requirement due in 8 quarters</a:t>
            </a:r>
            <a:endParaRPr lang="en-US" sz="1100" dirty="0"/>
          </a:p>
        </p:txBody>
      </p:sp>
      <p:sp>
        <p:nvSpPr>
          <p:cNvPr id="18" name="Shape 15"/>
          <p:cNvSpPr/>
          <p:nvPr/>
        </p:nvSpPr>
        <p:spPr>
          <a:xfrm>
            <a:off x="548640" y="4315968"/>
            <a:ext cx="3520440" cy="1234440"/>
          </a:xfrm>
          <a:prstGeom prst="roundRect">
            <a:avLst>
              <a:gd name="adj" fmla="val 5926"/>
            </a:avLst>
          </a:prstGeom>
          <a:solidFill>
            <a:srgbClr val="F5F0E4"/>
          </a:solidFill>
          <a:ln/>
        </p:spPr>
      </p:sp>
      <p:sp>
        <p:nvSpPr>
          <p:cNvPr id="19" name="Text 16"/>
          <p:cNvSpPr/>
          <p:nvPr/>
        </p:nvSpPr>
        <p:spPr>
          <a:xfrm>
            <a:off x="685800" y="4425696"/>
            <a:ext cx="3246120" cy="641909"/>
          </a:xfrm>
          <a:prstGeom prst="rect">
            <a:avLst/>
          </a:prstGeom>
          <a:noFill/>
          <a:ln/>
        </p:spPr>
        <p:txBody>
          <a:bodyPr wrap="square" lIns="0" tIns="0" rIns="0" bIns="0" rtlCol="0" anchor="b"/>
          <a:lstStyle/>
          <a:p>
            <a:pPr indent="0" marL="0">
              <a:buNone/>
            </a:pPr>
            <a:r>
              <a:rPr lang="en-US" sz="2600" b="1" dirty="0">
                <a:solidFill>
                  <a:srgbClr val="1F2A44"/>
                </a:solidFill>
                <a:latin typeface="Cambria" pitchFamily="34" charset="0"/>
                <a:ea typeface="Cambria" pitchFamily="34" charset="-122"/>
                <a:cs typeface="Cambria" pitchFamily="34" charset="-120"/>
              </a:rPr>
              <a:t>C</a:t>
            </a:r>
            <a:endParaRPr lang="en-US" sz="2600" dirty="0"/>
          </a:p>
        </p:txBody>
      </p:sp>
      <p:sp>
        <p:nvSpPr>
          <p:cNvPr id="20" name="Text 17"/>
          <p:cNvSpPr/>
          <p:nvPr/>
        </p:nvSpPr>
        <p:spPr>
          <a:xfrm>
            <a:off x="685800" y="5031943"/>
            <a:ext cx="3246120" cy="49377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credit rating — wholesale funding nearly shut</a:t>
            </a:r>
            <a:endParaRPr lang="en-US" sz="1100" dirty="0"/>
          </a:p>
        </p:txBody>
      </p:sp>
      <p:sp>
        <p:nvSpPr>
          <p:cNvPr id="21" name="Shape 18"/>
          <p:cNvSpPr/>
          <p:nvPr/>
        </p:nvSpPr>
        <p:spPr>
          <a:xfrm>
            <a:off x="4251960" y="4315968"/>
            <a:ext cx="3520440" cy="1234440"/>
          </a:xfrm>
          <a:prstGeom prst="roundRect">
            <a:avLst>
              <a:gd name="adj" fmla="val 5926"/>
            </a:avLst>
          </a:prstGeom>
          <a:solidFill>
            <a:srgbClr val="F5F0E4"/>
          </a:solidFill>
          <a:ln/>
        </p:spPr>
      </p:sp>
      <p:sp>
        <p:nvSpPr>
          <p:cNvPr id="22" name="Text 19"/>
          <p:cNvSpPr/>
          <p:nvPr/>
        </p:nvSpPr>
        <p:spPr>
          <a:xfrm>
            <a:off x="4389120" y="4425696"/>
            <a:ext cx="3246120" cy="641909"/>
          </a:xfrm>
          <a:prstGeom prst="rect">
            <a:avLst/>
          </a:prstGeom>
          <a:noFill/>
          <a:ln/>
        </p:spPr>
        <p:txBody>
          <a:bodyPr wrap="square" lIns="0" tIns="0" rIns="0" bIns="0" rtlCol="0" anchor="b"/>
          <a:lstStyle/>
          <a:p>
            <a:pPr indent="0" marL="0">
              <a:buNone/>
            </a:pPr>
            <a:r>
              <a:rPr lang="en-US" sz="2600" b="1" dirty="0">
                <a:solidFill>
                  <a:srgbClr val="1F2A44"/>
                </a:solidFill>
                <a:latin typeface="Cambria" pitchFamily="34" charset="0"/>
                <a:ea typeface="Cambria" pitchFamily="34" charset="-122"/>
                <a:cs typeface="Cambria" pitchFamily="34" charset="-120"/>
              </a:rPr>
              <a:t>$34.82</a:t>
            </a:r>
            <a:endParaRPr lang="en-US" sz="2600" dirty="0"/>
          </a:p>
        </p:txBody>
      </p:sp>
      <p:sp>
        <p:nvSpPr>
          <p:cNvPr id="23" name="Text 20"/>
          <p:cNvSpPr/>
          <p:nvPr/>
        </p:nvSpPr>
        <p:spPr>
          <a:xfrm>
            <a:off x="4389120" y="5031943"/>
            <a:ext cx="3246120" cy="49377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share price, cut from a $4.00 annual dividend habit it couldn't afford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THE TWO-YEAR SHARE PRICE JOURNEY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From Bottom of the Barrel to Top Shelf</a:t>
            </a:r>
            <a:endParaRPr lang="en-US" sz="3200" dirty="0"/>
          </a:p>
        </p:txBody>
      </p:sp>
      <p:graphicFrame>
        <p:nvGraphicFramePr>
          <p:cNvPr id="4" name="Chart 0" descr=""/>
          <p:cNvGraphicFramePr/>
          <p:nvPr/>
        </p:nvGraphicFramePr>
        <p:xfrm>
          <a:off x="548640" y="1417320"/>
          <a:ext cx="7863840" cy="4846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686800" y="1417320"/>
            <a:ext cx="2926080" cy="1371600"/>
          </a:xfrm>
          <a:prstGeom prst="roundRect">
            <a:avLst>
              <a:gd name="adj" fmla="val 5333"/>
            </a:avLst>
          </a:prstGeom>
          <a:solidFill>
            <a:srgbClr val="F5F0E4"/>
          </a:solidFill>
          <a:ln/>
        </p:spPr>
      </p:sp>
      <p:sp>
        <p:nvSpPr>
          <p:cNvPr id="6" name="Text 3"/>
          <p:cNvSpPr/>
          <p:nvPr/>
        </p:nvSpPr>
        <p:spPr>
          <a:xfrm>
            <a:off x="8823960" y="1527048"/>
            <a:ext cx="2651760" cy="713232"/>
          </a:xfrm>
          <a:prstGeom prst="rect">
            <a:avLst/>
          </a:prstGeom>
          <a:noFill/>
          <a:ln/>
        </p:spPr>
        <p:txBody>
          <a:bodyPr wrap="square" lIns="0" tIns="0" rIns="0" bIns="0" rtlCol="0" anchor="b"/>
          <a:lstStyle/>
          <a:p>
            <a:pPr indent="0" marL="0">
              <a:buNone/>
            </a:pPr>
            <a:r>
              <a:rPr lang="en-US" sz="2800" b="1" dirty="0">
                <a:solidFill>
                  <a:srgbClr val="B3402E"/>
                </a:solidFill>
                <a:latin typeface="Cambria" pitchFamily="34" charset="0"/>
                <a:ea typeface="Cambria" pitchFamily="34" charset="-122"/>
                <a:cs typeface="Cambria" pitchFamily="34" charset="-120"/>
              </a:rPr>
              <a:t>$22.97</a:t>
            </a:r>
            <a:endParaRPr lang="en-US" sz="2800" dirty="0"/>
          </a:p>
        </p:txBody>
      </p:sp>
      <p:sp>
        <p:nvSpPr>
          <p:cNvPr id="7" name="Text 4"/>
          <p:cNvSpPr/>
          <p:nvPr/>
        </p:nvSpPr>
        <p:spPr>
          <a:xfrm>
            <a:off x="8823960" y="2212848"/>
            <a:ext cx="2651760" cy="548640"/>
          </a:xfrm>
          <a:prstGeom prst="rect">
            <a:avLst/>
          </a:prstGeom>
          <a:noFill/>
          <a:ln/>
        </p:spPr>
        <p:txBody>
          <a:bodyPr wrap="square" lIns="0" tIns="0" rIns="0" bIns="0" rtlCol="0" anchor="t"/>
          <a:lstStyle/>
          <a:p>
            <a:pPr indent="0" marL="0">
              <a:buNone/>
            </a:pPr>
            <a:r>
              <a:rPr lang="en-US" sz="1050" dirty="0">
                <a:solidFill>
                  <a:srgbClr val="6E7480"/>
                </a:solidFill>
                <a:latin typeface="Calibri" pitchFamily="34" charset="0"/>
                <a:ea typeface="Calibri" pitchFamily="34" charset="-122"/>
                <a:cs typeface="Calibri" pitchFamily="34" charset="-120"/>
              </a:rPr>
              <a:t>the trough — Q2/29, after the rate shock and our dilution. We kept to the plan.</a:t>
            </a:r>
            <a:endParaRPr lang="en-US" sz="1050" dirty="0"/>
          </a:p>
        </p:txBody>
      </p:sp>
      <p:sp>
        <p:nvSpPr>
          <p:cNvPr id="8" name="Shape 5"/>
          <p:cNvSpPr/>
          <p:nvPr/>
        </p:nvSpPr>
        <p:spPr>
          <a:xfrm>
            <a:off x="8686800" y="2926080"/>
            <a:ext cx="2926080" cy="1371600"/>
          </a:xfrm>
          <a:prstGeom prst="roundRect">
            <a:avLst>
              <a:gd name="adj" fmla="val 5333"/>
            </a:avLst>
          </a:prstGeom>
          <a:solidFill>
            <a:srgbClr val="F5F0E4"/>
          </a:solidFill>
          <a:ln/>
        </p:spPr>
      </p:sp>
      <p:sp>
        <p:nvSpPr>
          <p:cNvPr id="9" name="Text 6"/>
          <p:cNvSpPr/>
          <p:nvPr/>
        </p:nvSpPr>
        <p:spPr>
          <a:xfrm>
            <a:off x="8823960" y="3035808"/>
            <a:ext cx="2651760" cy="713232"/>
          </a:xfrm>
          <a:prstGeom prst="rect">
            <a:avLst/>
          </a:prstGeom>
          <a:noFill/>
          <a:ln/>
        </p:spPr>
        <p:txBody>
          <a:bodyPr wrap="square" lIns="0" tIns="0" rIns="0" bIns="0" rtlCol="0" anchor="b"/>
          <a:lstStyle/>
          <a:p>
            <a:pPr indent="0" marL="0">
              <a:buNone/>
            </a:pPr>
            <a:r>
              <a:rPr lang="en-US" sz="2800" b="1" dirty="0">
                <a:solidFill>
                  <a:srgbClr val="2E7D32"/>
                </a:solidFill>
                <a:latin typeface="Cambria" pitchFamily="34" charset="0"/>
                <a:ea typeface="Cambria" pitchFamily="34" charset="-122"/>
                <a:cs typeface="Cambria" pitchFamily="34" charset="-120"/>
              </a:rPr>
              <a:t>$47.41</a:t>
            </a:r>
            <a:endParaRPr lang="en-US" sz="2800" dirty="0"/>
          </a:p>
        </p:txBody>
      </p:sp>
      <p:sp>
        <p:nvSpPr>
          <p:cNvPr id="10" name="Text 7"/>
          <p:cNvSpPr/>
          <p:nvPr/>
        </p:nvSpPr>
        <p:spPr>
          <a:xfrm>
            <a:off x="8823960" y="3721608"/>
            <a:ext cx="2651760" cy="548640"/>
          </a:xfrm>
          <a:prstGeom prst="rect">
            <a:avLst/>
          </a:prstGeom>
          <a:noFill/>
          <a:ln/>
        </p:spPr>
        <p:txBody>
          <a:bodyPr wrap="square" lIns="0" tIns="0" rIns="0" bIns="0" rtlCol="0" anchor="t"/>
          <a:lstStyle/>
          <a:p>
            <a:pPr indent="0" marL="0">
              <a:buNone/>
            </a:pPr>
            <a:r>
              <a:rPr lang="en-US" sz="1050" dirty="0">
                <a:solidFill>
                  <a:srgbClr val="6E7480"/>
                </a:solidFill>
                <a:latin typeface="Calibri" pitchFamily="34" charset="0"/>
                <a:ea typeface="Calibri" pitchFamily="34" charset="-122"/>
                <a:cs typeface="Calibri" pitchFamily="34" charset="-120"/>
              </a:rPr>
              <a:t>the peak — Q3/30, record quarter, 1.18× book</a:t>
            </a:r>
            <a:endParaRPr lang="en-US" sz="1050" dirty="0"/>
          </a:p>
        </p:txBody>
      </p:sp>
      <p:sp>
        <p:nvSpPr>
          <p:cNvPr id="11" name="Shape 8"/>
          <p:cNvSpPr/>
          <p:nvPr/>
        </p:nvSpPr>
        <p:spPr>
          <a:xfrm>
            <a:off x="8686800" y="4434840"/>
            <a:ext cx="2926080" cy="1371600"/>
          </a:xfrm>
          <a:prstGeom prst="roundRect">
            <a:avLst>
              <a:gd name="adj" fmla="val 5333"/>
            </a:avLst>
          </a:prstGeom>
          <a:solidFill>
            <a:srgbClr val="F5F0E4"/>
          </a:solidFill>
          <a:ln/>
        </p:spPr>
      </p:sp>
      <p:sp>
        <p:nvSpPr>
          <p:cNvPr id="12" name="Text 9"/>
          <p:cNvSpPr/>
          <p:nvPr/>
        </p:nvSpPr>
        <p:spPr>
          <a:xfrm>
            <a:off x="8823960" y="4544568"/>
            <a:ext cx="2651760" cy="713232"/>
          </a:xfrm>
          <a:prstGeom prst="rect">
            <a:avLst/>
          </a:prstGeom>
          <a:noFill/>
          <a:ln/>
        </p:spPr>
        <p:txBody>
          <a:bodyPr wrap="square" lIns="0" tIns="0" rIns="0" bIns="0" rtlCol="0" anchor="b"/>
          <a:lstStyle/>
          <a:p>
            <a:pPr indent="0" marL="0">
              <a:buNone/>
            </a:pPr>
            <a:r>
              <a:rPr lang="en-US" sz="2800" b="1" dirty="0">
                <a:solidFill>
                  <a:srgbClr val="1F2A44"/>
                </a:solidFill>
                <a:latin typeface="Cambria" pitchFamily="34" charset="0"/>
                <a:ea typeface="Cambria" pitchFamily="34" charset="-122"/>
                <a:cs typeface="Cambria" pitchFamily="34" charset="-120"/>
              </a:rPr>
              <a:t>#2 of 5</a:t>
            </a:r>
            <a:endParaRPr lang="en-US" sz="2800" dirty="0"/>
          </a:p>
        </p:txBody>
      </p:sp>
      <p:sp>
        <p:nvSpPr>
          <p:cNvPr id="13" name="Text 10"/>
          <p:cNvSpPr/>
          <p:nvPr/>
        </p:nvSpPr>
        <p:spPr>
          <a:xfrm>
            <a:off x="8823960" y="5230368"/>
            <a:ext cx="2651760" cy="548640"/>
          </a:xfrm>
          <a:prstGeom prst="rect">
            <a:avLst/>
          </a:prstGeom>
          <a:noFill/>
          <a:ln/>
        </p:spPr>
        <p:txBody>
          <a:bodyPr wrap="square" lIns="0" tIns="0" rIns="0" bIns="0" rtlCol="0" anchor="t"/>
          <a:lstStyle/>
          <a:p>
            <a:pPr indent="0" marL="0">
              <a:buNone/>
            </a:pPr>
            <a:r>
              <a:rPr lang="en-US" sz="1050" dirty="0">
                <a:solidFill>
                  <a:srgbClr val="6E7480"/>
                </a:solidFill>
                <a:latin typeface="Calibri" pitchFamily="34" charset="0"/>
                <a:ea typeface="Calibri" pitchFamily="34" charset="-122"/>
                <a:cs typeface="Calibri" pitchFamily="34" charset="-120"/>
              </a:rPr>
              <a:t>final finish at $41.36 — from a dead-last trajectory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SECTION 2 · STRATEGY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The Recipe — Three Phases, Eight Quarters</a:t>
            </a:r>
            <a:endParaRPr lang="en-US" sz="3200" dirty="0"/>
          </a:p>
        </p:txBody>
      </p:sp>
      <p:sp>
        <p:nvSpPr>
          <p:cNvPr id="4" name="Shape 2"/>
          <p:cNvSpPr/>
          <p:nvPr/>
        </p:nvSpPr>
        <p:spPr>
          <a:xfrm>
            <a:off x="548640" y="1463040"/>
            <a:ext cx="3657600" cy="4892040"/>
          </a:xfrm>
          <a:prstGeom prst="roundRect">
            <a:avLst>
              <a:gd name="adj" fmla="val 2250"/>
            </a:avLst>
          </a:prstGeom>
          <a:solidFill>
            <a:srgbClr val="F5F0E4"/>
          </a:solidFill>
          <a:ln/>
        </p:spPr>
      </p:sp>
      <p:sp>
        <p:nvSpPr>
          <p:cNvPr id="5" name="Text 3"/>
          <p:cNvSpPr/>
          <p:nvPr/>
        </p:nvSpPr>
        <p:spPr>
          <a:xfrm>
            <a:off x="777240" y="1691640"/>
            <a:ext cx="3200400" cy="365760"/>
          </a:xfrm>
          <a:prstGeom prst="rect">
            <a:avLst/>
          </a:prstGeom>
          <a:noFill/>
          <a:ln/>
        </p:spPr>
        <p:txBody>
          <a:bodyPr wrap="square" lIns="0" tIns="0" rIns="0" bIns="0" rtlCol="0" anchor="ctr"/>
          <a:lstStyle/>
          <a:p>
            <a:pPr indent="0" marL="0">
              <a:buNone/>
            </a:pPr>
            <a:r>
              <a:rPr lang="en-US" sz="1400" b="1" spc="150" kern="0" dirty="0">
                <a:solidFill>
                  <a:srgbClr val="B9791F"/>
                </a:solidFill>
                <a:latin typeface="Calibri" pitchFamily="34" charset="0"/>
                <a:ea typeface="Calibri" pitchFamily="34" charset="-122"/>
                <a:cs typeface="Calibri" pitchFamily="34" charset="-120"/>
              </a:rPr>
              <a:t>1 · THE MASH</a:t>
            </a:r>
            <a:endParaRPr lang="en-US" sz="1400" dirty="0"/>
          </a:p>
        </p:txBody>
      </p:sp>
      <p:sp>
        <p:nvSpPr>
          <p:cNvPr id="6" name="Text 4"/>
          <p:cNvSpPr/>
          <p:nvPr/>
        </p:nvSpPr>
        <p:spPr>
          <a:xfrm>
            <a:off x="777240" y="2057400"/>
            <a:ext cx="3200400" cy="36576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H1 2029 — Stabilize</a:t>
            </a:r>
            <a:endParaRPr lang="en-US" sz="1600" dirty="0"/>
          </a:p>
        </p:txBody>
      </p:sp>
      <p:sp>
        <p:nvSpPr>
          <p:cNvPr id="7" name="Text 5"/>
          <p:cNvSpPr/>
          <p:nvPr/>
        </p:nvSpPr>
        <p:spPr>
          <a:xfrm>
            <a:off x="777240" y="2514600"/>
            <a:ext cx="3246120" cy="3657600"/>
          </a:xfrm>
          <a:prstGeom prst="rect">
            <a:avLst/>
          </a:prstGeom>
          <a:noFill/>
          <a:ln/>
        </p:spPr>
        <p:txBody>
          <a:bodyPr wrap="square" lIns="0" tIns="0" rIns="0" bIns="0" rtlCol="0" anchor="t"/>
          <a:lstStyle/>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Rebuilt funding: emergency fed funds (187% of equity) converted to core deposits — paid up to win the money</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Raised $12M common early, at $23.92 — before prices fell further</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Restarted mortgage banking; sold $13.6M of low-yield loans at a gain</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Cut the dividend to $0 — painful, mandatory, honest</a:t>
            </a:r>
            <a:endParaRPr lang="en-US" sz="1150" dirty="0"/>
          </a:p>
        </p:txBody>
      </p:sp>
      <p:sp>
        <p:nvSpPr>
          <p:cNvPr id="8" name="Shape 6"/>
          <p:cNvSpPr/>
          <p:nvPr/>
        </p:nvSpPr>
        <p:spPr>
          <a:xfrm>
            <a:off x="4407408" y="1463040"/>
            <a:ext cx="3657600" cy="4892040"/>
          </a:xfrm>
          <a:prstGeom prst="roundRect">
            <a:avLst>
              <a:gd name="adj" fmla="val 2250"/>
            </a:avLst>
          </a:prstGeom>
          <a:solidFill>
            <a:srgbClr val="F5F0E4"/>
          </a:solidFill>
          <a:ln/>
        </p:spPr>
      </p:sp>
      <p:sp>
        <p:nvSpPr>
          <p:cNvPr id="9" name="Text 7"/>
          <p:cNvSpPr/>
          <p:nvPr/>
        </p:nvSpPr>
        <p:spPr>
          <a:xfrm>
            <a:off x="4636008" y="1691640"/>
            <a:ext cx="3200400" cy="365760"/>
          </a:xfrm>
          <a:prstGeom prst="rect">
            <a:avLst/>
          </a:prstGeom>
          <a:noFill/>
          <a:ln/>
        </p:spPr>
        <p:txBody>
          <a:bodyPr wrap="square" lIns="0" tIns="0" rIns="0" bIns="0" rtlCol="0" anchor="ctr"/>
          <a:lstStyle/>
          <a:p>
            <a:pPr indent="0" marL="0">
              <a:buNone/>
            </a:pPr>
            <a:r>
              <a:rPr lang="en-US" sz="1400" b="1" spc="150" kern="0" dirty="0">
                <a:solidFill>
                  <a:srgbClr val="B9791F"/>
                </a:solidFill>
                <a:latin typeface="Calibri" pitchFamily="34" charset="0"/>
                <a:ea typeface="Calibri" pitchFamily="34" charset="-122"/>
                <a:cs typeface="Calibri" pitchFamily="34" charset="-120"/>
              </a:rPr>
              <a:t>2 · THE BARREL</a:t>
            </a:r>
            <a:endParaRPr lang="en-US" sz="1400" dirty="0"/>
          </a:p>
        </p:txBody>
      </p:sp>
      <p:sp>
        <p:nvSpPr>
          <p:cNvPr id="10" name="Text 8"/>
          <p:cNvSpPr/>
          <p:nvPr/>
        </p:nvSpPr>
        <p:spPr>
          <a:xfrm>
            <a:off x="4636008" y="2057400"/>
            <a:ext cx="3200400" cy="36576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H2 2029 — Reprice &amp; Reserve</a:t>
            </a:r>
            <a:endParaRPr lang="en-US" sz="1600" dirty="0"/>
          </a:p>
        </p:txBody>
      </p:sp>
      <p:sp>
        <p:nvSpPr>
          <p:cNvPr id="11" name="Text 9"/>
          <p:cNvSpPr/>
          <p:nvPr/>
        </p:nvSpPr>
        <p:spPr>
          <a:xfrm>
            <a:off x="4636008" y="2514600"/>
            <a:ext cx="3246120" cy="3657600"/>
          </a:xfrm>
          <a:prstGeom prst="rect">
            <a:avLst/>
          </a:prstGeom>
          <a:noFill/>
          <a:ln/>
        </p:spPr>
        <p:txBody>
          <a:bodyPr wrap="square" lIns="0" tIns="0" rIns="0" bIns="0" rtlCol="0" anchor="t"/>
          <a:lstStyle/>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Repriced the entire loan book +100 to +300bp to top-of-market</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Froze money-losing products: credit card, installment, personal</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Pre-funded credit: provisions held at ~$2M/qtr; ACL to 1.2%+</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$5M subordinated notes + $6M stock — 10% capital rule met on deadline</a:t>
            </a:r>
            <a:endParaRPr lang="en-US" sz="1150" dirty="0"/>
          </a:p>
        </p:txBody>
      </p:sp>
      <p:sp>
        <p:nvSpPr>
          <p:cNvPr id="12" name="Shape 10"/>
          <p:cNvSpPr/>
          <p:nvPr/>
        </p:nvSpPr>
        <p:spPr>
          <a:xfrm>
            <a:off x="8266176" y="1463040"/>
            <a:ext cx="3657600" cy="4892040"/>
          </a:xfrm>
          <a:prstGeom prst="roundRect">
            <a:avLst>
              <a:gd name="adj" fmla="val 2250"/>
            </a:avLst>
          </a:prstGeom>
          <a:solidFill>
            <a:srgbClr val="F5F0E4"/>
          </a:solidFill>
          <a:ln/>
        </p:spPr>
      </p:sp>
      <p:sp>
        <p:nvSpPr>
          <p:cNvPr id="13" name="Text 11"/>
          <p:cNvSpPr/>
          <p:nvPr/>
        </p:nvSpPr>
        <p:spPr>
          <a:xfrm>
            <a:off x="8494776" y="1691640"/>
            <a:ext cx="3200400" cy="365760"/>
          </a:xfrm>
          <a:prstGeom prst="rect">
            <a:avLst/>
          </a:prstGeom>
          <a:noFill/>
          <a:ln/>
        </p:spPr>
        <p:txBody>
          <a:bodyPr wrap="square" lIns="0" tIns="0" rIns="0" bIns="0" rtlCol="0" anchor="ctr"/>
          <a:lstStyle/>
          <a:p>
            <a:pPr indent="0" marL="0">
              <a:buNone/>
            </a:pPr>
            <a:r>
              <a:rPr lang="en-US" sz="1400" b="1" spc="150" kern="0" dirty="0">
                <a:solidFill>
                  <a:srgbClr val="B9791F"/>
                </a:solidFill>
                <a:latin typeface="Calibri" pitchFamily="34" charset="0"/>
                <a:ea typeface="Calibri" pitchFamily="34" charset="-122"/>
                <a:cs typeface="Calibri" pitchFamily="34" charset="-120"/>
              </a:rPr>
              <a:t>3 · THE POUR</a:t>
            </a:r>
            <a:endParaRPr lang="en-US" sz="1400" dirty="0"/>
          </a:p>
        </p:txBody>
      </p:sp>
      <p:sp>
        <p:nvSpPr>
          <p:cNvPr id="14" name="Text 12"/>
          <p:cNvSpPr/>
          <p:nvPr/>
        </p:nvSpPr>
        <p:spPr>
          <a:xfrm>
            <a:off x="8494776" y="2057400"/>
            <a:ext cx="3200400" cy="365760"/>
          </a:xfrm>
          <a:prstGeom prst="rect">
            <a:avLst/>
          </a:prstGeom>
          <a:noFill/>
          <a:ln/>
        </p:spPr>
        <p:txBody>
          <a:bodyPr wrap="square" lIns="0" tIns="0" rIns="0" bIns="0" rtlCol="0" anchor="ctr"/>
          <a:lstStyle/>
          <a:p>
            <a:pPr indent="0" marL="0">
              <a:buNone/>
            </a:pPr>
            <a:r>
              <a:rPr lang="en-US" sz="1600" b="1" dirty="0">
                <a:solidFill>
                  <a:srgbClr val="1F2A44"/>
                </a:solidFill>
                <a:latin typeface="Cambria" pitchFamily="34" charset="0"/>
                <a:ea typeface="Cambria" pitchFamily="34" charset="-122"/>
                <a:cs typeface="Cambria" pitchFamily="34" charset="-120"/>
              </a:rPr>
              <a:t>FY 2030 — Harvest</a:t>
            </a:r>
            <a:endParaRPr lang="en-US" sz="1600" dirty="0"/>
          </a:p>
        </p:txBody>
      </p:sp>
      <p:sp>
        <p:nvSpPr>
          <p:cNvPr id="15" name="Text 13"/>
          <p:cNvSpPr/>
          <p:nvPr/>
        </p:nvSpPr>
        <p:spPr>
          <a:xfrm>
            <a:off x="8494776" y="2514600"/>
            <a:ext cx="3246120" cy="3657600"/>
          </a:xfrm>
          <a:prstGeom prst="rect">
            <a:avLst/>
          </a:prstGeom>
          <a:noFill/>
          <a:ln/>
        </p:spPr>
        <p:txBody>
          <a:bodyPr wrap="square" lIns="0" tIns="0" rIns="0" bIns="0" rtlCol="0" anchor="t"/>
          <a:lstStyle/>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Variable-rate funding rode the rate collapse straight into margin</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Interest-rate swaps added +$2.1M of income across 2030</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Dividend restarted at $0.25, doubled to $0.50 by year-end</a:t>
            </a:r>
            <a:endParaRPr lang="en-US" sz="1150" dirty="0"/>
          </a:p>
          <a:p>
            <a:pPr marL="127000" indent="-127000">
              <a:spcAft>
                <a:spcPts val="800"/>
              </a:spcAft>
              <a:buSzPct val="100000"/>
              <a:buChar char="•"/>
            </a:pPr>
            <a:r>
              <a:rPr lang="en-US" sz="1150" dirty="0">
                <a:solidFill>
                  <a:srgbClr val="232733"/>
                </a:solidFill>
                <a:latin typeface="Calibri" pitchFamily="34" charset="0"/>
                <a:ea typeface="Calibri" pitchFamily="34" charset="-122"/>
                <a:cs typeface="Calibri" pitchFamily="34" charset="-120"/>
              </a:rPr>
              <a:t>De-risked construction from 198% of capital toward guidance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DECISIONS → RESULTS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Strategy You Can See in the Numbers</a:t>
            </a:r>
            <a:endParaRPr lang="en-US" sz="3200" dirty="0"/>
          </a:p>
        </p:txBody>
      </p:sp>
      <p:sp>
        <p:nvSpPr>
          <p:cNvPr id="4" name="Shape 2"/>
          <p:cNvSpPr/>
          <p:nvPr/>
        </p:nvSpPr>
        <p:spPr>
          <a:xfrm>
            <a:off x="566928" y="1572768"/>
            <a:ext cx="310896" cy="310896"/>
          </a:xfrm>
          <a:prstGeom prst="ellipse">
            <a:avLst/>
          </a:prstGeom>
          <a:solidFill>
            <a:srgbClr val="E3A94E"/>
          </a:solidFill>
          <a:ln/>
        </p:spPr>
      </p:sp>
      <p:sp>
        <p:nvSpPr>
          <p:cNvPr id="5" name="Text 3"/>
          <p:cNvSpPr/>
          <p:nvPr/>
        </p:nvSpPr>
        <p:spPr>
          <a:xfrm>
            <a:off x="1024128" y="1463040"/>
            <a:ext cx="2514600" cy="914400"/>
          </a:xfrm>
          <a:prstGeom prst="rect">
            <a:avLst/>
          </a:prstGeom>
          <a:noFill/>
          <a:ln/>
        </p:spPr>
        <p:txBody>
          <a:bodyPr wrap="square" lIns="0" tIns="0" rIns="0" bIns="0" rtlCol="0" anchor="t"/>
          <a:lstStyle/>
          <a:p>
            <a:pPr indent="0" marL="0">
              <a:buNone/>
            </a:pPr>
            <a:r>
              <a:rPr lang="en-US" sz="1350" b="1" dirty="0">
                <a:solidFill>
                  <a:srgbClr val="1F2A44"/>
                </a:solidFill>
                <a:latin typeface="Calibri" pitchFamily="34" charset="0"/>
                <a:ea typeface="Calibri" pitchFamily="34" charset="-122"/>
                <a:cs typeface="Calibri" pitchFamily="34" charset="-120"/>
              </a:rPr>
              <a:t>Reprice for risk</a:t>
            </a:r>
            <a:endParaRPr lang="en-US" sz="1350" dirty="0"/>
          </a:p>
        </p:txBody>
      </p:sp>
      <p:sp>
        <p:nvSpPr>
          <p:cNvPr id="6" name="Text 4"/>
          <p:cNvSpPr/>
          <p:nvPr/>
        </p:nvSpPr>
        <p:spPr>
          <a:xfrm>
            <a:off x="3611880" y="1463040"/>
            <a:ext cx="3977640" cy="914400"/>
          </a:xfrm>
          <a:prstGeom prst="rect">
            <a:avLst/>
          </a:prstGeom>
          <a:noFill/>
          <a:ln/>
        </p:spPr>
        <p:txBody>
          <a:bodyPr wrap="square" lIns="0" tIns="0" rIns="0" bIns="0" rtlCol="0" anchor="t"/>
          <a:lstStyle/>
          <a:p>
            <a:pPr indent="0" marL="0">
              <a:buNone/>
            </a:pPr>
            <a:r>
              <a:rPr lang="en-US" sz="1100" dirty="0">
                <a:solidFill>
                  <a:srgbClr val="232733"/>
                </a:solidFill>
                <a:latin typeface="Calibri" pitchFamily="34" charset="0"/>
                <a:ea typeface="Calibri" pitchFamily="34" charset="-122"/>
                <a:cs typeface="Calibri" pitchFamily="34" charset="-120"/>
              </a:rPr>
              <a:t>Construction base rate 6.62% → 8.35% at the peak; every product priced above cost of funds by 2030</a:t>
            </a:r>
            <a:endParaRPr lang="en-US" sz="1100" dirty="0"/>
          </a:p>
        </p:txBody>
      </p:sp>
      <p:sp>
        <p:nvSpPr>
          <p:cNvPr id="7" name="Text 5"/>
          <p:cNvSpPr/>
          <p:nvPr/>
        </p:nvSpPr>
        <p:spPr>
          <a:xfrm>
            <a:off x="7726680" y="1463040"/>
            <a:ext cx="3886200" cy="914400"/>
          </a:xfrm>
          <a:prstGeom prst="rect">
            <a:avLst/>
          </a:prstGeom>
          <a:noFill/>
          <a:ln/>
        </p:spPr>
        <p:txBody>
          <a:bodyPr wrap="square" lIns="0" tIns="0" rIns="0" bIns="0" rtlCol="0" anchor="t"/>
          <a:lstStyle/>
          <a:p>
            <a:pPr indent="0" marL="0">
              <a:buNone/>
            </a:pPr>
            <a:r>
              <a:rPr lang="en-US" sz="1100" b="1" dirty="0">
                <a:solidFill>
                  <a:srgbClr val="3E5C41"/>
                </a:solidFill>
                <a:latin typeface="Calibri" pitchFamily="34" charset="0"/>
                <a:ea typeface="Calibri" pitchFamily="34" charset="-122"/>
                <a:cs typeface="Calibri" pitchFamily="34" charset="-120"/>
              </a:rPr>
              <a:t>Loan yield 6.3% → 8.0% at peak; #1 operating earnings in the field by Q3/30</a:t>
            </a:r>
            <a:endParaRPr lang="en-US" sz="1100" dirty="0"/>
          </a:p>
        </p:txBody>
      </p:sp>
      <p:sp>
        <p:nvSpPr>
          <p:cNvPr id="8" name="Shape 6"/>
          <p:cNvSpPr/>
          <p:nvPr/>
        </p:nvSpPr>
        <p:spPr>
          <a:xfrm>
            <a:off x="566928" y="2560320"/>
            <a:ext cx="310896" cy="310896"/>
          </a:xfrm>
          <a:prstGeom prst="ellipse">
            <a:avLst/>
          </a:prstGeom>
          <a:solidFill>
            <a:srgbClr val="E3A94E"/>
          </a:solidFill>
          <a:ln/>
        </p:spPr>
      </p:sp>
      <p:sp>
        <p:nvSpPr>
          <p:cNvPr id="9" name="Text 7"/>
          <p:cNvSpPr/>
          <p:nvPr/>
        </p:nvSpPr>
        <p:spPr>
          <a:xfrm>
            <a:off x="1024128" y="2450592"/>
            <a:ext cx="2514600" cy="914400"/>
          </a:xfrm>
          <a:prstGeom prst="rect">
            <a:avLst/>
          </a:prstGeom>
          <a:noFill/>
          <a:ln/>
        </p:spPr>
        <p:txBody>
          <a:bodyPr wrap="square" lIns="0" tIns="0" rIns="0" bIns="0" rtlCol="0" anchor="t"/>
          <a:lstStyle/>
          <a:p>
            <a:pPr indent="0" marL="0">
              <a:buNone/>
            </a:pPr>
            <a:r>
              <a:rPr lang="en-US" sz="1350" b="1" dirty="0">
                <a:solidFill>
                  <a:srgbClr val="1F2A44"/>
                </a:solidFill>
                <a:latin typeface="Calibri" pitchFamily="34" charset="0"/>
                <a:ea typeface="Calibri" pitchFamily="34" charset="-122"/>
                <a:cs typeface="Calibri" pitchFamily="34" charset="-120"/>
              </a:rPr>
              <a:t>Win core funding</a:t>
            </a:r>
            <a:endParaRPr lang="en-US" sz="1350" dirty="0"/>
          </a:p>
        </p:txBody>
      </p:sp>
      <p:sp>
        <p:nvSpPr>
          <p:cNvPr id="10" name="Text 8"/>
          <p:cNvSpPr/>
          <p:nvPr/>
        </p:nvSpPr>
        <p:spPr>
          <a:xfrm>
            <a:off x="3611880" y="2450592"/>
            <a:ext cx="3977640" cy="914400"/>
          </a:xfrm>
          <a:prstGeom prst="rect">
            <a:avLst/>
          </a:prstGeom>
          <a:noFill/>
          <a:ln/>
        </p:spPr>
        <p:txBody>
          <a:bodyPr wrap="square" lIns="0" tIns="0" rIns="0" bIns="0" rtlCol="0" anchor="t"/>
          <a:lstStyle/>
          <a:p>
            <a:pPr indent="0" marL="0">
              <a:buNone/>
            </a:pPr>
            <a:r>
              <a:rPr lang="en-US" sz="1100" dirty="0">
                <a:solidFill>
                  <a:srgbClr val="232733"/>
                </a:solidFill>
                <a:latin typeface="Calibri" pitchFamily="34" charset="0"/>
                <a:ea typeface="Calibri" pitchFamily="34" charset="-122"/>
                <a:cs typeface="Calibri" pitchFamily="34" charset="-120"/>
              </a:rPr>
              <a:t>Top-of-market deposit rates + fee cuts + service investment</a:t>
            </a:r>
            <a:endParaRPr lang="en-US" sz="1100" dirty="0"/>
          </a:p>
        </p:txBody>
      </p:sp>
      <p:sp>
        <p:nvSpPr>
          <p:cNvPr id="11" name="Text 9"/>
          <p:cNvSpPr/>
          <p:nvPr/>
        </p:nvSpPr>
        <p:spPr>
          <a:xfrm>
            <a:off x="7726680" y="2450592"/>
            <a:ext cx="3886200" cy="914400"/>
          </a:xfrm>
          <a:prstGeom prst="rect">
            <a:avLst/>
          </a:prstGeom>
          <a:noFill/>
          <a:ln/>
        </p:spPr>
        <p:txBody>
          <a:bodyPr wrap="square" lIns="0" tIns="0" rIns="0" bIns="0" rtlCol="0" anchor="t"/>
          <a:lstStyle/>
          <a:p>
            <a:pPr indent="0" marL="0">
              <a:buNone/>
            </a:pPr>
            <a:r>
              <a:rPr lang="en-US" sz="1100" b="1" dirty="0">
                <a:solidFill>
                  <a:srgbClr val="3E5C41"/>
                </a:solidFill>
                <a:latin typeface="Calibri" pitchFamily="34" charset="0"/>
                <a:ea typeface="Calibri" pitchFamily="34" charset="-122"/>
                <a:cs typeface="Calibri" pitchFamily="34" charset="-120"/>
              </a:rPr>
              <a:t>Business deposit share 27% → 36% peak; core funding 94.6% → ~99% of deposits; zero brokered money</a:t>
            </a:r>
            <a:endParaRPr lang="en-US" sz="1100" dirty="0"/>
          </a:p>
        </p:txBody>
      </p:sp>
      <p:sp>
        <p:nvSpPr>
          <p:cNvPr id="12" name="Shape 10"/>
          <p:cNvSpPr/>
          <p:nvPr/>
        </p:nvSpPr>
        <p:spPr>
          <a:xfrm>
            <a:off x="566928" y="3547872"/>
            <a:ext cx="310896" cy="310896"/>
          </a:xfrm>
          <a:prstGeom prst="ellipse">
            <a:avLst/>
          </a:prstGeom>
          <a:solidFill>
            <a:srgbClr val="E3A94E"/>
          </a:solidFill>
          <a:ln/>
        </p:spPr>
      </p:sp>
      <p:sp>
        <p:nvSpPr>
          <p:cNvPr id="13" name="Text 11"/>
          <p:cNvSpPr/>
          <p:nvPr/>
        </p:nvSpPr>
        <p:spPr>
          <a:xfrm>
            <a:off x="1024128" y="3438144"/>
            <a:ext cx="2514600" cy="914400"/>
          </a:xfrm>
          <a:prstGeom prst="rect">
            <a:avLst/>
          </a:prstGeom>
          <a:noFill/>
          <a:ln/>
        </p:spPr>
        <p:txBody>
          <a:bodyPr wrap="square" lIns="0" tIns="0" rIns="0" bIns="0" rtlCol="0" anchor="t"/>
          <a:lstStyle/>
          <a:p>
            <a:pPr indent="0" marL="0">
              <a:buNone/>
            </a:pPr>
            <a:r>
              <a:rPr lang="en-US" sz="1350" b="1" dirty="0">
                <a:solidFill>
                  <a:srgbClr val="1F2A44"/>
                </a:solidFill>
                <a:latin typeface="Calibri" pitchFamily="34" charset="0"/>
                <a:ea typeface="Calibri" pitchFamily="34" charset="-122"/>
                <a:cs typeface="Calibri" pitchFamily="34" charset="-120"/>
              </a:rPr>
              <a:t>Exit what loses</a:t>
            </a:r>
            <a:endParaRPr lang="en-US" sz="1350" dirty="0"/>
          </a:p>
        </p:txBody>
      </p:sp>
      <p:sp>
        <p:nvSpPr>
          <p:cNvPr id="14" name="Text 12"/>
          <p:cNvSpPr/>
          <p:nvPr/>
        </p:nvSpPr>
        <p:spPr>
          <a:xfrm>
            <a:off x="3611880" y="3438144"/>
            <a:ext cx="3977640" cy="914400"/>
          </a:xfrm>
          <a:prstGeom prst="rect">
            <a:avLst/>
          </a:prstGeom>
          <a:noFill/>
          <a:ln/>
        </p:spPr>
        <p:txBody>
          <a:bodyPr wrap="square" lIns="0" tIns="0" rIns="0" bIns="0" rtlCol="0" anchor="t"/>
          <a:lstStyle/>
          <a:p>
            <a:pPr indent="0" marL="0">
              <a:buNone/>
            </a:pPr>
            <a:r>
              <a:rPr lang="en-US" sz="1100" dirty="0">
                <a:solidFill>
                  <a:srgbClr val="232733"/>
                </a:solidFill>
                <a:latin typeface="Calibri" pitchFamily="34" charset="0"/>
                <a:ea typeface="Calibri" pitchFamily="34" charset="-122"/>
                <a:cs typeface="Calibri" pitchFamily="34" charset="-120"/>
              </a:rPr>
              <a:t>Froze card / installment / personal when they netted below cost of funds</a:t>
            </a:r>
            <a:endParaRPr lang="en-US" sz="1100" dirty="0"/>
          </a:p>
        </p:txBody>
      </p:sp>
      <p:sp>
        <p:nvSpPr>
          <p:cNvPr id="15" name="Text 13"/>
          <p:cNvSpPr/>
          <p:nvPr/>
        </p:nvSpPr>
        <p:spPr>
          <a:xfrm>
            <a:off x="7726680" y="3438144"/>
            <a:ext cx="3886200" cy="914400"/>
          </a:xfrm>
          <a:prstGeom prst="rect">
            <a:avLst/>
          </a:prstGeom>
          <a:noFill/>
          <a:ln/>
        </p:spPr>
        <p:txBody>
          <a:bodyPr wrap="square" lIns="0" tIns="0" rIns="0" bIns="0" rtlCol="0" anchor="t"/>
          <a:lstStyle/>
          <a:p>
            <a:pPr indent="0" marL="0">
              <a:buNone/>
            </a:pPr>
            <a:r>
              <a:rPr lang="en-US" sz="1100" b="1" dirty="0">
                <a:solidFill>
                  <a:srgbClr val="3E5C41"/>
                </a:solidFill>
                <a:latin typeface="Calibri" pitchFamily="34" charset="0"/>
                <a:ea typeface="Calibri" pitchFamily="34" charset="-122"/>
                <a:cs typeface="Calibri" pitchFamily="34" charset="-120"/>
              </a:rPr>
              <a:t>Consumer book $78M → $35M; salaries redeployed; efficiency 91% → 60% at best</a:t>
            </a:r>
            <a:endParaRPr lang="en-US" sz="1100" dirty="0"/>
          </a:p>
        </p:txBody>
      </p:sp>
      <p:sp>
        <p:nvSpPr>
          <p:cNvPr id="16" name="Shape 14"/>
          <p:cNvSpPr/>
          <p:nvPr/>
        </p:nvSpPr>
        <p:spPr>
          <a:xfrm>
            <a:off x="566928" y="4535424"/>
            <a:ext cx="310896" cy="310896"/>
          </a:xfrm>
          <a:prstGeom prst="ellipse">
            <a:avLst/>
          </a:prstGeom>
          <a:solidFill>
            <a:srgbClr val="E3A94E"/>
          </a:solidFill>
          <a:ln/>
        </p:spPr>
      </p:sp>
      <p:sp>
        <p:nvSpPr>
          <p:cNvPr id="17" name="Text 15"/>
          <p:cNvSpPr/>
          <p:nvPr/>
        </p:nvSpPr>
        <p:spPr>
          <a:xfrm>
            <a:off x="1024128" y="4425696"/>
            <a:ext cx="2514600" cy="914400"/>
          </a:xfrm>
          <a:prstGeom prst="rect">
            <a:avLst/>
          </a:prstGeom>
          <a:noFill/>
          <a:ln/>
        </p:spPr>
        <p:txBody>
          <a:bodyPr wrap="square" lIns="0" tIns="0" rIns="0" bIns="0" rtlCol="0" anchor="t"/>
          <a:lstStyle/>
          <a:p>
            <a:pPr indent="0" marL="0">
              <a:buNone/>
            </a:pPr>
            <a:r>
              <a:rPr lang="en-US" sz="1350" b="1" dirty="0">
                <a:solidFill>
                  <a:srgbClr val="1F2A44"/>
                </a:solidFill>
                <a:latin typeface="Calibri" pitchFamily="34" charset="0"/>
                <a:ea typeface="Calibri" pitchFamily="34" charset="-122"/>
                <a:cs typeface="Calibri" pitchFamily="34" charset="-120"/>
              </a:rPr>
              <a:t>Capital early, cheapest</a:t>
            </a:r>
            <a:endParaRPr lang="en-US" sz="1350" dirty="0"/>
          </a:p>
        </p:txBody>
      </p:sp>
      <p:sp>
        <p:nvSpPr>
          <p:cNvPr id="18" name="Text 16"/>
          <p:cNvSpPr/>
          <p:nvPr/>
        </p:nvSpPr>
        <p:spPr>
          <a:xfrm>
            <a:off x="3611880" y="4425696"/>
            <a:ext cx="3977640" cy="914400"/>
          </a:xfrm>
          <a:prstGeom prst="rect">
            <a:avLst/>
          </a:prstGeom>
          <a:noFill/>
          <a:ln/>
        </p:spPr>
        <p:txBody>
          <a:bodyPr wrap="square" lIns="0" tIns="0" rIns="0" bIns="0" rtlCol="0" anchor="t"/>
          <a:lstStyle/>
          <a:p>
            <a:pPr indent="0" marL="0">
              <a:buNone/>
            </a:pPr>
            <a:r>
              <a:rPr lang="en-US" sz="1100" dirty="0">
                <a:solidFill>
                  <a:srgbClr val="232733"/>
                </a:solidFill>
                <a:latin typeface="Calibri" pitchFamily="34" charset="0"/>
                <a:ea typeface="Calibri" pitchFamily="34" charset="-122"/>
                <a:cs typeface="Calibri" pitchFamily="34" charset="-120"/>
              </a:rPr>
              <a:t>$12M at $23.92, $6M at $28.41, $5M sub notes at 6.90%</a:t>
            </a:r>
            <a:endParaRPr lang="en-US" sz="1100" dirty="0"/>
          </a:p>
        </p:txBody>
      </p:sp>
      <p:sp>
        <p:nvSpPr>
          <p:cNvPr id="19" name="Text 17"/>
          <p:cNvSpPr/>
          <p:nvPr/>
        </p:nvSpPr>
        <p:spPr>
          <a:xfrm>
            <a:off x="7726680" y="4425696"/>
            <a:ext cx="3886200" cy="914400"/>
          </a:xfrm>
          <a:prstGeom prst="rect">
            <a:avLst/>
          </a:prstGeom>
          <a:noFill/>
          <a:ln/>
        </p:spPr>
        <p:txBody>
          <a:bodyPr wrap="square" lIns="0" tIns="0" rIns="0" bIns="0" rtlCol="0" anchor="t"/>
          <a:lstStyle/>
          <a:p>
            <a:pPr indent="0" marL="0">
              <a:buNone/>
            </a:pPr>
            <a:r>
              <a:rPr lang="en-US" sz="1100" b="1" dirty="0">
                <a:solidFill>
                  <a:srgbClr val="3E5C41"/>
                </a:solidFill>
                <a:latin typeface="Calibri" pitchFamily="34" charset="0"/>
                <a:ea typeface="Calibri" pitchFamily="34" charset="-122"/>
                <a:cs typeface="Calibri" pitchFamily="34" charset="-120"/>
              </a:rPr>
              <a:t>10% requirement met on deadline; finished at 12.2% — top-tier</a:t>
            </a:r>
            <a:endParaRPr lang="en-US" sz="1100" dirty="0"/>
          </a:p>
        </p:txBody>
      </p:sp>
      <p:sp>
        <p:nvSpPr>
          <p:cNvPr id="20" name="Shape 18"/>
          <p:cNvSpPr/>
          <p:nvPr/>
        </p:nvSpPr>
        <p:spPr>
          <a:xfrm>
            <a:off x="566928" y="5522976"/>
            <a:ext cx="310896" cy="310896"/>
          </a:xfrm>
          <a:prstGeom prst="ellipse">
            <a:avLst/>
          </a:prstGeom>
          <a:solidFill>
            <a:srgbClr val="E3A94E"/>
          </a:solidFill>
          <a:ln/>
        </p:spPr>
      </p:sp>
      <p:sp>
        <p:nvSpPr>
          <p:cNvPr id="21" name="Text 19"/>
          <p:cNvSpPr/>
          <p:nvPr/>
        </p:nvSpPr>
        <p:spPr>
          <a:xfrm>
            <a:off x="1024128" y="5413248"/>
            <a:ext cx="2514600" cy="914400"/>
          </a:xfrm>
          <a:prstGeom prst="rect">
            <a:avLst/>
          </a:prstGeom>
          <a:noFill/>
          <a:ln/>
        </p:spPr>
        <p:txBody>
          <a:bodyPr wrap="square" lIns="0" tIns="0" rIns="0" bIns="0" rtlCol="0" anchor="t"/>
          <a:lstStyle/>
          <a:p>
            <a:pPr indent="0" marL="0">
              <a:buNone/>
            </a:pPr>
            <a:r>
              <a:rPr lang="en-US" sz="1350" b="1" dirty="0">
                <a:solidFill>
                  <a:srgbClr val="1F2A44"/>
                </a:solidFill>
                <a:latin typeface="Calibri" pitchFamily="34" charset="0"/>
                <a:ea typeface="Calibri" pitchFamily="34" charset="-122"/>
                <a:cs typeface="Calibri" pitchFamily="34" charset="-120"/>
              </a:rPr>
              <a:t>Position for the cycle</a:t>
            </a:r>
            <a:endParaRPr lang="en-US" sz="1350" dirty="0"/>
          </a:p>
        </p:txBody>
      </p:sp>
      <p:sp>
        <p:nvSpPr>
          <p:cNvPr id="22" name="Text 20"/>
          <p:cNvSpPr/>
          <p:nvPr/>
        </p:nvSpPr>
        <p:spPr>
          <a:xfrm>
            <a:off x="3611880" y="5413248"/>
            <a:ext cx="3977640" cy="914400"/>
          </a:xfrm>
          <a:prstGeom prst="rect">
            <a:avLst/>
          </a:prstGeom>
          <a:noFill/>
          <a:ln/>
        </p:spPr>
        <p:txBody>
          <a:bodyPr wrap="square" lIns="0" tIns="0" rIns="0" bIns="0" rtlCol="0" anchor="t"/>
          <a:lstStyle/>
          <a:p>
            <a:pPr indent="0" marL="0">
              <a:buNone/>
            </a:pPr>
            <a:r>
              <a:rPr lang="en-US" sz="1100" dirty="0">
                <a:solidFill>
                  <a:srgbClr val="232733"/>
                </a:solidFill>
                <a:latin typeface="Calibri" pitchFamily="34" charset="0"/>
                <a:ea typeface="Calibri" pitchFamily="34" charset="-122"/>
                <a:cs typeface="Calibri" pitchFamily="34" charset="-120"/>
              </a:rPr>
              <a:t>Variable CDs/MMA/FHLB + swaps; asset-sensitive book</a:t>
            </a:r>
            <a:endParaRPr lang="en-US" sz="1100" dirty="0"/>
          </a:p>
        </p:txBody>
      </p:sp>
      <p:sp>
        <p:nvSpPr>
          <p:cNvPr id="23" name="Text 21"/>
          <p:cNvSpPr/>
          <p:nvPr/>
        </p:nvSpPr>
        <p:spPr>
          <a:xfrm>
            <a:off x="7726680" y="5413248"/>
            <a:ext cx="3886200" cy="914400"/>
          </a:xfrm>
          <a:prstGeom prst="rect">
            <a:avLst/>
          </a:prstGeom>
          <a:noFill/>
          <a:ln/>
        </p:spPr>
        <p:txBody>
          <a:bodyPr wrap="square" lIns="0" tIns="0" rIns="0" bIns="0" rtlCol="0" anchor="t"/>
          <a:lstStyle/>
          <a:p>
            <a:pPr indent="0" marL="0">
              <a:buNone/>
            </a:pPr>
            <a:r>
              <a:rPr lang="en-US" sz="1100" b="1" dirty="0">
                <a:solidFill>
                  <a:srgbClr val="3E5C41"/>
                </a:solidFill>
                <a:latin typeface="Calibri" pitchFamily="34" charset="0"/>
                <a:ea typeface="Calibri" pitchFamily="34" charset="-122"/>
                <a:cs typeface="Calibri" pitchFamily="34" charset="-120"/>
              </a:rPr>
              <a:t>Rate collapse became +$1.5M/yr of margin instead of a crisis</a:t>
            </a:r>
            <a:endParaRPr lang="en-US" sz="1100" dirty="0"/>
          </a:p>
        </p:txBody>
      </p:sp>
      <p:sp>
        <p:nvSpPr>
          <p:cNvPr id="24" name="Text 22"/>
          <p:cNvSpPr/>
          <p:nvPr/>
        </p:nvSpPr>
        <p:spPr>
          <a:xfrm>
            <a:off x="3611880" y="1170432"/>
            <a:ext cx="2743200" cy="274320"/>
          </a:xfrm>
          <a:prstGeom prst="rect">
            <a:avLst/>
          </a:prstGeom>
          <a:noFill/>
          <a:ln/>
        </p:spPr>
        <p:txBody>
          <a:bodyPr wrap="square" lIns="0" tIns="0" rIns="0" bIns="0" rtlCol="0" anchor="ctr"/>
          <a:lstStyle/>
          <a:p>
            <a:pPr indent="0" marL="0">
              <a:buNone/>
            </a:pPr>
            <a:r>
              <a:rPr lang="en-US" sz="1000" b="1" spc="200" kern="0" dirty="0">
                <a:solidFill>
                  <a:srgbClr val="6E7480"/>
                </a:solidFill>
                <a:latin typeface="Calibri" pitchFamily="34" charset="0"/>
                <a:ea typeface="Calibri" pitchFamily="34" charset="-122"/>
                <a:cs typeface="Calibri" pitchFamily="34" charset="-120"/>
              </a:rPr>
              <a:t>WHAT WE DID</a:t>
            </a:r>
            <a:endParaRPr lang="en-US" sz="1000" dirty="0"/>
          </a:p>
        </p:txBody>
      </p:sp>
      <p:sp>
        <p:nvSpPr>
          <p:cNvPr id="25" name="Text 23"/>
          <p:cNvSpPr/>
          <p:nvPr/>
        </p:nvSpPr>
        <p:spPr>
          <a:xfrm>
            <a:off x="7726680" y="1170432"/>
            <a:ext cx="2743200" cy="274320"/>
          </a:xfrm>
          <a:prstGeom prst="rect">
            <a:avLst/>
          </a:prstGeom>
          <a:noFill/>
          <a:ln/>
        </p:spPr>
        <p:txBody>
          <a:bodyPr wrap="square" lIns="0" tIns="0" rIns="0" bIns="0" rtlCol="0" anchor="ctr"/>
          <a:lstStyle/>
          <a:p>
            <a:pPr indent="0" marL="0">
              <a:buNone/>
            </a:pPr>
            <a:r>
              <a:rPr lang="en-US" sz="1000" b="1" spc="200" kern="0" dirty="0">
                <a:solidFill>
                  <a:srgbClr val="6E7480"/>
                </a:solidFill>
                <a:latin typeface="Calibri" pitchFamily="34" charset="0"/>
                <a:ea typeface="Calibri" pitchFamily="34" charset="-122"/>
                <a:cs typeface="Calibri" pitchFamily="34" charset="-120"/>
              </a:rPr>
              <a:t>WHAT IT EARNED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SECTION 3 · OPERATING RESULTS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Proof — The Earnings Turn, Quarter by Quarter</a:t>
            </a:r>
            <a:endParaRPr lang="en-US" sz="3200" dirty="0"/>
          </a:p>
        </p:txBody>
      </p:sp>
      <p:graphicFrame>
        <p:nvGraphicFramePr>
          <p:cNvPr id="4" name="Chart 0" descr=""/>
          <p:cNvGraphicFramePr/>
          <p:nvPr/>
        </p:nvGraphicFramePr>
        <p:xfrm>
          <a:off x="548640" y="1463040"/>
          <a:ext cx="777240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95360" y="1463040"/>
            <a:ext cx="3017520" cy="1463040"/>
          </a:xfrm>
          <a:prstGeom prst="roundRect">
            <a:avLst>
              <a:gd name="adj" fmla="val 5000"/>
            </a:avLst>
          </a:prstGeom>
          <a:solidFill>
            <a:srgbClr val="F5F0E4"/>
          </a:solidFill>
          <a:ln/>
        </p:spPr>
      </p:sp>
      <p:sp>
        <p:nvSpPr>
          <p:cNvPr id="6" name="Text 3"/>
          <p:cNvSpPr/>
          <p:nvPr/>
        </p:nvSpPr>
        <p:spPr>
          <a:xfrm>
            <a:off x="8732520" y="1572768"/>
            <a:ext cx="2743200" cy="760781"/>
          </a:xfrm>
          <a:prstGeom prst="rect">
            <a:avLst/>
          </a:prstGeom>
          <a:noFill/>
          <a:ln/>
        </p:spPr>
        <p:txBody>
          <a:bodyPr wrap="square" lIns="0" tIns="0" rIns="0" bIns="0" rtlCol="0" anchor="b"/>
          <a:lstStyle/>
          <a:p>
            <a:pPr indent="0" marL="0">
              <a:buNone/>
            </a:pPr>
            <a:r>
              <a:rPr lang="en-US" sz="2800" b="1" dirty="0">
                <a:solidFill>
                  <a:srgbClr val="B3402E"/>
                </a:solidFill>
                <a:latin typeface="Cambria" pitchFamily="34" charset="0"/>
                <a:ea typeface="Cambria" pitchFamily="34" charset="-122"/>
                <a:cs typeface="Cambria" pitchFamily="34" charset="-120"/>
              </a:rPr>
              <a:t>−$2.5M</a:t>
            </a:r>
            <a:endParaRPr lang="en-US" sz="2800" dirty="0"/>
          </a:p>
        </p:txBody>
      </p:sp>
      <p:sp>
        <p:nvSpPr>
          <p:cNvPr id="7" name="Text 4"/>
          <p:cNvSpPr/>
          <p:nvPr/>
        </p:nvSpPr>
        <p:spPr>
          <a:xfrm>
            <a:off x="8732520" y="2311603"/>
            <a:ext cx="2743200" cy="58521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operating result, FY2029 — the price of the rebuild</a:t>
            </a:r>
            <a:endParaRPr lang="en-US" sz="1100" dirty="0"/>
          </a:p>
        </p:txBody>
      </p:sp>
      <p:sp>
        <p:nvSpPr>
          <p:cNvPr id="8" name="Shape 5"/>
          <p:cNvSpPr/>
          <p:nvPr/>
        </p:nvSpPr>
        <p:spPr>
          <a:xfrm>
            <a:off x="8595360" y="3090672"/>
            <a:ext cx="3017520" cy="1463040"/>
          </a:xfrm>
          <a:prstGeom prst="roundRect">
            <a:avLst>
              <a:gd name="adj" fmla="val 5000"/>
            </a:avLst>
          </a:prstGeom>
          <a:solidFill>
            <a:srgbClr val="F5F0E4"/>
          </a:solidFill>
          <a:ln/>
        </p:spPr>
      </p:sp>
      <p:sp>
        <p:nvSpPr>
          <p:cNvPr id="9" name="Text 6"/>
          <p:cNvSpPr/>
          <p:nvPr/>
        </p:nvSpPr>
        <p:spPr>
          <a:xfrm>
            <a:off x="8732520" y="3200400"/>
            <a:ext cx="2743200" cy="760781"/>
          </a:xfrm>
          <a:prstGeom prst="rect">
            <a:avLst/>
          </a:prstGeom>
          <a:noFill/>
          <a:ln/>
        </p:spPr>
        <p:txBody>
          <a:bodyPr wrap="square" lIns="0" tIns="0" rIns="0" bIns="0" rtlCol="0" anchor="b"/>
          <a:lstStyle/>
          <a:p>
            <a:pPr indent="0" marL="0">
              <a:buNone/>
            </a:pPr>
            <a:r>
              <a:rPr lang="en-US" sz="2800" b="1" dirty="0">
                <a:solidFill>
                  <a:srgbClr val="2E7D32"/>
                </a:solidFill>
                <a:latin typeface="Cambria" pitchFamily="34" charset="0"/>
                <a:ea typeface="Cambria" pitchFamily="34" charset="-122"/>
                <a:cs typeface="Cambria" pitchFamily="34" charset="-120"/>
              </a:rPr>
              <a:t>+$7.8M</a:t>
            </a:r>
            <a:endParaRPr lang="en-US" sz="2800" dirty="0"/>
          </a:p>
        </p:txBody>
      </p:sp>
      <p:sp>
        <p:nvSpPr>
          <p:cNvPr id="10" name="Text 7"/>
          <p:cNvSpPr/>
          <p:nvPr/>
        </p:nvSpPr>
        <p:spPr>
          <a:xfrm>
            <a:off x="8732520" y="3939235"/>
            <a:ext cx="2743200" cy="58521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operating result, FY2030 — a $10.3M swing</a:t>
            </a:r>
            <a:endParaRPr lang="en-US" sz="1100" dirty="0"/>
          </a:p>
        </p:txBody>
      </p:sp>
      <p:sp>
        <p:nvSpPr>
          <p:cNvPr id="11" name="Shape 8"/>
          <p:cNvSpPr/>
          <p:nvPr/>
        </p:nvSpPr>
        <p:spPr>
          <a:xfrm>
            <a:off x="8595360" y="4718304"/>
            <a:ext cx="3017520" cy="1463040"/>
          </a:xfrm>
          <a:prstGeom prst="roundRect">
            <a:avLst>
              <a:gd name="adj" fmla="val 5000"/>
            </a:avLst>
          </a:prstGeom>
          <a:solidFill>
            <a:srgbClr val="F5F0E4"/>
          </a:solidFill>
          <a:ln/>
        </p:spPr>
      </p:sp>
      <p:sp>
        <p:nvSpPr>
          <p:cNvPr id="12" name="Text 9"/>
          <p:cNvSpPr/>
          <p:nvPr/>
        </p:nvSpPr>
        <p:spPr>
          <a:xfrm>
            <a:off x="8732520" y="4828032"/>
            <a:ext cx="2743200" cy="760781"/>
          </a:xfrm>
          <a:prstGeom prst="rect">
            <a:avLst/>
          </a:prstGeom>
          <a:noFill/>
          <a:ln/>
        </p:spPr>
        <p:txBody>
          <a:bodyPr wrap="square" lIns="0" tIns="0" rIns="0" bIns="0" rtlCol="0" anchor="b"/>
          <a:lstStyle/>
          <a:p>
            <a:pPr indent="0" marL="0">
              <a:buNone/>
            </a:pPr>
            <a:r>
              <a:rPr lang="en-US" sz="2800" b="1" dirty="0">
                <a:solidFill>
                  <a:srgbClr val="2E7D32"/>
                </a:solidFill>
                <a:latin typeface="Cambria" pitchFamily="34" charset="0"/>
                <a:ea typeface="Cambria" pitchFamily="34" charset="-122"/>
                <a:cs typeface="Cambria" pitchFamily="34" charset="-120"/>
              </a:rPr>
              <a:t>+$3.8M</a:t>
            </a:r>
            <a:endParaRPr lang="en-US" sz="2800" dirty="0"/>
          </a:p>
        </p:txBody>
      </p:sp>
      <p:sp>
        <p:nvSpPr>
          <p:cNvPr id="13" name="Text 10"/>
          <p:cNvSpPr/>
          <p:nvPr/>
        </p:nvSpPr>
        <p:spPr>
          <a:xfrm>
            <a:off x="8732520" y="5566867"/>
            <a:ext cx="2743200" cy="585216"/>
          </a:xfrm>
          <a:prstGeom prst="rect">
            <a:avLst/>
          </a:prstGeom>
          <a:noFill/>
          <a:ln/>
        </p:spPr>
        <p:txBody>
          <a:bodyPr wrap="square" lIns="0" tIns="0" rIns="0" bIns="0" rtlCol="0" anchor="t"/>
          <a:lstStyle/>
          <a:p>
            <a:pPr indent="0" marL="0">
              <a:buNone/>
            </a:pPr>
            <a:r>
              <a:rPr lang="en-US" sz="1100" dirty="0">
                <a:solidFill>
                  <a:srgbClr val="6E7480"/>
                </a:solidFill>
                <a:latin typeface="Calibri" pitchFamily="34" charset="0"/>
                <a:ea typeface="Calibri" pitchFamily="34" charset="-122"/>
                <a:cs typeface="Calibri" pitchFamily="34" charset="-120"/>
              </a:rPr>
              <a:t>record quarter (Q3/30): 16.5% ROAE, best in community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THE TWO ENGINES OF THE TURNAROUND</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Margin Built, Costs Cut</a:t>
            </a:r>
            <a:endParaRPr lang="en-US" sz="3200" dirty="0"/>
          </a:p>
        </p:txBody>
      </p:sp>
      <p:sp>
        <p:nvSpPr>
          <p:cNvPr id="4" name="Text 2"/>
          <p:cNvSpPr/>
          <p:nvPr/>
        </p:nvSpPr>
        <p:spPr>
          <a:xfrm>
            <a:off x="548640" y="1417320"/>
            <a:ext cx="5486400" cy="274320"/>
          </a:xfrm>
          <a:prstGeom prst="rect">
            <a:avLst/>
          </a:prstGeom>
          <a:noFill/>
          <a:ln/>
        </p:spPr>
        <p:txBody>
          <a:bodyPr wrap="square" lIns="0" tIns="0" rIns="0" bIns="0" rtlCol="0" anchor="ctr"/>
          <a:lstStyle/>
          <a:p>
            <a:pPr indent="0" marL="0">
              <a:buNone/>
            </a:pPr>
            <a:r>
              <a:rPr lang="en-US" sz="1250" b="1" dirty="0">
                <a:solidFill>
                  <a:srgbClr val="232733"/>
                </a:solidFill>
                <a:latin typeface="Calibri" pitchFamily="34" charset="0"/>
                <a:ea typeface="Calibri" pitchFamily="34" charset="-122"/>
                <a:cs typeface="Calibri" pitchFamily="34" charset="-120"/>
              </a:rPr>
              <a:t>Net interest margin (%) — us vs. the champion</a:t>
            </a:r>
            <a:endParaRPr lang="en-US" sz="1250" dirty="0"/>
          </a:p>
        </p:txBody>
      </p:sp>
      <p:graphicFrame>
        <p:nvGraphicFramePr>
          <p:cNvPr id="5" name="Chart 0" descr=""/>
          <p:cNvGraphicFramePr/>
          <p:nvPr/>
        </p:nvGraphicFramePr>
        <p:xfrm>
          <a:off x="548640" y="1737360"/>
          <a:ext cx="539496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263640" y="1417320"/>
            <a:ext cx="5486400" cy="274320"/>
          </a:xfrm>
          <a:prstGeom prst="rect">
            <a:avLst/>
          </a:prstGeom>
          <a:noFill/>
          <a:ln/>
        </p:spPr>
        <p:txBody>
          <a:bodyPr wrap="square" lIns="0" tIns="0" rIns="0" bIns="0" rtlCol="0" anchor="ctr"/>
          <a:lstStyle/>
          <a:p>
            <a:pPr indent="0" marL="0">
              <a:buNone/>
            </a:pPr>
            <a:r>
              <a:rPr lang="en-US" sz="1250" b="1" dirty="0">
                <a:solidFill>
                  <a:srgbClr val="232733"/>
                </a:solidFill>
                <a:latin typeface="Calibri" pitchFamily="34" charset="0"/>
                <a:ea typeface="Calibri" pitchFamily="34" charset="-122"/>
                <a:cs typeface="Calibri" pitchFamily="34" charset="-120"/>
              </a:rPr>
              <a:t>Efficiency ratio (%) — lower is better</a:t>
            </a:r>
            <a:endParaRPr lang="en-US" sz="1250" dirty="0"/>
          </a:p>
        </p:txBody>
      </p:sp>
      <p:graphicFrame>
        <p:nvGraphicFramePr>
          <p:cNvPr id="7" name="Chart 1" descr=""/>
          <p:cNvGraphicFramePr/>
          <p:nvPr/>
        </p:nvGraphicFramePr>
        <p:xfrm>
          <a:off x="6263640" y="173736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548640" y="6035040"/>
            <a:ext cx="5394960" cy="365760"/>
          </a:xfrm>
          <a:prstGeom prst="rect">
            <a:avLst/>
          </a:prstGeom>
          <a:noFill/>
          <a:ln/>
        </p:spPr>
        <p:txBody>
          <a:bodyPr wrap="square" lIns="0" tIns="0" rIns="0" bIns="0" rtlCol="0" anchor="ctr"/>
          <a:lstStyle/>
          <a:p>
            <a:pPr indent="0" marL="0">
              <a:buNone/>
            </a:pPr>
            <a:r>
              <a:rPr lang="en-US" sz="1150" i="1" dirty="0">
                <a:solidFill>
                  <a:srgbClr val="6E7480"/>
                </a:solidFill>
                <a:latin typeface="Calibri" pitchFamily="34" charset="0"/>
                <a:ea typeface="Calibri" pitchFamily="34" charset="-122"/>
                <a:cs typeface="Calibri" pitchFamily="34" charset="-120"/>
              </a:rPr>
              <a:t>3.12% → 4.10% at peak: from 2nd-worst to top of the field</a:t>
            </a:r>
            <a:endParaRPr lang="en-US" sz="1150" dirty="0"/>
          </a:p>
        </p:txBody>
      </p:sp>
      <p:sp>
        <p:nvSpPr>
          <p:cNvPr id="9" name="Text 5"/>
          <p:cNvSpPr/>
          <p:nvPr/>
        </p:nvSpPr>
        <p:spPr>
          <a:xfrm>
            <a:off x="6263640" y="6035040"/>
            <a:ext cx="5394960" cy="365760"/>
          </a:xfrm>
          <a:prstGeom prst="rect">
            <a:avLst/>
          </a:prstGeom>
          <a:noFill/>
          <a:ln/>
        </p:spPr>
        <p:txBody>
          <a:bodyPr wrap="square" lIns="0" tIns="0" rIns="0" bIns="0" rtlCol="0" anchor="ctr"/>
          <a:lstStyle/>
          <a:p>
            <a:pPr indent="0" marL="0">
              <a:buNone/>
            </a:pPr>
            <a:r>
              <a:rPr lang="en-US" sz="1150" i="1" dirty="0">
                <a:solidFill>
                  <a:srgbClr val="6E7480"/>
                </a:solidFill>
                <a:latin typeface="Calibri" pitchFamily="34" charset="0"/>
                <a:ea typeface="Calibri" pitchFamily="34" charset="-122"/>
                <a:cs typeface="Calibri" pitchFamily="34" charset="-120"/>
              </a:rPr>
              <a:t>91% → 60% at best: every dollar of revenue costs a third less to earn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FY2029 VS FY2030 ($M)</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Two Years on One Page</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035040" cy="914400"/>
        </p:xfrm>
        <a:graphic>
          <a:graphicData uri="http://schemas.openxmlformats.org/drawingml/2006/table">
            <a:tbl>
              <a:tblPr/>
              <a:tblGrid>
                <a:gridCol w="3108960"/>
                <a:gridCol w="1463040"/>
                <a:gridCol w="1463040"/>
              </a:tblGrid>
              <a:tr h="475488">
                <a:tc>
                  <a:txBody>
                    <a:bodyPr/>
                    <a:lstStyle/>
                    <a:p>
                      <a:pPr indent="0" marL="0">
                        <a:buNone/>
                      </a:pPr>
                      <a:endParaRPr lang="en-US" sz="12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6E7480"/>
                          </a:solidFill>
                          <a:latin typeface="Calibri" pitchFamily="34" charset="0"/>
                          <a:ea typeface="Calibri" pitchFamily="34" charset="-122"/>
                          <a:cs typeface="Calibri" pitchFamily="34" charset="-120"/>
                        </a:rPr>
                        <a:t>FY2029</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b="1" dirty="0">
                          <a:solidFill>
                            <a:srgbClr val="1F2A44"/>
                          </a:solidFill>
                          <a:latin typeface="Calibri" pitchFamily="34" charset="0"/>
                          <a:ea typeface="Calibri" pitchFamily="34" charset="-122"/>
                          <a:cs typeface="Calibri" pitchFamily="34" charset="-120"/>
                        </a:rPr>
                        <a:t>FY2030</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r h="475488">
                <a:tc>
                  <a:txBody>
                    <a:bodyPr/>
                    <a:lstStyle/>
                    <a:p>
                      <a:pPr indent="0" marL="0">
                        <a:buNone/>
                      </a:pPr>
                      <a:r>
                        <a:rPr lang="en-US" sz="1300" dirty="0">
                          <a:solidFill>
                            <a:srgbClr val="232733"/>
                          </a:solidFill>
                          <a:latin typeface="Calibri" pitchFamily="34" charset="0"/>
                          <a:ea typeface="Calibri" pitchFamily="34" charset="-122"/>
                          <a:cs typeface="Calibri" pitchFamily="34" charset="-120"/>
                        </a:rPr>
                        <a:t>Net interest income</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dirty="0">
                          <a:solidFill>
                            <a:srgbClr val="6E7480"/>
                          </a:solidFill>
                          <a:latin typeface="Calibri" pitchFamily="34" charset="0"/>
                          <a:ea typeface="Calibri" pitchFamily="34" charset="-122"/>
                          <a:cs typeface="Calibri" pitchFamily="34" charset="-120"/>
                        </a:rPr>
                        <a:t>23.9</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dirty="0">
                          <a:solidFill>
                            <a:srgbClr val="1F2A44"/>
                          </a:solidFill>
                          <a:latin typeface="Calibri" pitchFamily="34" charset="0"/>
                          <a:ea typeface="Calibri" pitchFamily="34" charset="-122"/>
                          <a:cs typeface="Calibri" pitchFamily="34" charset="-120"/>
                        </a:rPr>
                        <a:t>29.0</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r h="475488">
                <a:tc>
                  <a:txBody>
                    <a:bodyPr/>
                    <a:lstStyle/>
                    <a:p>
                      <a:pPr indent="0" marL="0">
                        <a:buNone/>
                      </a:pPr>
                      <a:r>
                        <a:rPr lang="en-US" sz="1300" dirty="0">
                          <a:solidFill>
                            <a:srgbClr val="232733"/>
                          </a:solidFill>
                          <a:latin typeface="Calibri" pitchFamily="34" charset="0"/>
                          <a:ea typeface="Calibri" pitchFamily="34" charset="-122"/>
                          <a:cs typeface="Calibri" pitchFamily="34" charset="-120"/>
                        </a:rPr>
                        <a:t>Fees &amp; other income</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dirty="0">
                          <a:solidFill>
                            <a:srgbClr val="6E7480"/>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dirty="0">
                          <a:solidFill>
                            <a:srgbClr val="1F2A44"/>
                          </a:solidFill>
                          <a:latin typeface="Calibri" pitchFamily="34" charset="0"/>
                          <a:ea typeface="Calibri" pitchFamily="34" charset="-122"/>
                          <a:cs typeface="Calibri" pitchFamily="34" charset="-120"/>
                        </a:rPr>
                        <a:t>7.2</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r h="475488">
                <a:tc>
                  <a:txBody>
                    <a:bodyPr/>
                    <a:lstStyle/>
                    <a:p>
                      <a:pPr indent="0" marL="0">
                        <a:buNone/>
                      </a:pPr>
                      <a:r>
                        <a:rPr lang="en-US" sz="1300" dirty="0">
                          <a:solidFill>
                            <a:srgbClr val="232733"/>
                          </a:solidFill>
                          <a:latin typeface="Calibri" pitchFamily="34" charset="0"/>
                          <a:ea typeface="Calibri" pitchFamily="34" charset="-122"/>
                          <a:cs typeface="Calibri" pitchFamily="34" charset="-120"/>
                        </a:rPr>
                        <a:t>Credit loss provision</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dirty="0">
                          <a:solidFill>
                            <a:srgbClr val="6E7480"/>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dirty="0">
                          <a:solidFill>
                            <a:srgbClr val="1F2A44"/>
                          </a:solidFill>
                          <a:latin typeface="Calibri" pitchFamily="34" charset="0"/>
                          <a:ea typeface="Calibri" pitchFamily="34" charset="-122"/>
                          <a:cs typeface="Calibri" pitchFamily="34" charset="-120"/>
                        </a:rPr>
                        <a:t>5.3</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r h="475488">
                <a:tc>
                  <a:txBody>
                    <a:bodyPr/>
                    <a:lstStyle/>
                    <a:p>
                      <a:pPr indent="0" marL="0">
                        <a:buNone/>
                      </a:pPr>
                      <a:r>
                        <a:rPr lang="en-US" sz="1300" dirty="0">
                          <a:solidFill>
                            <a:srgbClr val="232733"/>
                          </a:solidFill>
                          <a:latin typeface="Calibri" pitchFamily="34" charset="0"/>
                          <a:ea typeface="Calibri" pitchFamily="34" charset="-122"/>
                          <a:cs typeface="Calibri" pitchFamily="34" charset="-120"/>
                        </a:rPr>
                        <a:t>Operating expenses</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dirty="0">
                          <a:solidFill>
                            <a:srgbClr val="6E7480"/>
                          </a:solidFill>
                          <a:latin typeface="Calibri" pitchFamily="34" charset="0"/>
                          <a:ea typeface="Calibri" pitchFamily="34" charset="-122"/>
                          <a:cs typeface="Calibri" pitchFamily="34" charset="-120"/>
                        </a:rPr>
                        <a:t>25.1</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300" dirty="0">
                          <a:solidFill>
                            <a:srgbClr val="1F2A44"/>
                          </a:solidFill>
                          <a:latin typeface="Calibri" pitchFamily="34" charset="0"/>
                          <a:ea typeface="Calibri" pitchFamily="34" charset="-122"/>
                          <a:cs typeface="Calibri" pitchFamily="34" charset="-120"/>
                        </a:rPr>
                        <a:t>23.1</a:t>
                      </a:r>
                      <a:endParaRPr lang="en-US" sz="13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r h="475488">
                <a:tc>
                  <a:txBody>
                    <a:bodyPr/>
                    <a:lstStyle/>
                    <a:p>
                      <a:pPr indent="0" marL="0">
                        <a:buNone/>
                      </a:pPr>
                      <a:r>
                        <a:rPr lang="en-US" sz="1400" b="1" dirty="0">
                          <a:solidFill>
                            <a:srgbClr val="232733"/>
                          </a:solidFill>
                          <a:latin typeface="Calibri" pitchFamily="34" charset="0"/>
                          <a:ea typeface="Calibri" pitchFamily="34" charset="-122"/>
                          <a:cs typeface="Calibri" pitchFamily="34" charset="-120"/>
                        </a:rPr>
                        <a:t>Operating earnings</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400" b="1" dirty="0">
                          <a:solidFill>
                            <a:srgbClr val="6E7480"/>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400" b="1" dirty="0">
                          <a:solidFill>
                            <a:srgbClr val="2E7D32"/>
                          </a:solidFill>
                          <a:latin typeface="Calibri" pitchFamily="34" charset="0"/>
                          <a:ea typeface="Calibri" pitchFamily="34" charset="-122"/>
                          <a:cs typeface="Calibri" pitchFamily="34" charset="-120"/>
                        </a:rPr>
                        <a:t>+7.8</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r h="475488">
                <a:tc>
                  <a:txBody>
                    <a:bodyPr/>
                    <a:lstStyle/>
                    <a:p>
                      <a:pPr indent="0" marL="0">
                        <a:buNone/>
                      </a:pPr>
                      <a:r>
                        <a:rPr lang="en-US" sz="1400" b="1" dirty="0">
                          <a:solidFill>
                            <a:srgbClr val="232733"/>
                          </a:solidFill>
                          <a:latin typeface="Calibri" pitchFamily="34" charset="0"/>
                          <a:ea typeface="Calibri" pitchFamily="34" charset="-122"/>
                          <a:cs typeface="Calibri" pitchFamily="34" charset="-120"/>
                        </a:rPr>
                        <a:t>Net income</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400" b="1" dirty="0">
                          <a:solidFill>
                            <a:srgbClr val="6E7480"/>
                          </a:solidFill>
                          <a:latin typeface="Calibri" pitchFamily="34" charset="0"/>
                          <a:ea typeface="Calibri" pitchFamily="34" charset="-122"/>
                          <a:cs typeface="Calibri" pitchFamily="34" charset="-120"/>
                        </a:rPr>
                        <a:t>−0.0</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400" b="1" dirty="0">
                          <a:solidFill>
                            <a:srgbClr val="2E7D32"/>
                          </a:solidFill>
                          <a:latin typeface="Calibri" pitchFamily="34" charset="0"/>
                          <a:ea typeface="Calibri" pitchFamily="34" charset="-122"/>
                          <a:cs typeface="Calibri" pitchFamily="34" charset="-120"/>
                        </a:rPr>
                        <a:t>+6.7</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r h="475488">
                <a:tc>
                  <a:txBody>
                    <a:bodyPr/>
                    <a:lstStyle/>
                    <a:p>
                      <a:pPr indent="0" marL="0">
                        <a:buNone/>
                      </a:pPr>
                      <a:r>
                        <a:rPr lang="en-US" sz="1400" b="1" dirty="0">
                          <a:solidFill>
                            <a:srgbClr val="232733"/>
                          </a:solidFill>
                          <a:latin typeface="Calibri" pitchFamily="34" charset="0"/>
                          <a:ea typeface="Calibri" pitchFamily="34" charset="-122"/>
                          <a:cs typeface="Calibri" pitchFamily="34" charset="-120"/>
                        </a:rPr>
                        <a:t>Earnings per share</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400" b="1" dirty="0">
                          <a:solidFill>
                            <a:srgbClr val="6E7480"/>
                          </a:solidFill>
                          <a:latin typeface="Calibri" pitchFamily="34" charset="0"/>
                          <a:ea typeface="Calibri" pitchFamily="34" charset="-122"/>
                          <a:cs typeface="Calibri" pitchFamily="34" charset="-120"/>
                        </a:rPr>
                        <a:t>−$0.03</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400" b="1" dirty="0">
                          <a:solidFill>
                            <a:srgbClr val="2E7D32"/>
                          </a:solidFill>
                          <a:latin typeface="Calibri" pitchFamily="34" charset="0"/>
                          <a:ea typeface="Calibri" pitchFamily="34" charset="-122"/>
                          <a:cs typeface="Calibri" pitchFamily="34" charset="-120"/>
                        </a:rPr>
                        <a:t>+$3.66</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r h="475488">
                <a:tc>
                  <a:txBody>
                    <a:bodyPr/>
                    <a:lstStyle/>
                    <a:p>
                      <a:pPr indent="0" marL="0">
                        <a:buNone/>
                      </a:pPr>
                      <a:r>
                        <a:rPr lang="en-US" sz="1400" b="1" dirty="0">
                          <a:solidFill>
                            <a:srgbClr val="232733"/>
                          </a:solidFill>
                          <a:latin typeface="Calibri" pitchFamily="34" charset="0"/>
                          <a:ea typeface="Calibri" pitchFamily="34" charset="-122"/>
                          <a:cs typeface="Calibri" pitchFamily="34" charset="-120"/>
                        </a:rPr>
                        <a:t>Dividends per share</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400" b="1" dirty="0">
                          <a:solidFill>
                            <a:srgbClr val="6E7480"/>
                          </a:solidFill>
                          <a:latin typeface="Calibri" pitchFamily="34" charset="0"/>
                          <a:ea typeface="Calibri" pitchFamily="34" charset="-122"/>
                          <a:cs typeface="Calibri" pitchFamily="34" charset="-120"/>
                        </a:rPr>
                        <a:t>$0.00</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c>
                  <a:txBody>
                    <a:bodyPr/>
                    <a:lstStyle/>
                    <a:p>
                      <a:pPr algn="r" indent="0" marL="0">
                        <a:buNone/>
                      </a:pPr>
                      <a:r>
                        <a:rPr lang="en-US" sz="1400" b="1" dirty="0">
                          <a:solidFill>
                            <a:srgbClr val="2E7D32"/>
                          </a:solidFill>
                          <a:latin typeface="Calibri" pitchFamily="34" charset="0"/>
                          <a:ea typeface="Calibri" pitchFamily="34" charset="-122"/>
                          <a:cs typeface="Calibri" pitchFamily="34" charset="-120"/>
                        </a:rPr>
                        <a:t>$1.40</a:t>
                      </a:r>
                      <a:endParaRPr lang="en-US" sz="1400" dirty="0">
                        <a:latin typeface="Calibri" charset="0"/>
                        <a:ea typeface="Calibri" charset="0"/>
                        <a:cs typeface="Calibri" charset="0"/>
                      </a:endParaRPr>
                    </a:p>
                  </a:txBody>
                  <a:tcPr marL="54864" marR="54864" marT="54864" marB="54864" anchor="ctr">
                    <a:lnL w="6350" cap="flat" cmpd="sng" algn="ctr">
                      <a:solidFill>
                        <a:srgbClr val="E4E0D5"/>
                      </a:solidFill>
                      <a:prstDash val="solid"/>
                      <a:round/>
                      <a:headEnd type="none" w="med" len="med"/>
                      <a:tailEnd type="none" w="med" len="med"/>
                    </a:lnL>
                    <a:lnR w="6350" cap="flat" cmpd="sng" algn="ctr">
                      <a:solidFill>
                        <a:srgbClr val="E4E0D5"/>
                      </a:solidFill>
                      <a:prstDash val="solid"/>
                      <a:round/>
                      <a:headEnd type="none" w="med" len="med"/>
                      <a:tailEnd type="none" w="med" len="med"/>
                    </a:lnR>
                    <a:lnT w="6350" cap="flat" cmpd="sng" algn="ctr">
                      <a:solidFill>
                        <a:srgbClr val="E4E0D5"/>
                      </a:solidFill>
                      <a:prstDash val="solid"/>
                      <a:round/>
                      <a:headEnd type="none" w="med" len="med"/>
                      <a:tailEnd type="none" w="med" len="med"/>
                    </a:lnT>
                    <a:lnB w="6350" cap="flat" cmpd="sng" algn="ctr">
                      <a:solidFill>
                        <a:srgbClr val="E4E0D5"/>
                      </a:solidFill>
                      <a:prstDash val="solid"/>
                      <a:round/>
                      <a:headEnd type="none" w="med" len="med"/>
                      <a:tailEnd type="none" w="med" len="med"/>
                    </a:lnB>
                  </a:tcPr>
                </a:tc>
              </a:tr>
            </a:tbl>
          </a:graphicData>
        </a:graphic>
      </p:graphicFrame>
      <p:sp>
        <p:nvSpPr>
          <p:cNvPr id="5" name="Shape 2"/>
          <p:cNvSpPr/>
          <p:nvPr/>
        </p:nvSpPr>
        <p:spPr>
          <a:xfrm>
            <a:off x="6949440" y="1508760"/>
            <a:ext cx="4663440" cy="1417320"/>
          </a:xfrm>
          <a:prstGeom prst="roundRect">
            <a:avLst>
              <a:gd name="adj" fmla="val 5161"/>
            </a:avLst>
          </a:prstGeom>
          <a:solidFill>
            <a:srgbClr val="F5F0E4"/>
          </a:solidFill>
          <a:ln/>
        </p:spPr>
      </p:sp>
      <p:sp>
        <p:nvSpPr>
          <p:cNvPr id="6" name="Text 3"/>
          <p:cNvSpPr/>
          <p:nvPr/>
        </p:nvSpPr>
        <p:spPr>
          <a:xfrm>
            <a:off x="7086600" y="1618488"/>
            <a:ext cx="4389120" cy="737006"/>
          </a:xfrm>
          <a:prstGeom prst="rect">
            <a:avLst/>
          </a:prstGeom>
          <a:noFill/>
          <a:ln/>
        </p:spPr>
        <p:txBody>
          <a:bodyPr wrap="square" lIns="0" tIns="0" rIns="0" bIns="0" rtlCol="0" anchor="b"/>
          <a:lstStyle/>
          <a:p>
            <a:pPr indent="0" marL="0">
              <a:buNone/>
            </a:pPr>
            <a:r>
              <a:rPr lang="en-US" sz="3200" b="1" dirty="0">
                <a:solidFill>
                  <a:srgbClr val="2E7D32"/>
                </a:solidFill>
                <a:latin typeface="Cambria" pitchFamily="34" charset="0"/>
                <a:ea typeface="Cambria" pitchFamily="34" charset="-122"/>
                <a:cs typeface="Cambria" pitchFamily="34" charset="-120"/>
              </a:rPr>
              <a:t>+$10.3M</a:t>
            </a:r>
            <a:endParaRPr lang="en-US" sz="3200" dirty="0"/>
          </a:p>
        </p:txBody>
      </p:sp>
      <p:sp>
        <p:nvSpPr>
          <p:cNvPr id="7" name="Text 4"/>
          <p:cNvSpPr/>
          <p:nvPr/>
        </p:nvSpPr>
        <p:spPr>
          <a:xfrm>
            <a:off x="7086600" y="2330806"/>
            <a:ext cx="4389120" cy="566928"/>
          </a:xfrm>
          <a:prstGeom prst="rect">
            <a:avLst/>
          </a:prstGeom>
          <a:noFill/>
          <a:ln/>
        </p:spPr>
        <p:txBody>
          <a:bodyPr wrap="square" lIns="0" tIns="0" rIns="0" bIns="0" rtlCol="0" anchor="t"/>
          <a:lstStyle/>
          <a:p>
            <a:pPr indent="0" marL="0">
              <a:buNone/>
            </a:pPr>
            <a:r>
              <a:rPr lang="en-US" sz="1200" dirty="0">
                <a:solidFill>
                  <a:srgbClr val="6E7480"/>
                </a:solidFill>
                <a:latin typeface="Calibri" pitchFamily="34" charset="0"/>
                <a:ea typeface="Calibri" pitchFamily="34" charset="-122"/>
                <a:cs typeface="Calibri" pitchFamily="34" charset="-120"/>
              </a:rPr>
              <a:t>swing in annual operating earnings, FY29 → FY30</a:t>
            </a:r>
            <a:endParaRPr lang="en-US" sz="1200" dirty="0"/>
          </a:p>
        </p:txBody>
      </p:sp>
      <p:sp>
        <p:nvSpPr>
          <p:cNvPr id="8" name="Shape 5"/>
          <p:cNvSpPr/>
          <p:nvPr/>
        </p:nvSpPr>
        <p:spPr>
          <a:xfrm>
            <a:off x="6949440" y="3108960"/>
            <a:ext cx="4663440" cy="1417320"/>
          </a:xfrm>
          <a:prstGeom prst="roundRect">
            <a:avLst>
              <a:gd name="adj" fmla="val 5161"/>
            </a:avLst>
          </a:prstGeom>
          <a:solidFill>
            <a:srgbClr val="F5F0E4"/>
          </a:solidFill>
          <a:ln/>
        </p:spPr>
      </p:sp>
      <p:sp>
        <p:nvSpPr>
          <p:cNvPr id="9" name="Text 6"/>
          <p:cNvSpPr/>
          <p:nvPr/>
        </p:nvSpPr>
        <p:spPr>
          <a:xfrm>
            <a:off x="7086600" y="3218688"/>
            <a:ext cx="4389120" cy="737006"/>
          </a:xfrm>
          <a:prstGeom prst="rect">
            <a:avLst/>
          </a:prstGeom>
          <a:noFill/>
          <a:ln/>
        </p:spPr>
        <p:txBody>
          <a:bodyPr wrap="square" lIns="0" tIns="0" rIns="0" bIns="0" rtlCol="0" anchor="b"/>
          <a:lstStyle/>
          <a:p>
            <a:pPr indent="0" marL="0">
              <a:buNone/>
            </a:pPr>
            <a:r>
              <a:rPr lang="en-US" sz="3200" b="1" dirty="0">
                <a:solidFill>
                  <a:srgbClr val="1F2A44"/>
                </a:solidFill>
                <a:latin typeface="Cambria" pitchFamily="34" charset="0"/>
                <a:ea typeface="Cambria" pitchFamily="34" charset="-122"/>
                <a:cs typeface="Cambria" pitchFamily="34" charset="-120"/>
              </a:rPr>
              <a:t>9.4% ROAE</a:t>
            </a:r>
            <a:endParaRPr lang="en-US" sz="3200" dirty="0"/>
          </a:p>
        </p:txBody>
      </p:sp>
      <p:sp>
        <p:nvSpPr>
          <p:cNvPr id="10" name="Text 7"/>
          <p:cNvSpPr/>
          <p:nvPr/>
        </p:nvSpPr>
        <p:spPr>
          <a:xfrm>
            <a:off x="7086600" y="3931006"/>
            <a:ext cx="4389120" cy="566928"/>
          </a:xfrm>
          <a:prstGeom prst="rect">
            <a:avLst/>
          </a:prstGeom>
          <a:noFill/>
          <a:ln/>
        </p:spPr>
        <p:txBody>
          <a:bodyPr wrap="square" lIns="0" tIns="0" rIns="0" bIns="0" rtlCol="0" anchor="t"/>
          <a:lstStyle/>
          <a:p>
            <a:pPr indent="0" marL="0">
              <a:buNone/>
            </a:pPr>
            <a:r>
              <a:rPr lang="en-US" sz="1200" dirty="0">
                <a:solidFill>
                  <a:srgbClr val="6E7480"/>
                </a:solidFill>
                <a:latin typeface="Calibri" pitchFamily="34" charset="0"/>
                <a:ea typeface="Calibri" pitchFamily="34" charset="-122"/>
                <a:cs typeface="Calibri" pitchFamily="34" charset="-120"/>
              </a:rPr>
              <a:t>full-year 2030 return on equity — from −7.5% in H1/29</a:t>
            </a:r>
            <a:endParaRPr lang="en-US" sz="1200" dirty="0"/>
          </a:p>
        </p:txBody>
      </p:sp>
      <p:sp>
        <p:nvSpPr>
          <p:cNvPr id="11" name="Shape 8"/>
          <p:cNvSpPr/>
          <p:nvPr/>
        </p:nvSpPr>
        <p:spPr>
          <a:xfrm>
            <a:off x="6949440" y="4709160"/>
            <a:ext cx="4663440" cy="1417320"/>
          </a:xfrm>
          <a:prstGeom prst="roundRect">
            <a:avLst>
              <a:gd name="adj" fmla="val 5161"/>
            </a:avLst>
          </a:prstGeom>
          <a:solidFill>
            <a:srgbClr val="F5F0E4"/>
          </a:solidFill>
          <a:ln/>
        </p:spPr>
      </p:sp>
      <p:sp>
        <p:nvSpPr>
          <p:cNvPr id="12" name="Text 9"/>
          <p:cNvSpPr/>
          <p:nvPr/>
        </p:nvSpPr>
        <p:spPr>
          <a:xfrm>
            <a:off x="7086600" y="4818888"/>
            <a:ext cx="4389120" cy="737006"/>
          </a:xfrm>
          <a:prstGeom prst="rect">
            <a:avLst/>
          </a:prstGeom>
          <a:noFill/>
          <a:ln/>
        </p:spPr>
        <p:txBody>
          <a:bodyPr wrap="square" lIns="0" tIns="0" rIns="0" bIns="0" rtlCol="0" anchor="b"/>
          <a:lstStyle/>
          <a:p>
            <a:pPr indent="0" marL="0">
              <a:buNone/>
            </a:pPr>
            <a:r>
              <a:rPr lang="en-US" sz="3000" b="1" dirty="0">
                <a:solidFill>
                  <a:srgbClr val="1F2A44"/>
                </a:solidFill>
                <a:latin typeface="Cambria" pitchFamily="34" charset="0"/>
                <a:ea typeface="Cambria" pitchFamily="34" charset="-122"/>
                <a:cs typeface="Cambria" pitchFamily="34" charset="-120"/>
              </a:rPr>
              <a:t>$1.40 / share</a:t>
            </a:r>
            <a:endParaRPr lang="en-US" sz="3000" dirty="0"/>
          </a:p>
        </p:txBody>
      </p:sp>
      <p:sp>
        <p:nvSpPr>
          <p:cNvPr id="13" name="Text 10"/>
          <p:cNvSpPr/>
          <p:nvPr/>
        </p:nvSpPr>
        <p:spPr>
          <a:xfrm>
            <a:off x="7086600" y="5531206"/>
            <a:ext cx="4389120" cy="566928"/>
          </a:xfrm>
          <a:prstGeom prst="rect">
            <a:avLst/>
          </a:prstGeom>
          <a:noFill/>
          <a:ln/>
        </p:spPr>
        <p:txBody>
          <a:bodyPr wrap="square" lIns="0" tIns="0" rIns="0" bIns="0" rtlCol="0" anchor="t"/>
          <a:lstStyle/>
          <a:p>
            <a:pPr indent="0" marL="0">
              <a:buNone/>
            </a:pPr>
            <a:r>
              <a:rPr lang="en-US" sz="1200" dirty="0">
                <a:solidFill>
                  <a:srgbClr val="6E7480"/>
                </a:solidFill>
                <a:latin typeface="Calibri" pitchFamily="34" charset="0"/>
                <a:ea typeface="Calibri" pitchFamily="34" charset="-122"/>
                <a:cs typeface="Calibri" pitchFamily="34" charset="-120"/>
              </a:rPr>
              <a:t>dividends paid in 2030, restarted from zero and doubled during the year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Q4/28 VS Q4/30 ($M)</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A Bigger, Safer Balance Sheet</a:t>
            </a:r>
            <a:endParaRPr lang="en-US" sz="3200" dirty="0"/>
          </a:p>
        </p:txBody>
      </p:sp>
      <p:graphicFrame>
        <p:nvGraphicFramePr>
          <p:cNvPr id="4" name="Chart 0" descr=""/>
          <p:cNvGraphicFramePr/>
          <p:nvPr/>
        </p:nvGraphicFramePr>
        <p:xfrm>
          <a:off x="548640" y="1463040"/>
          <a:ext cx="6675120" cy="4754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543800" y="1600200"/>
            <a:ext cx="402336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Funding flipped</a:t>
            </a:r>
            <a:endParaRPr lang="en-US" sz="1400" dirty="0"/>
          </a:p>
        </p:txBody>
      </p:sp>
      <p:sp>
        <p:nvSpPr>
          <p:cNvPr id="6" name="Text 3"/>
          <p:cNvSpPr/>
          <p:nvPr/>
        </p:nvSpPr>
        <p:spPr>
          <a:xfrm>
            <a:off x="7543800" y="1947672"/>
            <a:ext cx="4023360" cy="91440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Loans/deposits 106.7% → 100.8%; fed funds purchased $88M → $0; zero brokered CDs</a:t>
            </a:r>
            <a:endParaRPr lang="en-US" sz="1150" dirty="0"/>
          </a:p>
        </p:txBody>
      </p:sp>
      <p:sp>
        <p:nvSpPr>
          <p:cNvPr id="7" name="Text 4"/>
          <p:cNvSpPr/>
          <p:nvPr/>
        </p:nvSpPr>
        <p:spPr>
          <a:xfrm>
            <a:off x="7543800" y="3172968"/>
            <a:ext cx="402336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Mix upgraded</a:t>
            </a:r>
            <a:endParaRPr lang="en-US" sz="1400" dirty="0"/>
          </a:p>
        </p:txBody>
      </p:sp>
      <p:sp>
        <p:nvSpPr>
          <p:cNvPr id="8" name="Text 5"/>
          <p:cNvSpPr/>
          <p:nvPr/>
        </p:nvSpPr>
        <p:spPr>
          <a:xfrm>
            <a:off x="7543800" y="3520440"/>
            <a:ext cx="4023360" cy="91440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Consumer runoff (−$43M) recycled into business (+$52M) and better-priced RE</a:t>
            </a:r>
            <a:endParaRPr lang="en-US" sz="1150" dirty="0"/>
          </a:p>
        </p:txBody>
      </p:sp>
      <p:sp>
        <p:nvSpPr>
          <p:cNvPr id="9" name="Text 6"/>
          <p:cNvSpPr/>
          <p:nvPr/>
        </p:nvSpPr>
        <p:spPr>
          <a:xfrm>
            <a:off x="7543800" y="4745736"/>
            <a:ext cx="4023360" cy="320040"/>
          </a:xfrm>
          <a:prstGeom prst="rect">
            <a:avLst/>
          </a:prstGeom>
          <a:noFill/>
          <a:ln/>
        </p:spPr>
        <p:txBody>
          <a:bodyPr wrap="square" lIns="0" tIns="0" rIns="0" bIns="0" rtlCol="0" anchor="ctr"/>
          <a:lstStyle/>
          <a:p>
            <a:pPr indent="0" marL="0">
              <a:buNone/>
            </a:pPr>
            <a:r>
              <a:rPr lang="en-US" sz="1400" b="1" dirty="0">
                <a:solidFill>
                  <a:srgbClr val="1F2A44"/>
                </a:solidFill>
                <a:latin typeface="Calibri" pitchFamily="34" charset="0"/>
                <a:ea typeface="Calibri" pitchFamily="34" charset="-122"/>
                <a:cs typeface="Calibri" pitchFamily="34" charset="-120"/>
              </a:rPr>
              <a:t>Liquidity restored</a:t>
            </a:r>
            <a:endParaRPr lang="en-US" sz="1400" dirty="0"/>
          </a:p>
        </p:txBody>
      </p:sp>
      <p:sp>
        <p:nvSpPr>
          <p:cNvPr id="10" name="Text 7"/>
          <p:cNvSpPr/>
          <p:nvPr/>
        </p:nvSpPr>
        <p:spPr>
          <a:xfrm>
            <a:off x="7543800" y="5093208"/>
            <a:ext cx="4023360" cy="91440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Net liquid assets positive for the first time in the sim; $21.7M fed funds SOLD at year-end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SECTION 4 · WHAT WE PROMISED VS. WHAT HAPPENED</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Goal Realization — The Scorecard</a:t>
            </a:r>
            <a:endParaRPr lang="en-US" sz="3200" dirty="0"/>
          </a:p>
        </p:txBody>
      </p:sp>
      <p:sp>
        <p:nvSpPr>
          <p:cNvPr id="4" name="Shape 2"/>
          <p:cNvSpPr/>
          <p:nvPr/>
        </p:nvSpPr>
        <p:spPr>
          <a:xfrm>
            <a:off x="566928" y="1572768"/>
            <a:ext cx="365760" cy="365760"/>
          </a:xfrm>
          <a:prstGeom prst="ellipse">
            <a:avLst/>
          </a:prstGeom>
          <a:solidFill>
            <a:srgbClr val="2E7D32"/>
          </a:solidFill>
          <a:ln/>
        </p:spPr>
      </p:sp>
      <p:sp>
        <p:nvSpPr>
          <p:cNvPr id="5" name="Text 3"/>
          <p:cNvSpPr/>
          <p:nvPr/>
        </p:nvSpPr>
        <p:spPr>
          <a:xfrm>
            <a:off x="566928" y="157276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1097280" y="1481328"/>
            <a:ext cx="2880360" cy="777240"/>
          </a:xfrm>
          <a:prstGeom prst="rect">
            <a:avLst/>
          </a:prstGeom>
          <a:noFill/>
          <a:ln/>
        </p:spPr>
        <p:txBody>
          <a:bodyPr wrap="square" lIns="0" tIns="0" rIns="0" bIns="0" rtlCol="0" anchor="t"/>
          <a:lstStyle/>
          <a:p>
            <a:pPr indent="0" marL="0">
              <a:buNone/>
            </a:pPr>
            <a:r>
              <a:rPr lang="en-US" sz="1300" b="1" dirty="0">
                <a:solidFill>
                  <a:srgbClr val="1F2A44"/>
                </a:solidFill>
                <a:latin typeface="Calibri" pitchFamily="34" charset="0"/>
                <a:ea typeface="Calibri" pitchFamily="34" charset="-122"/>
                <a:cs typeface="Calibri" pitchFamily="34" charset="-120"/>
              </a:rPr>
              <a:t>Return to profitability</a:t>
            </a:r>
            <a:endParaRPr lang="en-US" sz="1300" dirty="0"/>
          </a:p>
        </p:txBody>
      </p:sp>
      <p:sp>
        <p:nvSpPr>
          <p:cNvPr id="7" name="Text 5"/>
          <p:cNvSpPr/>
          <p:nvPr/>
        </p:nvSpPr>
        <p:spPr>
          <a:xfrm>
            <a:off x="4069080" y="1481328"/>
            <a:ext cx="2834640" cy="777240"/>
          </a:xfrm>
          <a:prstGeom prst="rect">
            <a:avLst/>
          </a:prstGeom>
          <a:noFill/>
          <a:ln/>
        </p:spPr>
        <p:txBody>
          <a:bodyPr wrap="square" lIns="0" tIns="0" rIns="0" bIns="0" rtlCol="0" anchor="t"/>
          <a:lstStyle/>
          <a:p>
            <a:pPr indent="0" marL="0">
              <a:buNone/>
            </a:pPr>
            <a:r>
              <a:rPr lang="en-US" sz="1150" dirty="0">
                <a:solidFill>
                  <a:srgbClr val="6E7480"/>
                </a:solidFill>
                <a:latin typeface="Calibri" pitchFamily="34" charset="0"/>
                <a:ea typeface="Calibri" pitchFamily="34" charset="-122"/>
                <a:cs typeface="Calibri" pitchFamily="34" charset="-120"/>
              </a:rPr>
              <a:t>Breakeven by Q4/29</a:t>
            </a:r>
            <a:endParaRPr lang="en-US" sz="1150" dirty="0"/>
          </a:p>
        </p:txBody>
      </p:sp>
      <p:sp>
        <p:nvSpPr>
          <p:cNvPr id="8" name="Text 6"/>
          <p:cNvSpPr/>
          <p:nvPr/>
        </p:nvSpPr>
        <p:spPr>
          <a:xfrm>
            <a:off x="7040880" y="1481328"/>
            <a:ext cx="4572000" cy="777240"/>
          </a:xfrm>
          <a:prstGeom prst="rect">
            <a:avLst/>
          </a:prstGeom>
          <a:noFill/>
          <a:ln/>
        </p:spPr>
        <p:txBody>
          <a:bodyPr wrap="square" lIns="0" tIns="0" rIns="0" bIns="0" rtlCol="0" anchor="t"/>
          <a:lstStyle/>
          <a:p>
            <a:pPr indent="0" marL="0">
              <a:buNone/>
            </a:pPr>
            <a:r>
              <a:rPr lang="en-US" sz="1150" b="1" dirty="0">
                <a:solidFill>
                  <a:srgbClr val="232733"/>
                </a:solidFill>
                <a:latin typeface="Calibri" pitchFamily="34" charset="0"/>
                <a:ea typeface="Calibri" pitchFamily="34" charset="-122"/>
                <a:cs typeface="Calibri" pitchFamily="34" charset="-120"/>
              </a:rPr>
              <a:t>Breakeven Q3/29 — one quarter early; record +$3.8M by Q3/30</a:t>
            </a:r>
            <a:endParaRPr lang="en-US" sz="1150" dirty="0"/>
          </a:p>
        </p:txBody>
      </p:sp>
      <p:sp>
        <p:nvSpPr>
          <p:cNvPr id="9" name="Shape 7"/>
          <p:cNvSpPr/>
          <p:nvPr/>
        </p:nvSpPr>
        <p:spPr>
          <a:xfrm>
            <a:off x="566928" y="2386584"/>
            <a:ext cx="365760" cy="365760"/>
          </a:xfrm>
          <a:prstGeom prst="ellipse">
            <a:avLst/>
          </a:prstGeom>
          <a:solidFill>
            <a:srgbClr val="2E7D32"/>
          </a:solidFill>
          <a:ln/>
        </p:spPr>
      </p:sp>
      <p:sp>
        <p:nvSpPr>
          <p:cNvPr id="10" name="Text 8"/>
          <p:cNvSpPr/>
          <p:nvPr/>
        </p:nvSpPr>
        <p:spPr>
          <a:xfrm>
            <a:off x="566928" y="238658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097280" y="2295144"/>
            <a:ext cx="2880360" cy="777240"/>
          </a:xfrm>
          <a:prstGeom prst="rect">
            <a:avLst/>
          </a:prstGeom>
          <a:noFill/>
          <a:ln/>
        </p:spPr>
        <p:txBody>
          <a:bodyPr wrap="square" lIns="0" tIns="0" rIns="0" bIns="0" rtlCol="0" anchor="t"/>
          <a:lstStyle/>
          <a:p>
            <a:pPr indent="0" marL="0">
              <a:buNone/>
            </a:pPr>
            <a:r>
              <a:rPr lang="en-US" sz="1300" b="1" dirty="0">
                <a:solidFill>
                  <a:srgbClr val="1F2A44"/>
                </a:solidFill>
                <a:latin typeface="Calibri" pitchFamily="34" charset="0"/>
                <a:ea typeface="Calibri" pitchFamily="34" charset="-122"/>
                <a:cs typeface="Calibri" pitchFamily="34" charset="-120"/>
              </a:rPr>
              <a:t>Meet the Boulder Accord</a:t>
            </a:r>
            <a:endParaRPr lang="en-US" sz="1300" dirty="0"/>
          </a:p>
        </p:txBody>
      </p:sp>
      <p:sp>
        <p:nvSpPr>
          <p:cNvPr id="12" name="Text 10"/>
          <p:cNvSpPr/>
          <p:nvPr/>
        </p:nvSpPr>
        <p:spPr>
          <a:xfrm>
            <a:off x="4069080" y="2295144"/>
            <a:ext cx="2834640" cy="777240"/>
          </a:xfrm>
          <a:prstGeom prst="rect">
            <a:avLst/>
          </a:prstGeom>
          <a:noFill/>
          <a:ln/>
        </p:spPr>
        <p:txBody>
          <a:bodyPr wrap="square" lIns="0" tIns="0" rIns="0" bIns="0" rtlCol="0" anchor="t"/>
          <a:lstStyle/>
          <a:p>
            <a:pPr indent="0" marL="0">
              <a:buNone/>
            </a:pPr>
            <a:r>
              <a:rPr lang="en-US" sz="1150" dirty="0">
                <a:solidFill>
                  <a:srgbClr val="6E7480"/>
                </a:solidFill>
                <a:latin typeface="Calibri" pitchFamily="34" charset="0"/>
                <a:ea typeface="Calibri" pitchFamily="34" charset="-122"/>
                <a:cs typeface="Calibri" pitchFamily="34" charset="-120"/>
              </a:rPr>
              <a:t>10% risk capital by Q4/29</a:t>
            </a:r>
            <a:endParaRPr lang="en-US" sz="1150" dirty="0"/>
          </a:p>
        </p:txBody>
      </p:sp>
      <p:sp>
        <p:nvSpPr>
          <p:cNvPr id="13" name="Text 11"/>
          <p:cNvSpPr/>
          <p:nvPr/>
        </p:nvSpPr>
        <p:spPr>
          <a:xfrm>
            <a:off x="7040880" y="2295144"/>
            <a:ext cx="4572000" cy="777240"/>
          </a:xfrm>
          <a:prstGeom prst="rect">
            <a:avLst/>
          </a:prstGeom>
          <a:noFill/>
          <a:ln/>
        </p:spPr>
        <p:txBody>
          <a:bodyPr wrap="square" lIns="0" tIns="0" rIns="0" bIns="0" rtlCol="0" anchor="t"/>
          <a:lstStyle/>
          <a:p>
            <a:pPr indent="0" marL="0">
              <a:buNone/>
            </a:pPr>
            <a:r>
              <a:rPr lang="en-US" sz="1150" b="1" dirty="0">
                <a:solidFill>
                  <a:srgbClr val="232733"/>
                </a:solidFill>
                <a:latin typeface="Calibri" pitchFamily="34" charset="0"/>
                <a:ea typeface="Calibri" pitchFamily="34" charset="-122"/>
                <a:cs typeface="Calibri" pitchFamily="34" charset="-120"/>
              </a:rPr>
              <a:t>10.85% on the deadline; finished 2030 at 12.2%</a:t>
            </a:r>
            <a:endParaRPr lang="en-US" sz="1150" dirty="0"/>
          </a:p>
        </p:txBody>
      </p:sp>
      <p:sp>
        <p:nvSpPr>
          <p:cNvPr id="14" name="Shape 12"/>
          <p:cNvSpPr/>
          <p:nvPr/>
        </p:nvSpPr>
        <p:spPr>
          <a:xfrm>
            <a:off x="566928" y="3200400"/>
            <a:ext cx="365760" cy="365760"/>
          </a:xfrm>
          <a:prstGeom prst="ellipse">
            <a:avLst/>
          </a:prstGeom>
          <a:solidFill>
            <a:srgbClr val="2E7D32"/>
          </a:solidFill>
          <a:ln/>
        </p:spPr>
      </p:sp>
      <p:sp>
        <p:nvSpPr>
          <p:cNvPr id="15" name="Text 13"/>
          <p:cNvSpPr/>
          <p:nvPr/>
        </p:nvSpPr>
        <p:spPr>
          <a:xfrm>
            <a:off x="566928" y="320040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097280" y="3108960"/>
            <a:ext cx="2880360" cy="777240"/>
          </a:xfrm>
          <a:prstGeom prst="rect">
            <a:avLst/>
          </a:prstGeom>
          <a:noFill/>
          <a:ln/>
        </p:spPr>
        <p:txBody>
          <a:bodyPr wrap="square" lIns="0" tIns="0" rIns="0" bIns="0" rtlCol="0" anchor="t"/>
          <a:lstStyle/>
          <a:p>
            <a:pPr indent="0" marL="0">
              <a:buNone/>
            </a:pPr>
            <a:r>
              <a:rPr lang="en-US" sz="1300" b="1" dirty="0">
                <a:solidFill>
                  <a:srgbClr val="1F2A44"/>
                </a:solidFill>
                <a:latin typeface="Calibri" pitchFamily="34" charset="0"/>
                <a:ea typeface="Calibri" pitchFamily="34" charset="-122"/>
                <a:cs typeface="Calibri" pitchFamily="34" charset="-120"/>
              </a:rPr>
              <a:t>Fix the funding base</a:t>
            </a:r>
            <a:endParaRPr lang="en-US" sz="1300" dirty="0"/>
          </a:p>
        </p:txBody>
      </p:sp>
      <p:sp>
        <p:nvSpPr>
          <p:cNvPr id="17" name="Text 15"/>
          <p:cNvSpPr/>
          <p:nvPr/>
        </p:nvSpPr>
        <p:spPr>
          <a:xfrm>
            <a:off x="4069080" y="3108960"/>
            <a:ext cx="2834640" cy="777240"/>
          </a:xfrm>
          <a:prstGeom prst="rect">
            <a:avLst/>
          </a:prstGeom>
          <a:noFill/>
          <a:ln/>
        </p:spPr>
        <p:txBody>
          <a:bodyPr wrap="square" lIns="0" tIns="0" rIns="0" bIns="0" rtlCol="0" anchor="t"/>
          <a:lstStyle/>
          <a:p>
            <a:pPr indent="0" marL="0">
              <a:buNone/>
            </a:pPr>
            <a:r>
              <a:rPr lang="en-US" sz="1150" dirty="0">
                <a:solidFill>
                  <a:srgbClr val="6E7480"/>
                </a:solidFill>
                <a:latin typeface="Calibri" pitchFamily="34" charset="0"/>
                <a:ea typeface="Calibri" pitchFamily="34" charset="-122"/>
                <a:cs typeface="Calibri" pitchFamily="34" charset="-120"/>
              </a:rPr>
              <a:t>FFP &lt; 100% of equity, durably</a:t>
            </a:r>
            <a:endParaRPr lang="en-US" sz="1150" dirty="0"/>
          </a:p>
        </p:txBody>
      </p:sp>
      <p:sp>
        <p:nvSpPr>
          <p:cNvPr id="18" name="Text 16"/>
          <p:cNvSpPr/>
          <p:nvPr/>
        </p:nvSpPr>
        <p:spPr>
          <a:xfrm>
            <a:off x="7040880" y="3108960"/>
            <a:ext cx="4572000" cy="777240"/>
          </a:xfrm>
          <a:prstGeom prst="rect">
            <a:avLst/>
          </a:prstGeom>
          <a:noFill/>
          <a:ln/>
        </p:spPr>
        <p:txBody>
          <a:bodyPr wrap="square" lIns="0" tIns="0" rIns="0" bIns="0" rtlCol="0" anchor="t"/>
          <a:lstStyle/>
          <a:p>
            <a:pPr indent="0" marL="0">
              <a:buNone/>
            </a:pPr>
            <a:r>
              <a:rPr lang="en-US" sz="1150" b="1" dirty="0">
                <a:solidFill>
                  <a:srgbClr val="232733"/>
                </a:solidFill>
                <a:latin typeface="Calibri" pitchFamily="34" charset="0"/>
                <a:ea typeface="Calibri" pitchFamily="34" charset="-122"/>
                <a:cs typeface="Calibri" pitchFamily="34" charset="-120"/>
              </a:rPr>
              <a:t>Cured twice, then structurally: 0% by Q3/30; ~99% core deposits</a:t>
            </a:r>
            <a:endParaRPr lang="en-US" sz="1150" dirty="0"/>
          </a:p>
        </p:txBody>
      </p:sp>
      <p:sp>
        <p:nvSpPr>
          <p:cNvPr id="19" name="Shape 17"/>
          <p:cNvSpPr/>
          <p:nvPr/>
        </p:nvSpPr>
        <p:spPr>
          <a:xfrm>
            <a:off x="566928" y="4014216"/>
            <a:ext cx="365760" cy="365760"/>
          </a:xfrm>
          <a:prstGeom prst="ellipse">
            <a:avLst/>
          </a:prstGeom>
          <a:solidFill>
            <a:srgbClr val="2E7D32"/>
          </a:solidFill>
          <a:ln/>
        </p:spPr>
      </p:sp>
      <p:sp>
        <p:nvSpPr>
          <p:cNvPr id="20" name="Text 18"/>
          <p:cNvSpPr/>
          <p:nvPr/>
        </p:nvSpPr>
        <p:spPr>
          <a:xfrm>
            <a:off x="566928" y="401421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1097280" y="3922776"/>
            <a:ext cx="2880360" cy="777240"/>
          </a:xfrm>
          <a:prstGeom prst="rect">
            <a:avLst/>
          </a:prstGeom>
          <a:noFill/>
          <a:ln/>
        </p:spPr>
        <p:txBody>
          <a:bodyPr wrap="square" lIns="0" tIns="0" rIns="0" bIns="0" rtlCol="0" anchor="t"/>
          <a:lstStyle/>
          <a:p>
            <a:pPr indent="0" marL="0">
              <a:buNone/>
            </a:pPr>
            <a:r>
              <a:rPr lang="en-US" sz="1300" b="1" dirty="0">
                <a:solidFill>
                  <a:srgbClr val="1F2A44"/>
                </a:solidFill>
                <a:latin typeface="Calibri" pitchFamily="34" charset="0"/>
                <a:ea typeface="Calibri" pitchFamily="34" charset="-122"/>
                <a:cs typeface="Calibri" pitchFamily="34" charset="-120"/>
              </a:rPr>
              <a:t>Restore the dividend</a:t>
            </a:r>
            <a:endParaRPr lang="en-US" sz="1300" dirty="0"/>
          </a:p>
        </p:txBody>
      </p:sp>
      <p:sp>
        <p:nvSpPr>
          <p:cNvPr id="22" name="Text 20"/>
          <p:cNvSpPr/>
          <p:nvPr/>
        </p:nvSpPr>
        <p:spPr>
          <a:xfrm>
            <a:off x="4069080" y="3922776"/>
            <a:ext cx="2834640" cy="777240"/>
          </a:xfrm>
          <a:prstGeom prst="rect">
            <a:avLst/>
          </a:prstGeom>
          <a:noFill/>
          <a:ln/>
        </p:spPr>
        <p:txBody>
          <a:bodyPr wrap="square" lIns="0" tIns="0" rIns="0" bIns="0" rtlCol="0" anchor="t"/>
          <a:lstStyle/>
          <a:p>
            <a:pPr indent="0" marL="0">
              <a:buNone/>
            </a:pPr>
            <a:r>
              <a:rPr lang="en-US" sz="1150" dirty="0">
                <a:solidFill>
                  <a:srgbClr val="6E7480"/>
                </a:solidFill>
                <a:latin typeface="Calibri" pitchFamily="34" charset="0"/>
                <a:ea typeface="Calibri" pitchFamily="34" charset="-122"/>
                <a:cs typeface="Calibri" pitchFamily="34" charset="-120"/>
              </a:rPr>
              <a:t>Restart when lawful &amp; sustainable</a:t>
            </a:r>
            <a:endParaRPr lang="en-US" sz="1150" dirty="0"/>
          </a:p>
        </p:txBody>
      </p:sp>
      <p:sp>
        <p:nvSpPr>
          <p:cNvPr id="23" name="Text 21"/>
          <p:cNvSpPr/>
          <p:nvPr/>
        </p:nvSpPr>
        <p:spPr>
          <a:xfrm>
            <a:off x="7040880" y="3922776"/>
            <a:ext cx="4572000" cy="777240"/>
          </a:xfrm>
          <a:prstGeom prst="rect">
            <a:avLst/>
          </a:prstGeom>
          <a:noFill/>
          <a:ln/>
        </p:spPr>
        <p:txBody>
          <a:bodyPr wrap="square" lIns="0" tIns="0" rIns="0" bIns="0" rtlCol="0" anchor="t"/>
          <a:lstStyle/>
          <a:p>
            <a:pPr indent="0" marL="0">
              <a:buNone/>
            </a:pPr>
            <a:r>
              <a:rPr lang="en-US" sz="1150" b="1" dirty="0">
                <a:solidFill>
                  <a:srgbClr val="232733"/>
                </a:solidFill>
                <a:latin typeface="Calibri" pitchFamily="34" charset="0"/>
                <a:ea typeface="Calibri" pitchFamily="34" charset="-122"/>
                <a:cs typeface="Calibri" pitchFamily="34" charset="-120"/>
              </a:rPr>
              <a:t>$0.25 in Q1/30 → $0.50 by Q4/30; $1.40 paid for the year</a:t>
            </a:r>
            <a:endParaRPr lang="en-US" sz="1150" dirty="0"/>
          </a:p>
        </p:txBody>
      </p:sp>
      <p:sp>
        <p:nvSpPr>
          <p:cNvPr id="24" name="Shape 22"/>
          <p:cNvSpPr/>
          <p:nvPr/>
        </p:nvSpPr>
        <p:spPr>
          <a:xfrm>
            <a:off x="566928" y="4828032"/>
            <a:ext cx="365760" cy="365760"/>
          </a:xfrm>
          <a:prstGeom prst="ellipse">
            <a:avLst/>
          </a:prstGeom>
          <a:solidFill>
            <a:srgbClr val="2E7D32"/>
          </a:solidFill>
          <a:ln/>
        </p:spPr>
      </p:sp>
      <p:sp>
        <p:nvSpPr>
          <p:cNvPr id="25" name="Text 23"/>
          <p:cNvSpPr/>
          <p:nvPr/>
        </p:nvSpPr>
        <p:spPr>
          <a:xfrm>
            <a:off x="566928" y="48280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1097280" y="4736592"/>
            <a:ext cx="2880360" cy="777240"/>
          </a:xfrm>
          <a:prstGeom prst="rect">
            <a:avLst/>
          </a:prstGeom>
          <a:noFill/>
          <a:ln/>
        </p:spPr>
        <p:txBody>
          <a:bodyPr wrap="square" lIns="0" tIns="0" rIns="0" bIns="0" rtlCol="0" anchor="t"/>
          <a:lstStyle/>
          <a:p>
            <a:pPr indent="0" marL="0">
              <a:buNone/>
            </a:pPr>
            <a:r>
              <a:rPr lang="en-US" sz="1300" b="1" dirty="0">
                <a:solidFill>
                  <a:srgbClr val="1F2A44"/>
                </a:solidFill>
                <a:latin typeface="Calibri" pitchFamily="34" charset="0"/>
                <a:ea typeface="Calibri" pitchFamily="34" charset="-122"/>
                <a:cs typeface="Calibri" pitchFamily="34" charset="-120"/>
              </a:rPr>
              <a:t>Rebuild market credibility</a:t>
            </a:r>
            <a:endParaRPr lang="en-US" sz="1300" dirty="0"/>
          </a:p>
        </p:txBody>
      </p:sp>
      <p:sp>
        <p:nvSpPr>
          <p:cNvPr id="27" name="Text 25"/>
          <p:cNvSpPr/>
          <p:nvPr/>
        </p:nvSpPr>
        <p:spPr>
          <a:xfrm>
            <a:off x="4069080" y="4736592"/>
            <a:ext cx="2834640" cy="777240"/>
          </a:xfrm>
          <a:prstGeom prst="rect">
            <a:avLst/>
          </a:prstGeom>
          <a:noFill/>
          <a:ln/>
        </p:spPr>
        <p:txBody>
          <a:bodyPr wrap="square" lIns="0" tIns="0" rIns="0" bIns="0" rtlCol="0" anchor="t"/>
          <a:lstStyle/>
          <a:p>
            <a:pPr indent="0" marL="0">
              <a:buNone/>
            </a:pPr>
            <a:r>
              <a:rPr lang="en-US" sz="1150" dirty="0">
                <a:solidFill>
                  <a:srgbClr val="6E7480"/>
                </a:solidFill>
                <a:latin typeface="Calibri" pitchFamily="34" charset="0"/>
                <a:ea typeface="Calibri" pitchFamily="34" charset="-122"/>
                <a:cs typeface="Calibri" pitchFamily="34" charset="-120"/>
              </a:rPr>
              <a:t>Regain B rating; guide honestly</a:t>
            </a:r>
            <a:endParaRPr lang="en-US" sz="1150" dirty="0"/>
          </a:p>
        </p:txBody>
      </p:sp>
      <p:sp>
        <p:nvSpPr>
          <p:cNvPr id="28" name="Text 26"/>
          <p:cNvSpPr/>
          <p:nvPr/>
        </p:nvSpPr>
        <p:spPr>
          <a:xfrm>
            <a:off x="7040880" y="4736592"/>
            <a:ext cx="4572000" cy="777240"/>
          </a:xfrm>
          <a:prstGeom prst="rect">
            <a:avLst/>
          </a:prstGeom>
          <a:noFill/>
          <a:ln/>
        </p:spPr>
        <p:txBody>
          <a:bodyPr wrap="square" lIns="0" tIns="0" rIns="0" bIns="0" rtlCol="0" anchor="t"/>
          <a:lstStyle/>
          <a:p>
            <a:pPr indent="0" marL="0">
              <a:buNone/>
            </a:pPr>
            <a:r>
              <a:rPr lang="en-US" sz="1150" b="1" dirty="0">
                <a:solidFill>
                  <a:srgbClr val="232733"/>
                </a:solidFill>
                <a:latin typeface="Calibri" pitchFamily="34" charset="0"/>
                <a:ea typeface="Calibri" pitchFamily="34" charset="-122"/>
                <a:cs typeface="Calibri" pitchFamily="34" charset="-120"/>
              </a:rPr>
              <a:t>C → B → A; beat guidance 4 of final 5 quarters</a:t>
            </a:r>
            <a:endParaRPr lang="en-US" sz="1150" dirty="0"/>
          </a:p>
        </p:txBody>
      </p:sp>
      <p:sp>
        <p:nvSpPr>
          <p:cNvPr id="29" name="Shape 27"/>
          <p:cNvSpPr/>
          <p:nvPr/>
        </p:nvSpPr>
        <p:spPr>
          <a:xfrm>
            <a:off x="566928" y="5641848"/>
            <a:ext cx="365760" cy="365760"/>
          </a:xfrm>
          <a:prstGeom prst="ellipse">
            <a:avLst/>
          </a:prstGeom>
          <a:solidFill>
            <a:srgbClr val="B9791F"/>
          </a:solidFill>
          <a:ln/>
        </p:spPr>
      </p:sp>
      <p:sp>
        <p:nvSpPr>
          <p:cNvPr id="30" name="Text 28"/>
          <p:cNvSpPr/>
          <p:nvPr/>
        </p:nvSpPr>
        <p:spPr>
          <a:xfrm>
            <a:off x="566928" y="564184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1097280" y="5550408"/>
            <a:ext cx="2880360" cy="777240"/>
          </a:xfrm>
          <a:prstGeom prst="rect">
            <a:avLst/>
          </a:prstGeom>
          <a:noFill/>
          <a:ln/>
        </p:spPr>
        <p:txBody>
          <a:bodyPr wrap="square" lIns="0" tIns="0" rIns="0" bIns="0" rtlCol="0" anchor="t"/>
          <a:lstStyle/>
          <a:p>
            <a:pPr indent="0" marL="0">
              <a:buNone/>
            </a:pPr>
            <a:r>
              <a:rPr lang="en-US" sz="1300" b="1" dirty="0">
                <a:solidFill>
                  <a:srgbClr val="1F2A44"/>
                </a:solidFill>
                <a:latin typeface="Calibri" pitchFamily="34" charset="0"/>
                <a:ea typeface="Calibri" pitchFamily="34" charset="-122"/>
                <a:cs typeface="Calibri" pitchFamily="34" charset="-120"/>
              </a:rPr>
              <a:t>Win the stock race</a:t>
            </a:r>
            <a:endParaRPr lang="en-US" sz="1300" dirty="0"/>
          </a:p>
        </p:txBody>
      </p:sp>
      <p:sp>
        <p:nvSpPr>
          <p:cNvPr id="32" name="Text 30"/>
          <p:cNvSpPr/>
          <p:nvPr/>
        </p:nvSpPr>
        <p:spPr>
          <a:xfrm>
            <a:off x="4069080" y="5550408"/>
            <a:ext cx="2834640" cy="777240"/>
          </a:xfrm>
          <a:prstGeom prst="rect">
            <a:avLst/>
          </a:prstGeom>
          <a:noFill/>
          <a:ln/>
        </p:spPr>
        <p:txBody>
          <a:bodyPr wrap="square" lIns="0" tIns="0" rIns="0" bIns="0" rtlCol="0" anchor="t"/>
          <a:lstStyle/>
          <a:p>
            <a:pPr indent="0" marL="0">
              <a:buNone/>
            </a:pPr>
            <a:r>
              <a:rPr lang="en-US" sz="1150" dirty="0">
                <a:solidFill>
                  <a:srgbClr val="6E7480"/>
                </a:solidFill>
                <a:latin typeface="Calibri" pitchFamily="34" charset="0"/>
                <a:ea typeface="Calibri" pitchFamily="34" charset="-122"/>
                <a:cs typeface="Calibri" pitchFamily="34" charset="-120"/>
              </a:rPr>
              <a:t>Finish top of the community</a:t>
            </a:r>
            <a:endParaRPr lang="en-US" sz="1150" dirty="0"/>
          </a:p>
        </p:txBody>
      </p:sp>
      <p:sp>
        <p:nvSpPr>
          <p:cNvPr id="33" name="Text 31"/>
          <p:cNvSpPr/>
          <p:nvPr/>
        </p:nvSpPr>
        <p:spPr>
          <a:xfrm>
            <a:off x="7040880" y="5550408"/>
            <a:ext cx="4572000" cy="777240"/>
          </a:xfrm>
          <a:prstGeom prst="rect">
            <a:avLst/>
          </a:prstGeom>
          <a:noFill/>
          <a:ln/>
        </p:spPr>
        <p:txBody>
          <a:bodyPr wrap="square" lIns="0" tIns="0" rIns="0" bIns="0" rtlCol="0" anchor="t"/>
          <a:lstStyle/>
          <a:p>
            <a:pPr indent="0" marL="0">
              <a:buNone/>
            </a:pPr>
            <a:r>
              <a:rPr lang="en-US" sz="1150" b="1" dirty="0">
                <a:solidFill>
                  <a:srgbClr val="232733"/>
                </a:solidFill>
                <a:latin typeface="Calibri" pitchFamily="34" charset="0"/>
                <a:ea typeface="Calibri" pitchFamily="34" charset="-122"/>
                <a:cs typeface="Calibri" pitchFamily="34" charset="-120"/>
              </a:rPr>
              <a:t>#2 of 5 at $41.36 — within $1.75 of the champion</a:t>
            </a:r>
            <a:endParaRPr lang="en-US" sz="1150" dirty="0"/>
          </a:p>
        </p:txBody>
      </p:sp>
      <p:sp>
        <p:nvSpPr>
          <p:cNvPr id="34" name="Text 32"/>
          <p:cNvSpPr/>
          <p:nvPr/>
        </p:nvSpPr>
        <p:spPr>
          <a:xfrm>
            <a:off x="1097280" y="1188720"/>
            <a:ext cx="1828800" cy="256032"/>
          </a:xfrm>
          <a:prstGeom prst="rect">
            <a:avLst/>
          </a:prstGeom>
          <a:noFill/>
          <a:ln/>
        </p:spPr>
        <p:txBody>
          <a:bodyPr wrap="square" lIns="0" tIns="0" rIns="0" bIns="0" rtlCol="0" anchor="ctr"/>
          <a:lstStyle/>
          <a:p>
            <a:pPr indent="0" marL="0">
              <a:buNone/>
            </a:pPr>
            <a:r>
              <a:rPr lang="en-US" sz="1000" b="1" spc="200" kern="0" dirty="0">
                <a:solidFill>
                  <a:srgbClr val="6E7480"/>
                </a:solidFill>
                <a:latin typeface="Calibri" pitchFamily="34" charset="0"/>
                <a:ea typeface="Calibri" pitchFamily="34" charset="-122"/>
                <a:cs typeface="Calibri" pitchFamily="34" charset="-120"/>
              </a:rPr>
              <a:t>THE GOAL</a:t>
            </a:r>
            <a:endParaRPr lang="en-US" sz="1000" dirty="0"/>
          </a:p>
        </p:txBody>
      </p:sp>
      <p:sp>
        <p:nvSpPr>
          <p:cNvPr id="35" name="Text 33"/>
          <p:cNvSpPr/>
          <p:nvPr/>
        </p:nvSpPr>
        <p:spPr>
          <a:xfrm>
            <a:off x="4069080" y="1188720"/>
            <a:ext cx="1828800" cy="256032"/>
          </a:xfrm>
          <a:prstGeom prst="rect">
            <a:avLst/>
          </a:prstGeom>
          <a:noFill/>
          <a:ln/>
        </p:spPr>
        <p:txBody>
          <a:bodyPr wrap="square" lIns="0" tIns="0" rIns="0" bIns="0" rtlCol="0" anchor="ctr"/>
          <a:lstStyle/>
          <a:p>
            <a:pPr indent="0" marL="0">
              <a:buNone/>
            </a:pPr>
            <a:r>
              <a:rPr lang="en-US" sz="1000" b="1" spc="200" kern="0" dirty="0">
                <a:solidFill>
                  <a:srgbClr val="6E7480"/>
                </a:solidFill>
                <a:latin typeface="Calibri" pitchFamily="34" charset="0"/>
                <a:ea typeface="Calibri" pitchFamily="34" charset="-122"/>
                <a:cs typeface="Calibri" pitchFamily="34" charset="-120"/>
              </a:rPr>
              <a:t>THE TARGET</a:t>
            </a:r>
            <a:endParaRPr lang="en-US" sz="1000" dirty="0"/>
          </a:p>
        </p:txBody>
      </p:sp>
      <p:sp>
        <p:nvSpPr>
          <p:cNvPr id="36" name="Text 34"/>
          <p:cNvSpPr/>
          <p:nvPr/>
        </p:nvSpPr>
        <p:spPr>
          <a:xfrm>
            <a:off x="7040880" y="1188720"/>
            <a:ext cx="1828800" cy="256032"/>
          </a:xfrm>
          <a:prstGeom prst="rect">
            <a:avLst/>
          </a:prstGeom>
          <a:noFill/>
          <a:ln/>
        </p:spPr>
        <p:txBody>
          <a:bodyPr wrap="square" lIns="0" tIns="0" rIns="0" bIns="0" rtlCol="0" anchor="ctr"/>
          <a:lstStyle/>
          <a:p>
            <a:pPr indent="0" marL="0">
              <a:buNone/>
            </a:pPr>
            <a:r>
              <a:rPr lang="en-US" sz="1000" b="1" spc="200" kern="0" dirty="0">
                <a:solidFill>
                  <a:srgbClr val="6E7480"/>
                </a:solidFill>
                <a:latin typeface="Calibri" pitchFamily="34" charset="0"/>
                <a:ea typeface="Calibri" pitchFamily="34" charset="-122"/>
                <a:cs typeface="Calibri" pitchFamily="34" charset="-120"/>
              </a:rPr>
              <a:t>THE RESULT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SECTION 4 · REGULATORY COMPLIANCE — TWO DINGS, BOTH CURED</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The Distiller's License</a:t>
            </a:r>
            <a:endParaRPr lang="en-US" sz="3200" dirty="0"/>
          </a:p>
        </p:txBody>
      </p:sp>
      <p:sp>
        <p:nvSpPr>
          <p:cNvPr id="4" name="Shape 2"/>
          <p:cNvSpPr/>
          <p:nvPr/>
        </p:nvSpPr>
        <p:spPr>
          <a:xfrm>
            <a:off x="548640" y="1444752"/>
            <a:ext cx="11064240" cy="777240"/>
          </a:xfrm>
          <a:prstGeom prst="roundRect">
            <a:avLst>
              <a:gd name="adj" fmla="val 7059"/>
            </a:avLst>
          </a:prstGeom>
          <a:solidFill>
            <a:srgbClr val="FAF7F0"/>
          </a:solidFill>
          <a:ln/>
        </p:spPr>
      </p:sp>
      <p:sp>
        <p:nvSpPr>
          <p:cNvPr id="5" name="Text 3"/>
          <p:cNvSpPr/>
          <p:nvPr/>
        </p:nvSpPr>
        <p:spPr>
          <a:xfrm>
            <a:off x="777240" y="1499616"/>
            <a:ext cx="3931920" cy="685800"/>
          </a:xfrm>
          <a:prstGeom prst="rect">
            <a:avLst/>
          </a:prstGeom>
          <a:noFill/>
          <a:ln/>
        </p:spPr>
        <p:txBody>
          <a:bodyPr wrap="square" lIns="0" tIns="0" rIns="0" bIns="0" rtlCol="0" anchor="ctr"/>
          <a:lstStyle/>
          <a:p>
            <a:pPr indent="0" marL="0">
              <a:buNone/>
            </a:pPr>
            <a:r>
              <a:rPr lang="en-US" sz="1150" b="1" dirty="0">
                <a:solidFill>
                  <a:srgbClr val="1F2A44"/>
                </a:solidFill>
                <a:latin typeface="Calibri" pitchFamily="34" charset="0"/>
                <a:ea typeface="Calibri" pitchFamily="34" charset="-122"/>
                <a:cs typeface="Calibri" pitchFamily="34" charset="-120"/>
              </a:rPr>
              <a:t>Boulder Capital Accord (6% / 10% by 4Q29)</a:t>
            </a:r>
            <a:endParaRPr lang="en-US" sz="1150" dirty="0"/>
          </a:p>
        </p:txBody>
      </p:sp>
      <p:sp>
        <p:nvSpPr>
          <p:cNvPr id="6" name="Text 4"/>
          <p:cNvSpPr/>
          <p:nvPr/>
        </p:nvSpPr>
        <p:spPr>
          <a:xfrm>
            <a:off x="4754880" y="1499616"/>
            <a:ext cx="2148840" cy="685800"/>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MET ON DEADLINE</a:t>
            </a:r>
            <a:endParaRPr lang="en-US" sz="1050" dirty="0"/>
          </a:p>
        </p:txBody>
      </p:sp>
      <p:sp>
        <p:nvSpPr>
          <p:cNvPr id="7" name="Text 5"/>
          <p:cNvSpPr/>
          <p:nvPr/>
        </p:nvSpPr>
        <p:spPr>
          <a:xfrm>
            <a:off x="6949440" y="1499616"/>
            <a:ext cx="4572000" cy="685800"/>
          </a:xfrm>
          <a:prstGeom prst="rect">
            <a:avLst/>
          </a:prstGeom>
          <a:noFill/>
          <a:ln/>
        </p:spPr>
        <p:txBody>
          <a:bodyPr wrap="square" lIns="0" tIns="0" rIns="0" bIns="0" rtlCol="0" anchor="ctr"/>
          <a:lstStyle/>
          <a:p>
            <a:pPr indent="0" marL="0">
              <a:buNone/>
            </a:pPr>
            <a:r>
              <a:rPr lang="en-US" sz="1050" dirty="0">
                <a:solidFill>
                  <a:srgbClr val="232733"/>
                </a:solidFill>
                <a:latin typeface="Calibri" pitchFamily="34" charset="0"/>
                <a:ea typeface="Calibri" pitchFamily="34" charset="-122"/>
                <a:cs typeface="Calibri" pitchFamily="34" charset="-120"/>
              </a:rPr>
              <a:t>10.85% TRBC in Q4/29 via $18M common + $5M sub notes; ended at 12.2% / 9.05% leverage</a:t>
            </a:r>
            <a:endParaRPr lang="en-US" sz="1050" dirty="0"/>
          </a:p>
        </p:txBody>
      </p:sp>
      <p:sp>
        <p:nvSpPr>
          <p:cNvPr id="8" name="Shape 6"/>
          <p:cNvSpPr/>
          <p:nvPr/>
        </p:nvSpPr>
        <p:spPr>
          <a:xfrm>
            <a:off x="548640" y="2286000"/>
            <a:ext cx="11064240" cy="777240"/>
          </a:xfrm>
          <a:prstGeom prst="roundRect">
            <a:avLst>
              <a:gd name="adj" fmla="val 7059"/>
            </a:avLst>
          </a:prstGeom>
          <a:solidFill>
            <a:srgbClr val="FAF7F0"/>
          </a:solidFill>
          <a:ln/>
        </p:spPr>
      </p:sp>
      <p:sp>
        <p:nvSpPr>
          <p:cNvPr id="9" name="Text 7"/>
          <p:cNvSpPr/>
          <p:nvPr/>
        </p:nvSpPr>
        <p:spPr>
          <a:xfrm>
            <a:off x="777240" y="2340864"/>
            <a:ext cx="3931920" cy="685800"/>
          </a:xfrm>
          <a:prstGeom prst="rect">
            <a:avLst/>
          </a:prstGeom>
          <a:noFill/>
          <a:ln/>
        </p:spPr>
        <p:txBody>
          <a:bodyPr wrap="square" lIns="0" tIns="0" rIns="0" bIns="0" rtlCol="0" anchor="ctr"/>
          <a:lstStyle/>
          <a:p>
            <a:pPr indent="0" marL="0">
              <a:buNone/>
            </a:pPr>
            <a:r>
              <a:rPr lang="en-US" sz="1150" b="1" dirty="0">
                <a:solidFill>
                  <a:srgbClr val="1F2A44"/>
                </a:solidFill>
                <a:latin typeface="Calibri" pitchFamily="34" charset="0"/>
                <a:ea typeface="Calibri" pitchFamily="34" charset="-122"/>
                <a:cs typeface="Calibri" pitchFamily="34" charset="-120"/>
              </a:rPr>
              <a:t>Fed funds purchased ≤ 100% of equity</a:t>
            </a:r>
            <a:endParaRPr lang="en-US" sz="1150" dirty="0"/>
          </a:p>
        </p:txBody>
      </p:sp>
      <p:sp>
        <p:nvSpPr>
          <p:cNvPr id="10" name="Text 8"/>
          <p:cNvSpPr/>
          <p:nvPr/>
        </p:nvSpPr>
        <p:spPr>
          <a:xfrm>
            <a:off x="4754880" y="2340864"/>
            <a:ext cx="2148840" cy="685800"/>
          </a:xfrm>
          <a:prstGeom prst="rect">
            <a:avLst/>
          </a:prstGeom>
          <a:noFill/>
          <a:ln/>
        </p:spPr>
        <p:txBody>
          <a:bodyPr wrap="square" lIns="0" tIns="0" rIns="0" bIns="0" rtlCol="0" anchor="ctr"/>
          <a:lstStyle/>
          <a:p>
            <a:pPr indent="0" marL="0">
              <a:buNone/>
            </a:pPr>
            <a:r>
              <a:rPr lang="en-US" sz="1050" b="1" dirty="0">
                <a:solidFill>
                  <a:srgbClr val="B9791F"/>
                </a:solidFill>
                <a:latin typeface="Calibri" pitchFamily="34" charset="0"/>
                <a:ea typeface="Calibri" pitchFamily="34" charset="-122"/>
                <a:cs typeface="Calibri" pitchFamily="34" charset="-120"/>
              </a:rPr>
              <a:t>BREACHED, THEN CURED</a:t>
            </a:r>
            <a:endParaRPr lang="en-US" sz="1050" dirty="0"/>
          </a:p>
        </p:txBody>
      </p:sp>
      <p:sp>
        <p:nvSpPr>
          <p:cNvPr id="11" name="Text 9"/>
          <p:cNvSpPr/>
          <p:nvPr/>
        </p:nvSpPr>
        <p:spPr>
          <a:xfrm>
            <a:off x="6949440" y="2340864"/>
            <a:ext cx="4572000" cy="685800"/>
          </a:xfrm>
          <a:prstGeom prst="rect">
            <a:avLst/>
          </a:prstGeom>
          <a:noFill/>
          <a:ln/>
        </p:spPr>
        <p:txBody>
          <a:bodyPr wrap="square" lIns="0" tIns="0" rIns="0" bIns="0" rtlCol="0" anchor="ctr"/>
          <a:lstStyle/>
          <a:p>
            <a:pPr indent="0" marL="0">
              <a:buNone/>
            </a:pPr>
            <a:r>
              <a:rPr lang="en-US" sz="1050" dirty="0">
                <a:solidFill>
                  <a:srgbClr val="232733"/>
                </a:solidFill>
                <a:latin typeface="Calibri" pitchFamily="34" charset="0"/>
                <a:ea typeface="Calibri" pitchFamily="34" charset="-122"/>
                <a:cs typeface="Calibri" pitchFamily="34" charset="-120"/>
              </a:rPr>
              <a:t>Over the line Q2–Q3/29 during the loan surge (132%, 139%); cured Q4/29; $0 by Q3/30 — never again</a:t>
            </a:r>
            <a:endParaRPr lang="en-US" sz="1050" dirty="0"/>
          </a:p>
        </p:txBody>
      </p:sp>
      <p:sp>
        <p:nvSpPr>
          <p:cNvPr id="12" name="Shape 10"/>
          <p:cNvSpPr/>
          <p:nvPr/>
        </p:nvSpPr>
        <p:spPr>
          <a:xfrm>
            <a:off x="548640" y="3127248"/>
            <a:ext cx="11064240" cy="777240"/>
          </a:xfrm>
          <a:prstGeom prst="roundRect">
            <a:avLst>
              <a:gd name="adj" fmla="val 7059"/>
            </a:avLst>
          </a:prstGeom>
          <a:solidFill>
            <a:srgbClr val="FAF7F0"/>
          </a:solidFill>
          <a:ln/>
        </p:spPr>
      </p:sp>
      <p:sp>
        <p:nvSpPr>
          <p:cNvPr id="13" name="Text 11"/>
          <p:cNvSpPr/>
          <p:nvPr/>
        </p:nvSpPr>
        <p:spPr>
          <a:xfrm>
            <a:off x="777240" y="3182112"/>
            <a:ext cx="3931920" cy="685800"/>
          </a:xfrm>
          <a:prstGeom prst="rect">
            <a:avLst/>
          </a:prstGeom>
          <a:noFill/>
          <a:ln/>
        </p:spPr>
        <p:txBody>
          <a:bodyPr wrap="square" lIns="0" tIns="0" rIns="0" bIns="0" rtlCol="0" anchor="ctr"/>
          <a:lstStyle/>
          <a:p>
            <a:pPr indent="0" marL="0">
              <a:buNone/>
            </a:pPr>
            <a:r>
              <a:rPr lang="en-US" sz="1150" b="1" dirty="0">
                <a:solidFill>
                  <a:srgbClr val="1F2A44"/>
                </a:solidFill>
                <a:latin typeface="Calibri" pitchFamily="34" charset="0"/>
                <a:ea typeface="Calibri" pitchFamily="34" charset="-122"/>
                <a:cs typeface="Calibri" pitchFamily="34" charset="-120"/>
              </a:rPr>
              <a:t>ACL / CECL requirements</a:t>
            </a:r>
            <a:endParaRPr lang="en-US" sz="1150" dirty="0"/>
          </a:p>
        </p:txBody>
      </p:sp>
      <p:sp>
        <p:nvSpPr>
          <p:cNvPr id="14" name="Text 12"/>
          <p:cNvSpPr/>
          <p:nvPr/>
        </p:nvSpPr>
        <p:spPr>
          <a:xfrm>
            <a:off x="4754880" y="3182112"/>
            <a:ext cx="2148840" cy="685800"/>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COMPLIANT THROUGHOUT</a:t>
            </a:r>
            <a:endParaRPr lang="en-US" sz="1050" dirty="0"/>
          </a:p>
        </p:txBody>
      </p:sp>
      <p:sp>
        <p:nvSpPr>
          <p:cNvPr id="15" name="Text 13"/>
          <p:cNvSpPr/>
          <p:nvPr/>
        </p:nvSpPr>
        <p:spPr>
          <a:xfrm>
            <a:off x="6949440" y="3182112"/>
            <a:ext cx="4572000" cy="685800"/>
          </a:xfrm>
          <a:prstGeom prst="rect">
            <a:avLst/>
          </a:prstGeom>
          <a:noFill/>
          <a:ln/>
        </p:spPr>
        <p:txBody>
          <a:bodyPr wrap="square" lIns="0" tIns="0" rIns="0" bIns="0" rtlCol="0" anchor="ctr"/>
          <a:lstStyle/>
          <a:p>
            <a:pPr indent="0" marL="0">
              <a:buNone/>
            </a:pPr>
            <a:r>
              <a:rPr lang="en-US" sz="1050" dirty="0">
                <a:solidFill>
                  <a:srgbClr val="232733"/>
                </a:solidFill>
                <a:latin typeface="Calibri" pitchFamily="34" charset="0"/>
                <a:ea typeface="Calibri" pitchFamily="34" charset="-122"/>
                <a:cs typeface="Calibri" pitchFamily="34" charset="-120"/>
              </a:rPr>
              <a:t>Never below the 1.00% floor; coverage rebuilt to 106% of non-performers by final quarter</a:t>
            </a:r>
            <a:endParaRPr lang="en-US" sz="1050" dirty="0"/>
          </a:p>
        </p:txBody>
      </p:sp>
      <p:sp>
        <p:nvSpPr>
          <p:cNvPr id="16" name="Shape 14"/>
          <p:cNvSpPr/>
          <p:nvPr/>
        </p:nvSpPr>
        <p:spPr>
          <a:xfrm>
            <a:off x="548640" y="3968496"/>
            <a:ext cx="11064240" cy="777240"/>
          </a:xfrm>
          <a:prstGeom prst="roundRect">
            <a:avLst>
              <a:gd name="adj" fmla="val 7059"/>
            </a:avLst>
          </a:prstGeom>
          <a:solidFill>
            <a:srgbClr val="FAF7F0"/>
          </a:solidFill>
          <a:ln/>
        </p:spPr>
      </p:sp>
      <p:sp>
        <p:nvSpPr>
          <p:cNvPr id="17" name="Text 15"/>
          <p:cNvSpPr/>
          <p:nvPr/>
        </p:nvSpPr>
        <p:spPr>
          <a:xfrm>
            <a:off x="777240" y="4023360"/>
            <a:ext cx="3931920" cy="685800"/>
          </a:xfrm>
          <a:prstGeom prst="rect">
            <a:avLst/>
          </a:prstGeom>
          <a:noFill/>
          <a:ln/>
        </p:spPr>
        <p:txBody>
          <a:bodyPr wrap="square" lIns="0" tIns="0" rIns="0" bIns="0" rtlCol="0" anchor="ctr"/>
          <a:lstStyle/>
          <a:p>
            <a:pPr indent="0" marL="0">
              <a:buNone/>
            </a:pPr>
            <a:r>
              <a:rPr lang="en-US" sz="1150" b="1" dirty="0">
                <a:solidFill>
                  <a:srgbClr val="1F2A44"/>
                </a:solidFill>
                <a:latin typeface="Calibri" pitchFamily="34" charset="0"/>
                <a:ea typeface="Calibri" pitchFamily="34" charset="-122"/>
                <a:cs typeface="Calibri" pitchFamily="34" charset="-120"/>
              </a:rPr>
              <a:t>100% loan review by Q3/29</a:t>
            </a:r>
            <a:endParaRPr lang="en-US" sz="1150" dirty="0"/>
          </a:p>
        </p:txBody>
      </p:sp>
      <p:sp>
        <p:nvSpPr>
          <p:cNvPr id="18" name="Text 16"/>
          <p:cNvSpPr/>
          <p:nvPr/>
        </p:nvSpPr>
        <p:spPr>
          <a:xfrm>
            <a:off x="4754880" y="4023360"/>
            <a:ext cx="2148840" cy="685800"/>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COMPLETED</a:t>
            </a:r>
            <a:endParaRPr lang="en-US" sz="1050" dirty="0"/>
          </a:p>
        </p:txBody>
      </p:sp>
      <p:sp>
        <p:nvSpPr>
          <p:cNvPr id="19" name="Text 17"/>
          <p:cNvSpPr/>
          <p:nvPr/>
        </p:nvSpPr>
        <p:spPr>
          <a:xfrm>
            <a:off x="6949440" y="4023360"/>
            <a:ext cx="4572000" cy="685800"/>
          </a:xfrm>
          <a:prstGeom prst="rect">
            <a:avLst/>
          </a:prstGeom>
          <a:noFill/>
          <a:ln/>
        </p:spPr>
        <p:txBody>
          <a:bodyPr wrap="square" lIns="0" tIns="0" rIns="0" bIns="0" rtlCol="0" anchor="ctr"/>
          <a:lstStyle/>
          <a:p>
            <a:pPr indent="0" marL="0">
              <a:buNone/>
            </a:pPr>
            <a:r>
              <a:rPr lang="en-US" sz="1050" dirty="0">
                <a:solidFill>
                  <a:srgbClr val="232733"/>
                </a:solidFill>
                <a:latin typeface="Calibri" pitchFamily="34" charset="0"/>
                <a:ea typeface="Calibri" pitchFamily="34" charset="-122"/>
                <a:cs typeface="Calibri" pitchFamily="34" charset="-120"/>
              </a:rPr>
              <a:t>Full portfolio reviewed across R1–R2 cycles; findings drove our early downgrades and reserves</a:t>
            </a:r>
            <a:endParaRPr lang="en-US" sz="1050" dirty="0"/>
          </a:p>
        </p:txBody>
      </p:sp>
      <p:sp>
        <p:nvSpPr>
          <p:cNvPr id="20" name="Shape 18"/>
          <p:cNvSpPr/>
          <p:nvPr/>
        </p:nvSpPr>
        <p:spPr>
          <a:xfrm>
            <a:off x="548640" y="4809744"/>
            <a:ext cx="11064240" cy="777240"/>
          </a:xfrm>
          <a:prstGeom prst="roundRect">
            <a:avLst>
              <a:gd name="adj" fmla="val 7059"/>
            </a:avLst>
          </a:prstGeom>
          <a:solidFill>
            <a:srgbClr val="FAF7F0"/>
          </a:solidFill>
          <a:ln/>
        </p:spPr>
      </p:sp>
      <p:sp>
        <p:nvSpPr>
          <p:cNvPr id="21" name="Text 19"/>
          <p:cNvSpPr/>
          <p:nvPr/>
        </p:nvSpPr>
        <p:spPr>
          <a:xfrm>
            <a:off x="777240" y="4864608"/>
            <a:ext cx="3931920" cy="685800"/>
          </a:xfrm>
          <a:prstGeom prst="rect">
            <a:avLst/>
          </a:prstGeom>
          <a:noFill/>
          <a:ln/>
        </p:spPr>
        <p:txBody>
          <a:bodyPr wrap="square" lIns="0" tIns="0" rIns="0" bIns="0" rtlCol="0" anchor="ctr"/>
          <a:lstStyle/>
          <a:p>
            <a:pPr indent="0" marL="0">
              <a:buNone/>
            </a:pPr>
            <a:r>
              <a:rPr lang="en-US" sz="1150" b="1" dirty="0">
                <a:solidFill>
                  <a:srgbClr val="1F2A44"/>
                </a:solidFill>
                <a:latin typeface="Calibri" pitchFamily="34" charset="0"/>
                <a:ea typeface="Calibri" pitchFamily="34" charset="-122"/>
                <a:cs typeface="Calibri" pitchFamily="34" charset="-120"/>
              </a:rPr>
              <a:t>Construction concentration guidance (100%)</a:t>
            </a:r>
            <a:endParaRPr lang="en-US" sz="1150" dirty="0"/>
          </a:p>
        </p:txBody>
      </p:sp>
      <p:sp>
        <p:nvSpPr>
          <p:cNvPr id="22" name="Text 20"/>
          <p:cNvSpPr/>
          <p:nvPr/>
        </p:nvSpPr>
        <p:spPr>
          <a:xfrm>
            <a:off x="4754880" y="4864608"/>
            <a:ext cx="2148840" cy="685800"/>
          </a:xfrm>
          <a:prstGeom prst="rect">
            <a:avLst/>
          </a:prstGeom>
          <a:noFill/>
          <a:ln/>
        </p:spPr>
        <p:txBody>
          <a:bodyPr wrap="square" lIns="0" tIns="0" rIns="0" bIns="0" rtlCol="0" anchor="ctr"/>
          <a:lstStyle/>
          <a:p>
            <a:pPr indent="0" marL="0">
              <a:buNone/>
            </a:pPr>
            <a:r>
              <a:rPr lang="en-US" sz="1050" b="1" dirty="0">
                <a:solidFill>
                  <a:srgbClr val="B9791F"/>
                </a:solidFill>
                <a:latin typeface="Calibri" pitchFamily="34" charset="0"/>
                <a:ea typeface="Calibri" pitchFamily="34" charset="-122"/>
                <a:cs typeface="Calibri" pitchFamily="34" charset="-120"/>
              </a:rPr>
              <a:t>FLAGGED &amp; MANAGED</a:t>
            </a:r>
            <a:endParaRPr lang="en-US" sz="1050" dirty="0"/>
          </a:p>
        </p:txBody>
      </p:sp>
      <p:sp>
        <p:nvSpPr>
          <p:cNvPr id="23" name="Text 21"/>
          <p:cNvSpPr/>
          <p:nvPr/>
        </p:nvSpPr>
        <p:spPr>
          <a:xfrm>
            <a:off x="6949440" y="4864608"/>
            <a:ext cx="4572000" cy="685800"/>
          </a:xfrm>
          <a:prstGeom prst="rect">
            <a:avLst/>
          </a:prstGeom>
          <a:noFill/>
          <a:ln/>
        </p:spPr>
        <p:txBody>
          <a:bodyPr wrap="square" lIns="0" tIns="0" rIns="0" bIns="0" rtlCol="0" anchor="ctr"/>
          <a:lstStyle/>
          <a:p>
            <a:pPr indent="0" marL="0">
              <a:buNone/>
            </a:pPr>
            <a:r>
              <a:rPr lang="en-US" sz="1050" dirty="0">
                <a:solidFill>
                  <a:srgbClr val="232733"/>
                </a:solidFill>
                <a:latin typeface="Calibri" pitchFamily="34" charset="0"/>
                <a:ea typeface="Calibri" pitchFamily="34" charset="-122"/>
                <a:cs typeface="Calibri" pitchFamily="34" charset="-120"/>
              </a:rPr>
              <a:t>Peaked at 198% of capital Q1/30; deliberate glide path to 147% by year-end, continuing down</a:t>
            </a:r>
            <a:endParaRPr lang="en-US" sz="1050" dirty="0"/>
          </a:p>
        </p:txBody>
      </p:sp>
      <p:sp>
        <p:nvSpPr>
          <p:cNvPr id="24" name="Shape 22"/>
          <p:cNvSpPr/>
          <p:nvPr/>
        </p:nvSpPr>
        <p:spPr>
          <a:xfrm>
            <a:off x="548640" y="5650992"/>
            <a:ext cx="11064240" cy="777240"/>
          </a:xfrm>
          <a:prstGeom prst="roundRect">
            <a:avLst>
              <a:gd name="adj" fmla="val 7059"/>
            </a:avLst>
          </a:prstGeom>
          <a:solidFill>
            <a:srgbClr val="FAF7F0"/>
          </a:solidFill>
          <a:ln/>
        </p:spPr>
      </p:sp>
      <p:sp>
        <p:nvSpPr>
          <p:cNvPr id="25" name="Text 23"/>
          <p:cNvSpPr/>
          <p:nvPr/>
        </p:nvSpPr>
        <p:spPr>
          <a:xfrm>
            <a:off x="777240" y="5705856"/>
            <a:ext cx="3931920" cy="685800"/>
          </a:xfrm>
          <a:prstGeom prst="rect">
            <a:avLst/>
          </a:prstGeom>
          <a:noFill/>
          <a:ln/>
        </p:spPr>
        <p:txBody>
          <a:bodyPr wrap="square" lIns="0" tIns="0" rIns="0" bIns="0" rtlCol="0" anchor="ctr"/>
          <a:lstStyle/>
          <a:p>
            <a:pPr indent="0" marL="0">
              <a:buNone/>
            </a:pPr>
            <a:r>
              <a:rPr lang="en-US" sz="1150" b="1" dirty="0">
                <a:solidFill>
                  <a:srgbClr val="1F2A44"/>
                </a:solidFill>
                <a:latin typeface="Calibri" pitchFamily="34" charset="0"/>
                <a:ea typeface="Calibri" pitchFamily="34" charset="-122"/>
                <a:cs typeface="Calibri" pitchFamily="34" charset="-120"/>
              </a:rPr>
              <a:t>Dividend cessation rule</a:t>
            </a:r>
            <a:endParaRPr lang="en-US" sz="1150" dirty="0"/>
          </a:p>
        </p:txBody>
      </p:sp>
      <p:sp>
        <p:nvSpPr>
          <p:cNvPr id="26" name="Text 24"/>
          <p:cNvSpPr/>
          <p:nvPr/>
        </p:nvSpPr>
        <p:spPr>
          <a:xfrm>
            <a:off x="4754880" y="5705856"/>
            <a:ext cx="2148840" cy="685800"/>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FOLLOWED TO THE LETTER</a:t>
            </a:r>
            <a:endParaRPr lang="en-US" sz="1050" dirty="0"/>
          </a:p>
        </p:txBody>
      </p:sp>
      <p:sp>
        <p:nvSpPr>
          <p:cNvPr id="27" name="Text 25"/>
          <p:cNvSpPr/>
          <p:nvPr/>
        </p:nvSpPr>
        <p:spPr>
          <a:xfrm>
            <a:off x="6949440" y="5705856"/>
            <a:ext cx="4572000" cy="685800"/>
          </a:xfrm>
          <a:prstGeom prst="rect">
            <a:avLst/>
          </a:prstGeom>
          <a:noFill/>
          <a:ln/>
        </p:spPr>
        <p:txBody>
          <a:bodyPr wrap="square" lIns="0" tIns="0" rIns="0" bIns="0" rtlCol="0" anchor="ctr"/>
          <a:lstStyle/>
          <a:p>
            <a:pPr indent="0" marL="0">
              <a:buNone/>
            </a:pPr>
            <a:r>
              <a:rPr lang="en-US" sz="1050" dirty="0">
                <a:solidFill>
                  <a:srgbClr val="232733"/>
                </a:solidFill>
                <a:latin typeface="Calibri" pitchFamily="34" charset="0"/>
                <a:ea typeface="Calibri" pitchFamily="34" charset="-122"/>
                <a:cs typeface="Calibri" pitchFamily="34" charset="-120"/>
              </a:rPr>
              <a:t>Suspended on two negative quarters; restarted only after clean quarters, with regulator notice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CONSTRUCTION CONCENTRATION &amp; CREDIT QUALITY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Managing the Riskiest Cask</a:t>
            </a:r>
            <a:endParaRPr lang="en-US" sz="3200" dirty="0"/>
          </a:p>
        </p:txBody>
      </p:sp>
      <p:sp>
        <p:nvSpPr>
          <p:cNvPr id="4" name="Text 2"/>
          <p:cNvSpPr/>
          <p:nvPr/>
        </p:nvSpPr>
        <p:spPr>
          <a:xfrm>
            <a:off x="548640" y="1417320"/>
            <a:ext cx="5943600" cy="274320"/>
          </a:xfrm>
          <a:prstGeom prst="rect">
            <a:avLst/>
          </a:prstGeom>
          <a:noFill/>
          <a:ln/>
        </p:spPr>
        <p:txBody>
          <a:bodyPr wrap="square" lIns="0" tIns="0" rIns="0" bIns="0" rtlCol="0" anchor="ctr"/>
          <a:lstStyle/>
          <a:p>
            <a:pPr indent="0" marL="0">
              <a:buNone/>
            </a:pPr>
            <a:r>
              <a:rPr lang="en-US" sz="1250" b="1" dirty="0">
                <a:solidFill>
                  <a:srgbClr val="232733"/>
                </a:solidFill>
                <a:latin typeface="Calibri" pitchFamily="34" charset="0"/>
                <a:ea typeface="Calibri" pitchFamily="34" charset="-122"/>
                <a:cs typeface="Calibri" pitchFamily="34" charset="-120"/>
              </a:rPr>
              <a:t>Construction loans as % of total capital vs. 100% guidance</a:t>
            </a:r>
            <a:endParaRPr lang="en-US" sz="1250" dirty="0"/>
          </a:p>
        </p:txBody>
      </p:sp>
      <p:graphicFrame>
        <p:nvGraphicFramePr>
          <p:cNvPr id="5" name="Chart 0" descr=""/>
          <p:cNvGraphicFramePr/>
          <p:nvPr/>
        </p:nvGraphicFramePr>
        <p:xfrm>
          <a:off x="548640" y="173736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720840" y="1737360"/>
            <a:ext cx="4846320" cy="320040"/>
          </a:xfrm>
          <a:prstGeom prst="rect">
            <a:avLst/>
          </a:prstGeom>
          <a:noFill/>
          <a:ln/>
        </p:spPr>
        <p:txBody>
          <a:bodyPr wrap="square" lIns="0" tIns="0" rIns="0" bIns="0" rtlCol="0" anchor="ctr"/>
          <a:lstStyle/>
          <a:p>
            <a:pPr indent="0" marL="0">
              <a:buNone/>
            </a:pPr>
            <a:r>
              <a:rPr lang="en-US" sz="1350" b="1" dirty="0">
                <a:solidFill>
                  <a:srgbClr val="1F2A44"/>
                </a:solidFill>
                <a:latin typeface="Calibri" pitchFamily="34" charset="0"/>
                <a:ea typeface="Calibri" pitchFamily="34" charset="-122"/>
                <a:cs typeface="Calibri" pitchFamily="34" charset="-120"/>
              </a:rPr>
              <a:t>Why we held it</a:t>
            </a:r>
            <a:endParaRPr lang="en-US" sz="1350" dirty="0"/>
          </a:p>
        </p:txBody>
      </p:sp>
      <p:sp>
        <p:nvSpPr>
          <p:cNvPr id="7" name="Text 4"/>
          <p:cNvSpPr/>
          <p:nvPr/>
        </p:nvSpPr>
        <p:spPr>
          <a:xfrm>
            <a:off x="6720840" y="2066544"/>
            <a:ext cx="48463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Construction was our best asset: 8-9% gross yields, ~8% net of losses at the peak — while it earned, we let it age</a:t>
            </a:r>
            <a:endParaRPr lang="en-US" sz="1150" dirty="0"/>
          </a:p>
        </p:txBody>
      </p:sp>
      <p:sp>
        <p:nvSpPr>
          <p:cNvPr id="8" name="Text 5"/>
          <p:cNvSpPr/>
          <p:nvPr/>
        </p:nvSpPr>
        <p:spPr>
          <a:xfrm>
            <a:off x="6720840" y="3154680"/>
            <a:ext cx="4846320" cy="320040"/>
          </a:xfrm>
          <a:prstGeom prst="rect">
            <a:avLst/>
          </a:prstGeom>
          <a:noFill/>
          <a:ln/>
        </p:spPr>
        <p:txBody>
          <a:bodyPr wrap="square" lIns="0" tIns="0" rIns="0" bIns="0" rtlCol="0" anchor="ctr"/>
          <a:lstStyle/>
          <a:p>
            <a:pPr indent="0" marL="0">
              <a:buNone/>
            </a:pPr>
            <a:r>
              <a:rPr lang="en-US" sz="1350" b="1" dirty="0">
                <a:solidFill>
                  <a:srgbClr val="1F2A44"/>
                </a:solidFill>
                <a:latin typeface="Calibri" pitchFamily="34" charset="0"/>
                <a:ea typeface="Calibri" pitchFamily="34" charset="-122"/>
                <a:cs typeface="Calibri" pitchFamily="34" charset="-120"/>
              </a:rPr>
              <a:t>Why we cut it</a:t>
            </a:r>
            <a:endParaRPr lang="en-US" sz="1350" dirty="0"/>
          </a:p>
        </p:txBody>
      </p:sp>
      <p:sp>
        <p:nvSpPr>
          <p:cNvPr id="9" name="Text 6"/>
          <p:cNvSpPr/>
          <p:nvPr/>
        </p:nvSpPr>
        <p:spPr>
          <a:xfrm>
            <a:off x="6720840" y="3483864"/>
            <a:ext cx="48463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Leading indicators turned in late 2029; commitments halted, book glided 198% → 147% with more runoff scheduled</a:t>
            </a:r>
            <a:endParaRPr lang="en-US" sz="1150" dirty="0"/>
          </a:p>
        </p:txBody>
      </p:sp>
      <p:sp>
        <p:nvSpPr>
          <p:cNvPr id="10" name="Text 7"/>
          <p:cNvSpPr/>
          <p:nvPr/>
        </p:nvSpPr>
        <p:spPr>
          <a:xfrm>
            <a:off x="6720840" y="4572000"/>
            <a:ext cx="4846320" cy="320040"/>
          </a:xfrm>
          <a:prstGeom prst="rect">
            <a:avLst/>
          </a:prstGeom>
          <a:noFill/>
          <a:ln/>
        </p:spPr>
        <p:txBody>
          <a:bodyPr wrap="square" lIns="0" tIns="0" rIns="0" bIns="0" rtlCol="0" anchor="ctr"/>
          <a:lstStyle/>
          <a:p>
            <a:pPr indent="0" marL="0">
              <a:buNone/>
            </a:pPr>
            <a:r>
              <a:rPr lang="en-US" sz="1350" b="1" dirty="0">
                <a:solidFill>
                  <a:srgbClr val="1F2A44"/>
                </a:solidFill>
                <a:latin typeface="Calibri" pitchFamily="34" charset="0"/>
                <a:ea typeface="Calibri" pitchFamily="34" charset="-122"/>
                <a:cs typeface="Calibri" pitchFamily="34" charset="-120"/>
              </a:rPr>
              <a:t>What it cost us</a:t>
            </a:r>
            <a:endParaRPr lang="en-US" sz="1350" dirty="0"/>
          </a:p>
        </p:txBody>
      </p:sp>
      <p:sp>
        <p:nvSpPr>
          <p:cNvPr id="11" name="Text 8"/>
          <p:cNvSpPr/>
          <p:nvPr/>
        </p:nvSpPr>
        <p:spPr>
          <a:xfrm>
            <a:off x="6720840" y="4901184"/>
            <a:ext cx="48463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Nothing yet — construction charge-offs stayed modest; reserves ended at 106% of ALL non-performers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8686800" cy="292608"/>
          </a:xfrm>
          <a:prstGeom prst="rect">
            <a:avLst/>
          </a:prstGeom>
          <a:noFill/>
          <a:ln/>
        </p:spPr>
        <p:txBody>
          <a:bodyPr wrap="square" lIns="0" tIns="0" rIns="0" bIns="0" rtlCol="0" anchor="ctr"/>
          <a:lstStyle/>
          <a:p>
            <a:pPr indent="0" marL="0">
              <a:buNone/>
            </a:pPr>
            <a:r>
              <a:rPr lang="en-US" sz="1200" b="1" spc="200" kern="0" dirty="0">
                <a:solidFill>
                  <a:srgbClr val="B9791F"/>
                </a:solidFill>
                <a:latin typeface="Calibri" pitchFamily="34" charset="0"/>
                <a:ea typeface="Calibri" pitchFamily="34" charset="-122"/>
                <a:cs typeface="Calibri" pitchFamily="34" charset="-120"/>
              </a:rPr>
              <a:t>SECTION 5 · FORWARD LOOK</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1F2A44"/>
                </a:solidFill>
                <a:latin typeface="Cambria" pitchFamily="34" charset="0"/>
                <a:ea typeface="Cambria" pitchFamily="34" charset="-122"/>
                <a:cs typeface="Cambria" pitchFamily="34" charset="-120"/>
              </a:rPr>
              <a:t>The Next Batch — Managing to Lead in 2031</a:t>
            </a:r>
            <a:endParaRPr lang="en-US" sz="3200" dirty="0"/>
          </a:p>
        </p:txBody>
      </p:sp>
      <p:sp>
        <p:nvSpPr>
          <p:cNvPr id="4" name="Shape 2"/>
          <p:cNvSpPr/>
          <p:nvPr/>
        </p:nvSpPr>
        <p:spPr>
          <a:xfrm>
            <a:off x="548640" y="1481328"/>
            <a:ext cx="5486400" cy="1481328"/>
          </a:xfrm>
          <a:prstGeom prst="roundRect">
            <a:avLst>
              <a:gd name="adj" fmla="val 4938"/>
            </a:avLst>
          </a:prstGeom>
          <a:solidFill>
            <a:srgbClr val="F5F0E4"/>
          </a:solidFill>
          <a:ln/>
        </p:spPr>
      </p:sp>
      <p:sp>
        <p:nvSpPr>
          <p:cNvPr id="5" name="Text 3"/>
          <p:cNvSpPr/>
          <p:nvPr/>
        </p:nvSpPr>
        <p:spPr>
          <a:xfrm>
            <a:off x="777240" y="1600200"/>
            <a:ext cx="5029200" cy="320040"/>
          </a:xfrm>
          <a:prstGeom prst="rect">
            <a:avLst/>
          </a:prstGeom>
          <a:noFill/>
          <a:ln/>
        </p:spPr>
        <p:txBody>
          <a:bodyPr wrap="square" lIns="0" tIns="0" rIns="0" bIns="0" rtlCol="0" anchor="ctr"/>
          <a:lstStyle/>
          <a:p>
            <a:pPr indent="0" marL="0">
              <a:buNone/>
            </a:pPr>
            <a:r>
              <a:rPr lang="en-US" sz="1400" b="1" dirty="0">
                <a:solidFill>
                  <a:srgbClr val="B9791F"/>
                </a:solidFill>
                <a:latin typeface="Calibri" pitchFamily="34" charset="0"/>
                <a:ea typeface="Calibri" pitchFamily="34" charset="-122"/>
                <a:cs typeface="Calibri" pitchFamily="34" charset="-120"/>
              </a:rPr>
              <a:t>Rate tailwind</a:t>
            </a:r>
            <a:endParaRPr lang="en-US" sz="1400" dirty="0"/>
          </a:p>
        </p:txBody>
      </p:sp>
      <p:sp>
        <p:nvSpPr>
          <p:cNvPr id="6" name="Text 4"/>
          <p:cNvSpPr/>
          <p:nvPr/>
        </p:nvSpPr>
        <p:spPr>
          <a:xfrm>
            <a:off x="777240" y="1938528"/>
            <a:ext cx="50749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Rates are rising again (fed funds 2.3% → 3.8% in H2/30). We are asset-sensitive — every +100bp adds ~$0.4M/qtr of margin as the book reprices.</a:t>
            </a:r>
            <a:endParaRPr lang="en-US" sz="1150" dirty="0"/>
          </a:p>
        </p:txBody>
      </p:sp>
      <p:sp>
        <p:nvSpPr>
          <p:cNvPr id="7" name="Shape 5"/>
          <p:cNvSpPr/>
          <p:nvPr/>
        </p:nvSpPr>
        <p:spPr>
          <a:xfrm>
            <a:off x="548640" y="3108960"/>
            <a:ext cx="5486400" cy="1481328"/>
          </a:xfrm>
          <a:prstGeom prst="roundRect">
            <a:avLst>
              <a:gd name="adj" fmla="val 4938"/>
            </a:avLst>
          </a:prstGeom>
          <a:solidFill>
            <a:srgbClr val="F5F0E4"/>
          </a:solidFill>
          <a:ln/>
        </p:spPr>
      </p:sp>
      <p:sp>
        <p:nvSpPr>
          <p:cNvPr id="8" name="Text 6"/>
          <p:cNvSpPr/>
          <p:nvPr/>
        </p:nvSpPr>
        <p:spPr>
          <a:xfrm>
            <a:off x="777240" y="3227832"/>
            <a:ext cx="5029200" cy="320040"/>
          </a:xfrm>
          <a:prstGeom prst="rect">
            <a:avLst/>
          </a:prstGeom>
          <a:noFill/>
          <a:ln/>
        </p:spPr>
        <p:txBody>
          <a:bodyPr wrap="square" lIns="0" tIns="0" rIns="0" bIns="0" rtlCol="0" anchor="ctr"/>
          <a:lstStyle/>
          <a:p>
            <a:pPr indent="0" marL="0">
              <a:buNone/>
            </a:pPr>
            <a:r>
              <a:rPr lang="en-US" sz="1400" b="1" dirty="0">
                <a:solidFill>
                  <a:srgbClr val="B9791F"/>
                </a:solidFill>
                <a:latin typeface="Calibri" pitchFamily="34" charset="0"/>
                <a:ea typeface="Calibri" pitchFamily="34" charset="-122"/>
                <a:cs typeface="Calibri" pitchFamily="34" charset="-120"/>
              </a:rPr>
              <a:t>Room to grow, funded</a:t>
            </a:r>
            <a:endParaRPr lang="en-US" sz="1400" dirty="0"/>
          </a:p>
        </p:txBody>
      </p:sp>
      <p:sp>
        <p:nvSpPr>
          <p:cNvPr id="9" name="Text 7"/>
          <p:cNvSpPr/>
          <p:nvPr/>
        </p:nvSpPr>
        <p:spPr>
          <a:xfrm>
            <a:off x="777240" y="3566160"/>
            <a:ext cx="50749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Loans/deposits at 100.8% with ~99% core funding and positive liquidity — we can add ~$50M of loans without a single wholesale dollar.</a:t>
            </a:r>
            <a:endParaRPr lang="en-US" sz="1150" dirty="0"/>
          </a:p>
        </p:txBody>
      </p:sp>
      <p:sp>
        <p:nvSpPr>
          <p:cNvPr id="10" name="Shape 8"/>
          <p:cNvSpPr/>
          <p:nvPr/>
        </p:nvSpPr>
        <p:spPr>
          <a:xfrm>
            <a:off x="548640" y="4736592"/>
            <a:ext cx="5486400" cy="1481328"/>
          </a:xfrm>
          <a:prstGeom prst="roundRect">
            <a:avLst>
              <a:gd name="adj" fmla="val 4938"/>
            </a:avLst>
          </a:prstGeom>
          <a:solidFill>
            <a:srgbClr val="F5F0E4"/>
          </a:solidFill>
          <a:ln/>
        </p:spPr>
      </p:sp>
      <p:sp>
        <p:nvSpPr>
          <p:cNvPr id="11" name="Text 9"/>
          <p:cNvSpPr/>
          <p:nvPr/>
        </p:nvSpPr>
        <p:spPr>
          <a:xfrm>
            <a:off x="777240" y="4855464"/>
            <a:ext cx="5029200" cy="320040"/>
          </a:xfrm>
          <a:prstGeom prst="rect">
            <a:avLst/>
          </a:prstGeom>
          <a:noFill/>
          <a:ln/>
        </p:spPr>
        <p:txBody>
          <a:bodyPr wrap="square" lIns="0" tIns="0" rIns="0" bIns="0" rtlCol="0" anchor="ctr"/>
          <a:lstStyle/>
          <a:p>
            <a:pPr indent="0" marL="0">
              <a:buNone/>
            </a:pPr>
            <a:r>
              <a:rPr lang="en-US" sz="1400" b="1" dirty="0">
                <a:solidFill>
                  <a:srgbClr val="B9791F"/>
                </a:solidFill>
                <a:latin typeface="Calibri" pitchFamily="34" charset="0"/>
                <a:ea typeface="Calibri" pitchFamily="34" charset="-122"/>
                <a:cs typeface="Calibri" pitchFamily="34" charset="-120"/>
              </a:rPr>
              <a:t>Capital to deploy</a:t>
            </a:r>
            <a:endParaRPr lang="en-US" sz="1400" dirty="0"/>
          </a:p>
        </p:txBody>
      </p:sp>
      <p:sp>
        <p:nvSpPr>
          <p:cNvPr id="12" name="Text 10"/>
          <p:cNvSpPr/>
          <p:nvPr/>
        </p:nvSpPr>
        <p:spPr>
          <a:xfrm>
            <a:off x="777240" y="5193792"/>
            <a:ext cx="50749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12.2% risk capital vs the 10% floor ≈ $15M of deployable strength: growth, dividend increases, or the buyback we are now eligible for.</a:t>
            </a:r>
            <a:endParaRPr lang="en-US" sz="1150" dirty="0"/>
          </a:p>
        </p:txBody>
      </p:sp>
      <p:sp>
        <p:nvSpPr>
          <p:cNvPr id="13" name="Shape 11"/>
          <p:cNvSpPr/>
          <p:nvPr/>
        </p:nvSpPr>
        <p:spPr>
          <a:xfrm>
            <a:off x="6172200" y="1481328"/>
            <a:ext cx="5486400" cy="1481328"/>
          </a:xfrm>
          <a:prstGeom prst="roundRect">
            <a:avLst>
              <a:gd name="adj" fmla="val 4938"/>
            </a:avLst>
          </a:prstGeom>
          <a:solidFill>
            <a:srgbClr val="EFF2EE"/>
          </a:solidFill>
          <a:ln/>
        </p:spPr>
      </p:sp>
      <p:sp>
        <p:nvSpPr>
          <p:cNvPr id="14" name="Text 12"/>
          <p:cNvSpPr/>
          <p:nvPr/>
        </p:nvSpPr>
        <p:spPr>
          <a:xfrm>
            <a:off x="6400800" y="1600200"/>
            <a:ext cx="5029200" cy="320040"/>
          </a:xfrm>
          <a:prstGeom prst="rect">
            <a:avLst/>
          </a:prstGeom>
          <a:noFill/>
          <a:ln/>
        </p:spPr>
        <p:txBody>
          <a:bodyPr wrap="square" lIns="0" tIns="0" rIns="0" bIns="0" rtlCol="0" anchor="ctr"/>
          <a:lstStyle/>
          <a:p>
            <a:pPr indent="0" marL="0">
              <a:buNone/>
            </a:pPr>
            <a:r>
              <a:rPr lang="en-US" sz="1400" b="1" dirty="0">
                <a:solidFill>
                  <a:srgbClr val="3E5C41"/>
                </a:solidFill>
                <a:latin typeface="Calibri" pitchFamily="34" charset="0"/>
                <a:ea typeface="Calibri" pitchFamily="34" charset="-122"/>
                <a:cs typeface="Calibri" pitchFamily="34" charset="-120"/>
              </a:rPr>
              <a:t>Dividend path</a:t>
            </a:r>
            <a:endParaRPr lang="en-US" sz="1400" dirty="0"/>
          </a:p>
        </p:txBody>
      </p:sp>
      <p:sp>
        <p:nvSpPr>
          <p:cNvPr id="15" name="Text 13"/>
          <p:cNvSpPr/>
          <p:nvPr/>
        </p:nvSpPr>
        <p:spPr>
          <a:xfrm>
            <a:off x="6400800" y="1938528"/>
            <a:ext cx="50749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$0.50/qtr today; payout still under 50% of run-rate earnings — room to raise as earnings season.</a:t>
            </a:r>
            <a:endParaRPr lang="en-US" sz="1150" dirty="0"/>
          </a:p>
        </p:txBody>
      </p:sp>
      <p:sp>
        <p:nvSpPr>
          <p:cNvPr id="16" name="Shape 14"/>
          <p:cNvSpPr/>
          <p:nvPr/>
        </p:nvSpPr>
        <p:spPr>
          <a:xfrm>
            <a:off x="6172200" y="3108960"/>
            <a:ext cx="5486400" cy="1481328"/>
          </a:xfrm>
          <a:prstGeom prst="roundRect">
            <a:avLst>
              <a:gd name="adj" fmla="val 4938"/>
            </a:avLst>
          </a:prstGeom>
          <a:solidFill>
            <a:srgbClr val="EFF2EE"/>
          </a:solidFill>
          <a:ln/>
        </p:spPr>
      </p:sp>
      <p:sp>
        <p:nvSpPr>
          <p:cNvPr id="17" name="Text 15"/>
          <p:cNvSpPr/>
          <p:nvPr/>
        </p:nvSpPr>
        <p:spPr>
          <a:xfrm>
            <a:off x="6400800" y="3227832"/>
            <a:ext cx="5029200" cy="320040"/>
          </a:xfrm>
          <a:prstGeom prst="rect">
            <a:avLst/>
          </a:prstGeom>
          <a:noFill/>
          <a:ln/>
        </p:spPr>
        <p:txBody>
          <a:bodyPr wrap="square" lIns="0" tIns="0" rIns="0" bIns="0" rtlCol="0" anchor="ctr"/>
          <a:lstStyle/>
          <a:p>
            <a:pPr indent="0" marL="0">
              <a:buNone/>
            </a:pPr>
            <a:r>
              <a:rPr lang="en-US" sz="1400" b="1" dirty="0">
                <a:solidFill>
                  <a:srgbClr val="3E5C41"/>
                </a:solidFill>
                <a:latin typeface="Calibri" pitchFamily="34" charset="0"/>
                <a:ea typeface="Calibri" pitchFamily="34" charset="-122"/>
                <a:cs typeface="Calibri" pitchFamily="34" charset="-120"/>
              </a:rPr>
              <a:t>Finish the de-risking</a:t>
            </a:r>
            <a:endParaRPr lang="en-US" sz="1400" dirty="0"/>
          </a:p>
        </p:txBody>
      </p:sp>
      <p:sp>
        <p:nvSpPr>
          <p:cNvPr id="18" name="Text 16"/>
          <p:cNvSpPr/>
          <p:nvPr/>
        </p:nvSpPr>
        <p:spPr>
          <a:xfrm>
            <a:off x="6400800" y="3566160"/>
            <a:ext cx="50749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Construction glide continues toward 100% of capital; consumer exit complete; NPLs 1.1% with 106% coverage.</a:t>
            </a:r>
            <a:endParaRPr lang="en-US" sz="1150" dirty="0"/>
          </a:p>
        </p:txBody>
      </p:sp>
      <p:sp>
        <p:nvSpPr>
          <p:cNvPr id="19" name="Shape 17"/>
          <p:cNvSpPr/>
          <p:nvPr/>
        </p:nvSpPr>
        <p:spPr>
          <a:xfrm>
            <a:off x="6172200" y="4736592"/>
            <a:ext cx="5486400" cy="1481328"/>
          </a:xfrm>
          <a:prstGeom prst="roundRect">
            <a:avLst>
              <a:gd name="adj" fmla="val 4938"/>
            </a:avLst>
          </a:prstGeom>
          <a:solidFill>
            <a:srgbClr val="EFF2EE"/>
          </a:solidFill>
          <a:ln/>
        </p:spPr>
      </p:sp>
      <p:sp>
        <p:nvSpPr>
          <p:cNvPr id="20" name="Text 18"/>
          <p:cNvSpPr/>
          <p:nvPr/>
        </p:nvSpPr>
        <p:spPr>
          <a:xfrm>
            <a:off x="6400800" y="4855464"/>
            <a:ext cx="5029200" cy="320040"/>
          </a:xfrm>
          <a:prstGeom prst="rect">
            <a:avLst/>
          </a:prstGeom>
          <a:noFill/>
          <a:ln/>
        </p:spPr>
        <p:txBody>
          <a:bodyPr wrap="square" lIns="0" tIns="0" rIns="0" bIns="0" rtlCol="0" anchor="ctr"/>
          <a:lstStyle/>
          <a:p>
            <a:pPr indent="0" marL="0">
              <a:buNone/>
            </a:pPr>
            <a:r>
              <a:rPr lang="en-US" sz="1400" b="1" dirty="0">
                <a:solidFill>
                  <a:srgbClr val="3E5C41"/>
                </a:solidFill>
                <a:latin typeface="Calibri" pitchFamily="34" charset="0"/>
                <a:ea typeface="Calibri" pitchFamily="34" charset="-122"/>
                <a:cs typeface="Calibri" pitchFamily="34" charset="-120"/>
              </a:rPr>
              <a:t>What we watch</a:t>
            </a:r>
            <a:endParaRPr lang="en-US" sz="1400" dirty="0"/>
          </a:p>
        </p:txBody>
      </p:sp>
      <p:sp>
        <p:nvSpPr>
          <p:cNvPr id="21" name="Text 19"/>
          <p:cNvSpPr/>
          <p:nvPr/>
        </p:nvSpPr>
        <p:spPr>
          <a:xfrm>
            <a:off x="6400800" y="5193792"/>
            <a:ext cx="5074920" cy="960120"/>
          </a:xfrm>
          <a:prstGeom prst="rect">
            <a:avLst/>
          </a:prstGeom>
          <a:noFill/>
          <a:ln/>
        </p:spPr>
        <p:txBody>
          <a:bodyPr wrap="square" lIns="0" tIns="0" rIns="0" bIns="0" rtlCol="0" anchor="ctr"/>
          <a:lstStyle/>
          <a:p>
            <a:pPr indent="0" marL="0">
              <a:buNone/>
            </a:pPr>
            <a:r>
              <a:rPr lang="en-US" sz="1150" dirty="0">
                <a:solidFill>
                  <a:srgbClr val="232733"/>
                </a:solidFill>
                <a:latin typeface="Calibri" pitchFamily="34" charset="0"/>
                <a:ea typeface="Calibri" pitchFamily="34" charset="-122"/>
                <a:cs typeface="Calibri" pitchFamily="34" charset="-120"/>
              </a:rPr>
              <a:t>Deposit competition re-heating; credit seasoning in the 2029 vintage; keeping efficiency in the low 60s as we grow.</a:t>
            </a:r>
            <a:endParaRPr lang="en-US" sz="1150" dirty="0"/>
          </a:p>
        </p:txBody>
      </p:sp>
      <p:sp>
        <p:nvSpPr>
          <p:cNvPr id="22" name="Text 20"/>
          <p:cNvSpPr/>
          <p:nvPr/>
        </p:nvSpPr>
        <p:spPr>
          <a:xfrm>
            <a:off x="548640" y="6400800"/>
            <a:ext cx="11064240" cy="320040"/>
          </a:xfrm>
          <a:prstGeom prst="rect">
            <a:avLst/>
          </a:prstGeom>
          <a:noFill/>
          <a:ln/>
        </p:spPr>
        <p:txBody>
          <a:bodyPr wrap="square" lIns="0" tIns="0" rIns="0" bIns="0" rtlCol="0" anchor="ctr"/>
          <a:lstStyle/>
          <a:p>
            <a:pPr algn="ctr" indent="0" marL="0">
              <a:buNone/>
            </a:pPr>
            <a:r>
              <a:rPr lang="en-US" sz="1400" i="1" dirty="0">
                <a:solidFill>
                  <a:srgbClr val="1F2A44"/>
                </a:solidFill>
                <a:latin typeface="Cambria" pitchFamily="34" charset="0"/>
                <a:ea typeface="Cambria" pitchFamily="34" charset="-122"/>
                <a:cs typeface="Cambria" pitchFamily="34" charset="-120"/>
              </a:rPr>
              <a:t>The bank is positioned to lead: priced right, funded right, reserved right — with dry powder.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C31"/>
        </a:solidFill>
      </p:bgPr>
    </p:bg>
    <p:spTree>
      <p:nvGrpSpPr>
        <p:cNvPr id="1" name=""/>
        <p:cNvGrpSpPr/>
        <p:nvPr/>
      </p:nvGrpSpPr>
      <p:grpSpPr>
        <a:xfrm>
          <a:off x="0" y="0"/>
          <a:ext cx="0" cy="0"/>
          <a:chOff x="0" y="0"/>
          <a:chExt cx="0" cy="0"/>
        </a:xfrm>
      </p:grpSpPr>
      <p:pic>
        <p:nvPicPr>
          <p:cNvPr id="2" name="Image 0" descr="bottle.jpg">    </p:cNvPr>
          <p:cNvPicPr>
            <a:picLocks noChangeAspect="1"/>
          </p:cNvPicPr>
          <p:nvPr/>
        </p:nvPicPr>
        <p:blipFill>
          <a:blip r:embed="rId1"/>
          <a:stretch>
            <a:fillRect/>
          </a:stretch>
        </p:blipFill>
        <p:spPr>
          <a:xfrm>
            <a:off x="822960" y="1234440"/>
            <a:ext cx="2926080" cy="4389120"/>
          </a:xfrm>
          <a:prstGeom prst="rect">
            <a:avLst/>
          </a:prstGeom>
        </p:spPr>
      </p:pic>
      <p:sp>
        <p:nvSpPr>
          <p:cNvPr id="3" name="Text 0"/>
          <p:cNvSpPr/>
          <p:nvPr/>
        </p:nvSpPr>
        <p:spPr>
          <a:xfrm>
            <a:off x="4297680" y="1554480"/>
            <a:ext cx="7315200" cy="173736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Aged two years.</a:t>
            </a:r>
            <a:endParaRPr lang="en-US" sz="4400" dirty="0"/>
          </a:p>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Built to endure.</a:t>
            </a:r>
            <a:endParaRPr lang="en-US" sz="4400" dirty="0"/>
          </a:p>
        </p:txBody>
      </p:sp>
      <p:sp>
        <p:nvSpPr>
          <p:cNvPr id="4" name="Text 1"/>
          <p:cNvSpPr/>
          <p:nvPr/>
        </p:nvSpPr>
        <p:spPr>
          <a:xfrm>
            <a:off x="4297680" y="3566160"/>
            <a:ext cx="1783080" cy="502920"/>
          </a:xfrm>
          <a:prstGeom prst="rect">
            <a:avLst/>
          </a:prstGeom>
          <a:noFill/>
          <a:ln/>
        </p:spPr>
        <p:txBody>
          <a:bodyPr wrap="square" lIns="0" tIns="0" rIns="0" bIns="0" rtlCol="0" anchor="ctr"/>
          <a:lstStyle/>
          <a:p>
            <a:pPr indent="0" marL="0">
              <a:buNone/>
            </a:pPr>
            <a:r>
              <a:rPr lang="en-US" sz="2400" b="1" dirty="0">
                <a:solidFill>
                  <a:srgbClr val="E3A94E"/>
                </a:solidFill>
                <a:latin typeface="Cambria" pitchFamily="34" charset="0"/>
                <a:ea typeface="Cambria" pitchFamily="34" charset="-122"/>
                <a:cs typeface="Cambria" pitchFamily="34" charset="-120"/>
              </a:rPr>
              <a:t>+$10.3M</a:t>
            </a:r>
            <a:endParaRPr lang="en-US" sz="2400" dirty="0"/>
          </a:p>
        </p:txBody>
      </p:sp>
      <p:sp>
        <p:nvSpPr>
          <p:cNvPr id="5" name="Text 2"/>
          <p:cNvSpPr/>
          <p:nvPr/>
        </p:nvSpPr>
        <p:spPr>
          <a:xfrm>
            <a:off x="4297680" y="4069080"/>
            <a:ext cx="1783080" cy="548640"/>
          </a:xfrm>
          <a:prstGeom prst="rect">
            <a:avLst/>
          </a:prstGeom>
          <a:noFill/>
          <a:ln/>
        </p:spPr>
        <p:txBody>
          <a:bodyPr wrap="square" lIns="0" tIns="0" rIns="0" bIns="0" rtlCol="0" anchor="ctr"/>
          <a:lstStyle/>
          <a:p>
            <a:pPr indent="0" marL="0">
              <a:buNone/>
            </a:pPr>
            <a:r>
              <a:rPr lang="en-US" sz="1050" dirty="0">
                <a:solidFill>
                  <a:srgbClr val="C9CFDC"/>
                </a:solidFill>
                <a:latin typeface="Calibri" pitchFamily="34" charset="0"/>
                <a:ea typeface="Calibri" pitchFamily="34" charset="-122"/>
                <a:cs typeface="Calibri" pitchFamily="34" charset="-120"/>
              </a:rPr>
              <a:t>operating earnings swing</a:t>
            </a:r>
            <a:endParaRPr lang="en-US" sz="1050" dirty="0"/>
          </a:p>
        </p:txBody>
      </p:sp>
      <p:sp>
        <p:nvSpPr>
          <p:cNvPr id="6" name="Text 3"/>
          <p:cNvSpPr/>
          <p:nvPr/>
        </p:nvSpPr>
        <p:spPr>
          <a:xfrm>
            <a:off x="6126480" y="3566160"/>
            <a:ext cx="1783080" cy="502920"/>
          </a:xfrm>
          <a:prstGeom prst="rect">
            <a:avLst/>
          </a:prstGeom>
          <a:noFill/>
          <a:ln/>
        </p:spPr>
        <p:txBody>
          <a:bodyPr wrap="square" lIns="0" tIns="0" rIns="0" bIns="0" rtlCol="0" anchor="ctr"/>
          <a:lstStyle/>
          <a:p>
            <a:pPr indent="0" marL="0">
              <a:buNone/>
            </a:pPr>
            <a:r>
              <a:rPr lang="en-US" sz="2400" b="1" dirty="0">
                <a:solidFill>
                  <a:srgbClr val="E3A94E"/>
                </a:solidFill>
                <a:latin typeface="Cambria" pitchFamily="34" charset="0"/>
                <a:ea typeface="Cambria" pitchFamily="34" charset="-122"/>
                <a:cs typeface="Cambria" pitchFamily="34" charset="-120"/>
              </a:rPr>
              <a:t>C → A</a:t>
            </a:r>
            <a:endParaRPr lang="en-US" sz="2400" dirty="0"/>
          </a:p>
        </p:txBody>
      </p:sp>
      <p:sp>
        <p:nvSpPr>
          <p:cNvPr id="7" name="Text 4"/>
          <p:cNvSpPr/>
          <p:nvPr/>
        </p:nvSpPr>
        <p:spPr>
          <a:xfrm>
            <a:off x="6126480" y="4069080"/>
            <a:ext cx="1783080" cy="548640"/>
          </a:xfrm>
          <a:prstGeom prst="rect">
            <a:avLst/>
          </a:prstGeom>
          <a:noFill/>
          <a:ln/>
        </p:spPr>
        <p:txBody>
          <a:bodyPr wrap="square" lIns="0" tIns="0" rIns="0" bIns="0" rtlCol="0" anchor="ctr"/>
          <a:lstStyle/>
          <a:p>
            <a:pPr indent="0" marL="0">
              <a:buNone/>
            </a:pPr>
            <a:r>
              <a:rPr lang="en-US" sz="1050" dirty="0">
                <a:solidFill>
                  <a:srgbClr val="C9CFDC"/>
                </a:solidFill>
                <a:latin typeface="Calibri" pitchFamily="34" charset="0"/>
                <a:ea typeface="Calibri" pitchFamily="34" charset="-122"/>
                <a:cs typeface="Calibri" pitchFamily="34" charset="-120"/>
              </a:rPr>
              <a:t>credit rating</a:t>
            </a:r>
            <a:endParaRPr lang="en-US" sz="1050" dirty="0"/>
          </a:p>
        </p:txBody>
      </p:sp>
      <p:sp>
        <p:nvSpPr>
          <p:cNvPr id="8" name="Text 5"/>
          <p:cNvSpPr/>
          <p:nvPr/>
        </p:nvSpPr>
        <p:spPr>
          <a:xfrm>
            <a:off x="7955280" y="3566160"/>
            <a:ext cx="1783080" cy="502920"/>
          </a:xfrm>
          <a:prstGeom prst="rect">
            <a:avLst/>
          </a:prstGeom>
          <a:noFill/>
          <a:ln/>
        </p:spPr>
        <p:txBody>
          <a:bodyPr wrap="square" lIns="0" tIns="0" rIns="0" bIns="0" rtlCol="0" anchor="ctr"/>
          <a:lstStyle/>
          <a:p>
            <a:pPr indent="0" marL="0">
              <a:buNone/>
            </a:pPr>
            <a:r>
              <a:rPr lang="en-US" sz="2400" b="1" dirty="0">
                <a:solidFill>
                  <a:srgbClr val="E3A94E"/>
                </a:solidFill>
                <a:latin typeface="Cambria" pitchFamily="34" charset="0"/>
                <a:ea typeface="Cambria" pitchFamily="34" charset="-122"/>
                <a:cs typeface="Cambria" pitchFamily="34" charset="-120"/>
              </a:rPr>
              <a:t>12.2%</a:t>
            </a:r>
            <a:endParaRPr lang="en-US" sz="2400" dirty="0"/>
          </a:p>
        </p:txBody>
      </p:sp>
      <p:sp>
        <p:nvSpPr>
          <p:cNvPr id="9" name="Text 6"/>
          <p:cNvSpPr/>
          <p:nvPr/>
        </p:nvSpPr>
        <p:spPr>
          <a:xfrm>
            <a:off x="7955280" y="4069080"/>
            <a:ext cx="1783080" cy="548640"/>
          </a:xfrm>
          <a:prstGeom prst="rect">
            <a:avLst/>
          </a:prstGeom>
          <a:noFill/>
          <a:ln/>
        </p:spPr>
        <p:txBody>
          <a:bodyPr wrap="square" lIns="0" tIns="0" rIns="0" bIns="0" rtlCol="0" anchor="ctr"/>
          <a:lstStyle/>
          <a:p>
            <a:pPr indent="0" marL="0">
              <a:buNone/>
            </a:pPr>
            <a:r>
              <a:rPr lang="en-US" sz="1050" dirty="0">
                <a:solidFill>
                  <a:srgbClr val="C9CFDC"/>
                </a:solidFill>
                <a:latin typeface="Calibri" pitchFamily="34" charset="0"/>
                <a:ea typeface="Calibri" pitchFamily="34" charset="-122"/>
                <a:cs typeface="Calibri" pitchFamily="34" charset="-120"/>
              </a:rPr>
              <a:t>risk capital</a:t>
            </a:r>
            <a:endParaRPr lang="en-US" sz="1050" dirty="0"/>
          </a:p>
        </p:txBody>
      </p:sp>
      <p:sp>
        <p:nvSpPr>
          <p:cNvPr id="10" name="Text 7"/>
          <p:cNvSpPr/>
          <p:nvPr/>
        </p:nvSpPr>
        <p:spPr>
          <a:xfrm>
            <a:off x="9784080" y="3566160"/>
            <a:ext cx="1783080" cy="502920"/>
          </a:xfrm>
          <a:prstGeom prst="rect">
            <a:avLst/>
          </a:prstGeom>
          <a:noFill/>
          <a:ln/>
        </p:spPr>
        <p:txBody>
          <a:bodyPr wrap="square" lIns="0" tIns="0" rIns="0" bIns="0" rtlCol="0" anchor="ctr"/>
          <a:lstStyle/>
          <a:p>
            <a:pPr indent="0" marL="0">
              <a:buNone/>
            </a:pPr>
            <a:r>
              <a:rPr lang="en-US" sz="2400" b="1" dirty="0">
                <a:solidFill>
                  <a:srgbClr val="E3A94E"/>
                </a:solidFill>
                <a:latin typeface="Cambria" pitchFamily="34" charset="0"/>
                <a:ea typeface="Cambria" pitchFamily="34" charset="-122"/>
                <a:cs typeface="Cambria" pitchFamily="34" charset="-120"/>
              </a:rPr>
              <a:t>$1.40</a:t>
            </a:r>
            <a:endParaRPr lang="en-US" sz="2400" dirty="0"/>
          </a:p>
        </p:txBody>
      </p:sp>
      <p:sp>
        <p:nvSpPr>
          <p:cNvPr id="11" name="Text 8"/>
          <p:cNvSpPr/>
          <p:nvPr/>
        </p:nvSpPr>
        <p:spPr>
          <a:xfrm>
            <a:off x="9784080" y="4069080"/>
            <a:ext cx="1783080" cy="548640"/>
          </a:xfrm>
          <a:prstGeom prst="rect">
            <a:avLst/>
          </a:prstGeom>
          <a:noFill/>
          <a:ln/>
        </p:spPr>
        <p:txBody>
          <a:bodyPr wrap="square" lIns="0" tIns="0" rIns="0" bIns="0" rtlCol="0" anchor="ctr"/>
          <a:lstStyle/>
          <a:p>
            <a:pPr indent="0" marL="0">
              <a:buNone/>
            </a:pPr>
            <a:r>
              <a:rPr lang="en-US" sz="1050" dirty="0">
                <a:solidFill>
                  <a:srgbClr val="C9CFDC"/>
                </a:solidFill>
                <a:latin typeface="Calibri" pitchFamily="34" charset="0"/>
                <a:ea typeface="Calibri" pitchFamily="34" charset="-122"/>
                <a:cs typeface="Calibri" pitchFamily="34" charset="-120"/>
              </a:rPr>
              <a:t>dividends restored</a:t>
            </a:r>
            <a:endParaRPr lang="en-US" sz="1050" dirty="0"/>
          </a:p>
        </p:txBody>
      </p:sp>
      <p:sp>
        <p:nvSpPr>
          <p:cNvPr id="12" name="Text 9"/>
          <p:cNvSpPr/>
          <p:nvPr/>
        </p:nvSpPr>
        <p:spPr>
          <a:xfrm>
            <a:off x="4297680" y="5120640"/>
            <a:ext cx="7223760" cy="457200"/>
          </a:xfrm>
          <a:prstGeom prst="rect">
            <a:avLst/>
          </a:prstGeom>
          <a:noFill/>
          <a:ln/>
        </p:spPr>
        <p:txBody>
          <a:bodyPr wrap="square" lIns="0" tIns="0" rIns="0" bIns="0" rtlCol="0" anchor="ctr"/>
          <a:lstStyle/>
          <a:p>
            <a:pPr indent="0" marL="0">
              <a:buNone/>
            </a:pPr>
            <a:r>
              <a:rPr lang="en-US" sz="1600" i="1" dirty="0">
                <a:solidFill>
                  <a:srgbClr val="C9CFDC"/>
                </a:solidFill>
                <a:latin typeface="Calibri" pitchFamily="34" charset="0"/>
                <a:ea typeface="Calibri" pitchFamily="34" charset="-122"/>
                <a:cs typeface="Calibri" pitchFamily="34" charset="-120"/>
              </a:rPr>
              <a:t>Thank you, shareholders. Questions welcome — we kept the receipts.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2026-07-28T19:54:37Z</dcterms:created>
  <dcterms:modified xsi:type="dcterms:W3CDTF">2026-07-28T19:54:37Z</dcterms:modified>
</cp:coreProperties>
</file>