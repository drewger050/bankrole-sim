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Share price</c:v>
                </c:pt>
              </c:strCache>
            </c:strRef>
          </c:tx>
          <c:spPr>
            <a:solidFill>
              <a:srgbClr val="E3A94E"/>
            </a:solidFill>
            <a:ln w="38100" cap="flat">
              <a:solidFill>
                <a:srgbClr val="E3A94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3A94E"/>
              </a:solidFill>
              <a:ln w="9525" cap="flat">
                <a:solidFill>
                  <a:srgbClr val="E3A94E"/>
                </a:solidFill>
                <a:prstDash val="solid"/>
                <a:round/>
              </a:ln>
              <a:effectLst/>
            </c:spPr>
          </c:marker>
          <c:cat>
            <c:multiLvlStrRef>
              <c:f>Sheet1!$A$2:$A$10</c:f>
              <c:multiLvlStrCache>
                <c:ptCount val="9"/>
                <c:lvl>
                  <c:pt idx="0">
                    <c:v>Q4/28</c:v>
                  </c:pt>
                  <c:pt idx="1">
                    <c:v>Q1/29</c:v>
                  </c:pt>
                  <c:pt idx="2">
                    <c:v>Q2/29</c:v>
                  </c:pt>
                  <c:pt idx="3">
                    <c:v>Q3/29</c:v>
                  </c:pt>
                  <c:pt idx="4">
                    <c:v>Q4/29</c:v>
                  </c:pt>
                  <c:pt idx="5">
                    <c:v>Q1/30</c:v>
                  </c:pt>
                  <c:pt idx="6">
                    <c:v>Q2/30</c:v>
                  </c:pt>
                  <c:pt idx="7">
                    <c:v>Q3/30</c:v>
                  </c:pt>
                  <c:pt idx="8">
                    <c:v>Q4/30</c:v>
                  </c:pt>
                </c:lvl>
              </c:multiLvlStrCache>
            </c:multiLvlStrRef>
          </c:cat>
          <c:val>
            <c:numRef>
              <c:f>Sheet1!$B$2:$B$10</c:f>
              <c:numCache>
                <c:formatCode>General</c:formatCode>
                <c:ptCount val="9"/>
                <c:pt idx="0">
                  <c:v>34.82</c:v>
                </c:pt>
                <c:pt idx="1">
                  <c:v>26.99</c:v>
                </c:pt>
                <c:pt idx="2">
                  <c:v>22.97</c:v>
                </c:pt>
                <c:pt idx="3">
                  <c:v>30.19</c:v>
                </c:pt>
                <c:pt idx="4">
                  <c:v>31.59</c:v>
                </c:pt>
                <c:pt idx="5">
                  <c:v>42.3</c:v>
                </c:pt>
                <c:pt idx="6">
                  <c:v>43.44</c:v>
                </c:pt>
                <c:pt idx="7">
                  <c:v>47.41</c:v>
                </c:pt>
                <c:pt idx="8">
                  <c:v>41.36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Start (Q4/28)</c:v>
                </c:pt>
              </c:strCache>
            </c:strRef>
          </c:tx>
          <c:spPr>
            <a:solidFill>
              <a:srgbClr val="C9C4B7"/>
            </a:solidFill>
            <a:effectLst/>
          </c:spPr>
          <c:invertIfNegative val="0"/>
          <c:dLbls>
            <c:numFmt formatCode="#,##0" sourceLinked="0"/>
            <c:txPr>
              <a:bodyPr/>
              <a:lstStyle/>
              <a:p>
                <a:pPr>
                  <a:defRPr b="0" i="0" strike="noStrike" sz="950" u="none">
                    <a:solidFill>
                      <a:srgbClr val="6E7480"/>
                    </a:solidFill>
                    <a:latin typeface="Arial"/>
                  </a:defRPr>
                </a:pPr>
              </a:p>
            </c:txPr>
            <c:showLegendKey val="0"/>
            <c:showVal val="1"/>
            <c:showCatName val="0"/>
            <c:showSerName val="0"/>
            <c:showPercent val="0"/>
            <c:showBubbleSize val="0"/>
            <c:showLeaderLines val="0"/>
          </c:dLbls>
          <c:cat>
            <c:multiLvlStrRef>
              <c:f>Sheet1!$A$2:$A$5</c:f>
              <c:multiLvlStrCache>
                <c:ptCount val="4"/>
                <c:lvl>
                  <c:pt idx="0">
                    <c:v>Assets</c:v>
                  </c:pt>
                  <c:pt idx="1">
                    <c:v>Loans</c:v>
                  </c:pt>
                  <c:pt idx="2">
                    <c:v>Deposits</c:v>
                  </c:pt>
                  <c:pt idx="3">
                    <c:v>Capital</c:v>
                  </c:pt>
                </c:lvl>
              </c:multiLvlStrCache>
            </c:multiLvlStrRef>
          </c:cat>
          <c:val>
            <c:numRef>
              <c:f>Sheet1!$B$2:$B$5</c:f>
              <c:numCache>
                <c:formatCode>General</c:formatCode>
                <c:ptCount val="4"/>
                <c:pt idx="0">
                  <c:v>739.8</c:v>
                </c:pt>
                <c:pt idx="1">
                  <c:v>588</c:v>
                </c:pt>
                <c:pt idx="2">
                  <c:v>551.1</c:v>
                </c:pt>
                <c:pt idx="3">
                  <c:v>47</c:v>
                </c:pt>
              </c:numCache>
            </c:numRef>
          </c:val>
        </c:ser>
        <c:ser>
          <c:idx val="1"/>
          <c:order val="1"/>
          <c:tx>
            <c:strRef>
              <c:f>Sheet1!$C$1</c:f>
              <c:strCache>
                <c:ptCount val="1"/>
                <c:pt idx="0">
                  <c:v>Finish (Q4/30)</c:v>
                </c:pt>
              </c:strCache>
            </c:strRef>
          </c:tx>
          <c:spPr>
            <a:solidFill>
              <a:srgbClr val="E3A94E"/>
            </a:solidFill>
            <a:effectLst/>
          </c:spPr>
          <c:invertIfNegative val="0"/>
          <c:dLbls>
            <c:numFmt formatCode="#,##0" sourceLinked="0"/>
            <c:txPr>
              <a:bodyPr/>
              <a:lstStyle/>
              <a:p>
                <a:pPr>
                  <a:defRPr b="0" i="0" strike="noStrike" sz="950" u="none">
                    <a:solidFill>
                      <a:srgbClr val="6E7480"/>
                    </a:solidFill>
                    <a:latin typeface="Arial"/>
                  </a:defRPr>
                </a:pPr>
              </a:p>
            </c:txPr>
            <c:showLegendKey val="0"/>
            <c:showVal val="1"/>
            <c:showCatName val="0"/>
            <c:showSerName val="0"/>
            <c:showPercent val="0"/>
            <c:showBubbleSize val="0"/>
            <c:showLeaderLines val="0"/>
          </c:dLbls>
          <c:cat>
            <c:multiLvlStrRef>
              <c:f>Sheet1!$A$2:$A$5</c:f>
              <c:multiLvlStrCache>
                <c:ptCount val="4"/>
                <c:lvl>
                  <c:pt idx="0">
                    <c:v>Assets</c:v>
                  </c:pt>
                  <c:pt idx="1">
                    <c:v>Loans</c:v>
                  </c:pt>
                  <c:pt idx="2">
                    <c:v>Deposits</c:v>
                  </c:pt>
                  <c:pt idx="3">
                    <c:v>Capital</c:v>
                  </c:pt>
                </c:lvl>
              </c:multiLvlStrCache>
            </c:multiLvlStrRef>
          </c:cat>
          <c:val>
            <c:numRef>
              <c:f>Sheet1!$C$2:$C$5</c:f>
              <c:numCache>
                <c:formatCode>General</c:formatCode>
                <c:ptCount val="4"/>
                <c:pt idx="0">
                  <c:v>818.1</c:v>
                </c:pt>
                <c:pt idx="1">
                  <c:v>663.2</c:v>
                </c:pt>
                <c:pt idx="2">
                  <c:v>658</c:v>
                </c:pt>
                <c:pt idx="3">
                  <c:v>80</c:v>
                </c:pt>
              </c:numCache>
            </c:numRef>
          </c:val>
        </c:ser>
        <c:dLbls>
          <c:numFmt formatCode="#,##0" sourceLinked="0"/>
          <c:txPr>
            <a:bodyPr/>
            <a:lstStyle/>
            <a:p>
              <a:pPr>
                <a:defRPr b="0" i="0" strike="noStrike" sz="950" u="none">
                  <a:solidFill>
                    <a:srgbClr val="6E7480"/>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max val="900"/>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E7480"/>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Operating earnings</c:v>
                </c:pt>
              </c:strCache>
            </c:strRef>
          </c:tx>
          <c:spPr>
            <a:solidFill>
              <a:srgbClr val="E3A94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Q1/29</c:v>
                  </c:pt>
                  <c:pt idx="1">
                    <c:v>Q2/29</c:v>
                  </c:pt>
                  <c:pt idx="2">
                    <c:v>Q3/29</c:v>
                  </c:pt>
                  <c:pt idx="3">
                    <c:v>Q4/29</c:v>
                  </c:pt>
                  <c:pt idx="4">
                    <c:v>Q1/30</c:v>
                  </c:pt>
                  <c:pt idx="5">
                    <c:v>Q2/30</c:v>
                  </c:pt>
                  <c:pt idx="6">
                    <c:v>Q3/30</c:v>
                  </c:pt>
                  <c:pt idx="7">
                    <c:v>Q4/30</c:v>
                  </c:pt>
                </c:lvl>
              </c:multiLvlStrCache>
            </c:multiLvlStrRef>
          </c:cat>
          <c:val>
            <c:numRef>
              <c:f>Sheet1!$B$2:$B$9</c:f>
              <c:numCache>
                <c:formatCode>General</c:formatCode>
                <c:ptCount val="8"/>
                <c:pt idx="0">
                  <c:v>-1.341</c:v>
                </c:pt>
                <c:pt idx="1">
                  <c:v>-1.186</c:v>
                </c:pt>
                <c:pt idx="2">
                  <c:v>0.321</c:v>
                </c:pt>
                <c:pt idx="3">
                  <c:v>1.603</c:v>
                </c:pt>
                <c:pt idx="4">
                  <c:v>2.131</c:v>
                </c:pt>
                <c:pt idx="5">
                  <c:v>1.276</c:v>
                </c:pt>
                <c:pt idx="6">
                  <c:v>3.825</c:v>
                </c:pt>
                <c:pt idx="7">
                  <c:v>0.577</c:v>
                </c:pt>
              </c:numCache>
            </c:numRef>
          </c:val>
        </c:ser>
        <c:ser>
          <c:idx val="1"/>
          <c:order val="1"/>
          <c:tx>
            <c:strRef>
              <c:f>Sheet1!$C$1</c:f>
              <c:strCache>
                <c:ptCount val="1"/>
                <c:pt idx="0">
                  <c:v>Net income</c:v>
                </c:pt>
              </c:strCache>
            </c:strRef>
          </c:tx>
          <c:spPr>
            <a:solidFill>
              <a:srgbClr val="1F2A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Q1/29</c:v>
                  </c:pt>
                  <c:pt idx="1">
                    <c:v>Q2/29</c:v>
                  </c:pt>
                  <c:pt idx="2">
                    <c:v>Q3/29</c:v>
                  </c:pt>
                  <c:pt idx="3">
                    <c:v>Q4/29</c:v>
                  </c:pt>
                  <c:pt idx="4">
                    <c:v>Q1/30</c:v>
                  </c:pt>
                  <c:pt idx="5">
                    <c:v>Q2/30</c:v>
                  </c:pt>
                  <c:pt idx="6">
                    <c:v>Q3/30</c:v>
                  </c:pt>
                  <c:pt idx="7">
                    <c:v>Q4/30</c:v>
                  </c:pt>
                </c:lvl>
              </c:multiLvlStrCache>
            </c:multiLvlStrRef>
          </c:cat>
          <c:val>
            <c:numRef>
              <c:f>Sheet1!$C$2:$C$9</c:f>
              <c:numCache>
                <c:formatCode>General</c:formatCode>
                <c:ptCount val="8"/>
                <c:pt idx="0">
                  <c:v>-0.627</c:v>
                </c:pt>
                <c:pt idx="1">
                  <c:v>-1.226</c:v>
                </c:pt>
                <c:pt idx="2">
                  <c:v>0.023</c:v>
                </c:pt>
                <c:pt idx="3">
                  <c:v>1.782</c:v>
                </c:pt>
                <c:pt idx="4">
                  <c:v>1.704</c:v>
                </c:pt>
                <c:pt idx="5">
                  <c:v>1.029</c:v>
                </c:pt>
                <c:pt idx="6">
                  <c:v>3.043</c:v>
                </c:pt>
                <c:pt idx="7">
                  <c:v>0.906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6E7480"/>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NIM</c:v>
                </c:pt>
              </c:strCache>
            </c:strRef>
          </c:tx>
          <c:spPr>
            <a:solidFill>
              <a:srgbClr val="E3A94E"/>
            </a:solidFill>
            <a:ln w="38100" cap="flat">
              <a:solidFill>
                <a:srgbClr val="E3A94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3A94E"/>
              </a:solidFill>
              <a:ln w="9525" cap="flat">
                <a:solidFill>
                  <a:srgbClr val="E3A94E"/>
                </a:solidFill>
                <a:prstDash val="solid"/>
                <a:round/>
              </a:ln>
              <a:effectLst/>
            </c:spPr>
          </c:marker>
          <c:cat>
            <c:multiLvlStrRef>
              <c:f>Sheet1!$A$2:$A$9</c:f>
              <c:multiLvlStrCache>
                <c:ptCount val="8"/>
                <c:lvl>
                  <c:pt idx="0">
                    <c:v>Q1/29</c:v>
                  </c:pt>
                  <c:pt idx="1">
                    <c:v>Q2/29</c:v>
                  </c:pt>
                  <c:pt idx="2">
                    <c:v>Q3/29</c:v>
                  </c:pt>
                  <c:pt idx="3">
                    <c:v>Q4/29</c:v>
                  </c:pt>
                  <c:pt idx="4">
                    <c:v>Q1/30</c:v>
                  </c:pt>
                  <c:pt idx="5">
                    <c:v>Q2/30</c:v>
                  </c:pt>
                  <c:pt idx="6">
                    <c:v>Q3/30</c:v>
                  </c:pt>
                  <c:pt idx="7">
                    <c:v>Q4/30</c:v>
                  </c:pt>
                </c:lvl>
              </c:multiLvlStrCache>
            </c:multiLvlStrRef>
          </c:cat>
          <c:val>
            <c:numRef>
              <c:f>Sheet1!$B$2:$B$9</c:f>
              <c:numCache>
                <c:formatCode>General</c:formatCode>
                <c:ptCount val="8"/>
                <c:pt idx="0">
                  <c:v>3.12</c:v>
                </c:pt>
                <c:pt idx="1">
                  <c:v>3.13</c:v>
                </c:pt>
                <c:pt idx="2">
                  <c:v>3.24</c:v>
                </c:pt>
                <c:pt idx="3">
                  <c:v>3.7</c:v>
                </c:pt>
                <c:pt idx="4">
                  <c:v>3.85</c:v>
                </c:pt>
                <c:pt idx="5">
                  <c:v>3.96</c:v>
                </c:pt>
                <c:pt idx="6">
                  <c:v>4.1</c:v>
                </c:pt>
                <c:pt idx="7">
                  <c:v>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max val="4.4"/>
          <c:min val="3"/>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Efficiency</c:v>
                </c:pt>
              </c:strCache>
            </c:strRef>
          </c:tx>
          <c:spPr>
            <a:solidFill>
              <a:srgbClr val="B9791F"/>
            </a:solidFill>
            <a:ln w="38100" cap="flat">
              <a:solidFill>
                <a:srgbClr val="B979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9791F"/>
              </a:solidFill>
              <a:ln w="9525" cap="flat">
                <a:solidFill>
                  <a:srgbClr val="B9791F"/>
                </a:solidFill>
                <a:prstDash val="solid"/>
                <a:round/>
              </a:ln>
              <a:effectLst/>
            </c:spPr>
          </c:marker>
          <c:cat>
            <c:multiLvlStrRef>
              <c:f>Sheet1!$A$2:$A$9</c:f>
              <c:multiLvlStrCache>
                <c:ptCount val="8"/>
                <c:lvl>
                  <c:pt idx="0">
                    <c:v>Q1/29</c:v>
                  </c:pt>
                  <c:pt idx="1">
                    <c:v>Q2/29</c:v>
                  </c:pt>
                  <c:pt idx="2">
                    <c:v>Q3/29</c:v>
                  </c:pt>
                  <c:pt idx="3">
                    <c:v>Q4/29</c:v>
                  </c:pt>
                  <c:pt idx="4">
                    <c:v>Q1/30</c:v>
                  </c:pt>
                  <c:pt idx="5">
                    <c:v>Q2/30</c:v>
                  </c:pt>
                  <c:pt idx="6">
                    <c:v>Q3/30</c:v>
                  </c:pt>
                  <c:pt idx="7">
                    <c:v>Q4/30</c:v>
                  </c:pt>
                </c:lvl>
              </c:multiLvlStrCache>
            </c:multiLvlStrRef>
          </c:cat>
          <c:val>
            <c:numRef>
              <c:f>Sheet1!$B$2:$B$9</c:f>
              <c:numCache>
                <c:formatCode>General</c:formatCode>
                <c:ptCount val="8"/>
                <c:pt idx="0">
                  <c:v>89</c:v>
                </c:pt>
                <c:pt idx="1">
                  <c:v>89</c:v>
                </c:pt>
                <c:pt idx="2">
                  <c:v>72</c:v>
                </c:pt>
                <c:pt idx="3">
                  <c:v>67</c:v>
                </c:pt>
                <c:pt idx="4">
                  <c:v>63</c:v>
                </c:pt>
                <c:pt idx="5">
                  <c:v>62</c:v>
                </c:pt>
                <c:pt idx="6">
                  <c:v>60</c:v>
                </c:pt>
                <c:pt idx="7">
                  <c:v>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C4B7"/>
            </a:solidFill>
            <a:prstDash val="solid"/>
            <a:round/>
          </a:ln>
        </c:spPr>
        <c:txPr>
          <a:bodyPr/>
          <a:lstStyle/>
          <a:p>
            <a:pPr>
              <a:defRPr sz="1000" b="0" i="0" u="none" strike="noStrike">
                <a:solidFill>
                  <a:srgbClr val="6E7480"/>
                </a:solidFill>
                <a:latin typeface="Arial"/>
              </a:defRPr>
            </a:pPr>
            <a:endParaRPr lang="en-US"/>
          </a:p>
        </c:txPr>
        <c:crossAx val="2094734552"/>
        <c:crosses val="autoZero"/>
        <c:auto val="1"/>
        <c:lblAlgn val="ctr"/>
        <c:noMultiLvlLbl val="1"/>
      </c:catAx>
      <c:valAx>
        <c:axId val="2094734552"/>
        <c:scaling>
          <c:orientation val="minMax"/>
          <c:max val="95"/>
          <c:min val="55"/>
        </c:scaling>
        <c:delete val="0"/>
        <c:axPos val="l"/>
        <c:majorGridlines>
          <c:spPr>
            <a:ln w="6350" cap="flat">
              <a:solidFill>
                <a:srgbClr val="E4E0D5"/>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7480"/>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(CEO, 1 min): Two years ago this bank earned its name. Tonight we hand shareholders an A-rated bank, a growing dividend, and record earnings. This is how we aged it to top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CEO (40 sec): Vision and mission set the pace — slow, deliberate, durable. The four core values — Integrity, Stewardship, Excellence, Relationships — show up in this deck as honest scorecards, careful capital, disciplined pricing, and a funding base built on customers rather than borrowings.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CEO (20 sec): One line per person. Swap bracketed names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CEO (2 min): Set the scene honestly — the name was earned. Four numbers tell it: losing money, funding on overnight borrowings far past the regulatory line, capital short of a hard new requirement, and a C rating. First team decision: stop following the lemmings.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 (30 sec): The dip was the investment; everything after Q2/29 is the return on it. From here, the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 (90 sec): One phase per column, one breath each. The through-line: you cannot reprice loans while your funding is on fire, and you cannot harvest a margin you never repriced.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 (60 sec): Growth strategy per the framework — organic, deposit-funded, capital raised ahead of need. The chart: bigger on every line that matters, and the growth is funded by customers, not borrowings.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 (45 sec): Differentiation was subtraction as much as addition — we stopped doing what lost money and doubled down where we had an edge. Hand off to CU for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 (90 sec): Three shrinking losses, breakeven in Q3/29, then five straight profitable quarters capped by our best ever. FY30 net income $6.7M — after resuming tax payments, a problem we're glad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 (60 sec): Left — margin: every loan repriced for its risk, funding costs floating down. Right — efficiency: the product pruning and volume discipline made the cost base a third lighter per revenue dollar. Both are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 (60 sec): The provision line matters: it came down because the book got safer, never because we stopped counting. Fees normalized after FY29's one-time loan-sale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 (75 sec): Integrity means grading our own paper honestly. 2029: one exceeded, two amber — profitability arrived a year late because we chose to pre-fund credit and finish the capital plan first. Both amber goals fully landed in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 (75 sec): 2030's grade is a stewardship story. We could have bought $180M of assets with cheap wholesale money and called the $1B goal 'achieved' — instead we kept the balance sheet clean and delivered record earnings and a doubled dividend. Own the trade-off proudly.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 (75 sec): Lead with the two honest dings — the fed-funds breach during 2029's loan surge (fixed structurally, not cosmetically) and construction concentration (a guidance flag we ran deliberately while it earned, then walked down). Everything else clean. The regulators' own verdict: C to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 (2 min): Six KPIs across financial, customer, and cultural measures — each with today's reading. Close on M&amp;A readiness: an acquirer needs three things — excess capital (we have ~$15M above requirements), a credible currency (stock at ~1.0x book and an A rating), and an integration-ready operating model (our efficiency and credit discipline). Two years ago we'd have been the target. Today we can be the buyer — organic remains plan A, but we are prepared to move if the right bank comes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team (30 sec + 5 min Q&amp;A). Crib sheet: (1) Why dilute at the bottom? The penalty regime cost more than the dilution; later raises priced far better. (2) Construction risk? Priced for it, reviewed it, walked it down before the cycle forced us. (3) Is FY30 repeatable? The margin and cost base are structural; we guide conservatively on purpose. (4) Why believe the numbers? Every figure is from the regulatory reports, unadjusted.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C31"/>
        </a:solidFill>
      </p:bgPr>
    </p:bg>
    <p:spTree>
      <p:nvGrpSpPr>
        <p:cNvPr id="1" name=""/>
        <p:cNvGrpSpPr/>
        <p:nvPr/>
      </p:nvGrpSpPr>
      <p:grpSpPr>
        <a:xfrm>
          <a:off x="0" y="0"/>
          <a:ext cx="0" cy="0"/>
          <a:chOff x="0" y="0"/>
          <a:chExt cx="0" cy="0"/>
        </a:xfrm>
      </p:grpSpPr>
      <p:pic>
        <p:nvPicPr>
          <p:cNvPr id="2" name="Image 0" descr="bottle.jpg">    </p:cNvPr>
          <p:cNvPicPr>
            <a:picLocks noChangeAspect="1"/>
          </p:cNvPicPr>
          <p:nvPr/>
        </p:nvPicPr>
        <p:blipFill>
          <a:blip r:embed="rId1"/>
          <a:stretch>
            <a:fillRect/>
          </a:stretch>
        </p:blipFill>
        <p:spPr>
          <a:xfrm>
            <a:off x="8275320" y="685800"/>
            <a:ext cx="3310128" cy="4965192"/>
          </a:xfrm>
          <a:prstGeom prst="rect">
            <a:avLst/>
          </a:prstGeom>
        </p:spPr>
      </p:pic>
      <p:sp>
        <p:nvSpPr>
          <p:cNvPr id="3" name="Text 0"/>
          <p:cNvSpPr/>
          <p:nvPr/>
        </p:nvSpPr>
        <p:spPr>
          <a:xfrm>
            <a:off x="685800" y="1554480"/>
            <a:ext cx="7406640" cy="457200"/>
          </a:xfrm>
          <a:prstGeom prst="rect">
            <a:avLst/>
          </a:prstGeom>
          <a:noFill/>
          <a:ln/>
        </p:spPr>
        <p:txBody>
          <a:bodyPr wrap="square" lIns="0" tIns="0" rIns="0" bIns="0" rtlCol="0" anchor="ctr"/>
          <a:lstStyle/>
          <a:p>
            <a:pPr indent="0" marL="0">
              <a:buNone/>
            </a:pPr>
            <a:r>
              <a:rPr lang="en-US" sz="1600" b="1" spc="300" kern="0" dirty="0">
                <a:solidFill>
                  <a:srgbClr val="E3A94E"/>
                </a:solidFill>
                <a:latin typeface="Calibri" pitchFamily="34" charset="0"/>
                <a:ea typeface="Calibri" pitchFamily="34" charset="-122"/>
                <a:cs typeface="Calibri" pitchFamily="34" charset="-120"/>
              </a:rPr>
              <a:t>BOTTOM OF THE BARREL BANK</a:t>
            </a:r>
            <a:endParaRPr lang="en-US" sz="1600" dirty="0"/>
          </a:p>
        </p:txBody>
      </p:sp>
      <p:sp>
        <p:nvSpPr>
          <p:cNvPr id="4" name="Text 1"/>
          <p:cNvSpPr/>
          <p:nvPr/>
        </p:nvSpPr>
        <p:spPr>
          <a:xfrm>
            <a:off x="685800" y="2057400"/>
            <a:ext cx="749808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Aged to Top Shelf.</a:t>
            </a:r>
            <a:endParaRPr lang="en-US" sz="5400" dirty="0"/>
          </a:p>
        </p:txBody>
      </p:sp>
      <p:sp>
        <p:nvSpPr>
          <p:cNvPr id="5" name="Text 2"/>
          <p:cNvSpPr/>
          <p:nvPr/>
        </p:nvSpPr>
        <p:spPr>
          <a:xfrm>
            <a:off x="685800" y="3520440"/>
            <a:ext cx="7406640" cy="365760"/>
          </a:xfrm>
          <a:prstGeom prst="rect">
            <a:avLst/>
          </a:prstGeom>
          <a:noFill/>
          <a:ln/>
        </p:spPr>
        <p:txBody>
          <a:bodyPr wrap="square" lIns="0" tIns="0" rIns="0" bIns="0" rtlCol="0" anchor="ctr"/>
          <a:lstStyle/>
          <a:p>
            <a:pPr indent="0" marL="0">
              <a:buNone/>
            </a:pPr>
            <a:r>
              <a:rPr lang="en-US" sz="1500" dirty="0">
                <a:solidFill>
                  <a:srgbClr val="C9CFDC"/>
                </a:solidFill>
                <a:latin typeface="Calibri" pitchFamily="34" charset="0"/>
                <a:ea typeface="Calibri" pitchFamily="34" charset="-122"/>
                <a:cs typeface="Calibri" pitchFamily="34" charset="-120"/>
              </a:rPr>
              <a:t>2026 Annual Shareholder Presentation</a:t>
            </a:r>
            <a:endParaRPr lang="en-US" sz="1500" dirty="0"/>
          </a:p>
        </p:txBody>
      </p:sp>
      <p:sp>
        <p:nvSpPr>
          <p:cNvPr id="6" name="Text 3"/>
          <p:cNvSpPr/>
          <p:nvPr/>
        </p:nvSpPr>
        <p:spPr>
          <a:xfrm>
            <a:off x="685800" y="3913632"/>
            <a:ext cx="7406640" cy="365760"/>
          </a:xfrm>
          <a:prstGeom prst="rect">
            <a:avLst/>
          </a:prstGeom>
          <a:noFill/>
          <a:ln/>
        </p:spPr>
        <p:txBody>
          <a:bodyPr wrap="square" lIns="0" tIns="0" rIns="0" bIns="0" rtlCol="0" anchor="ctr"/>
          <a:lstStyle/>
          <a:p>
            <a:pPr indent="0" marL="0">
              <a:buNone/>
            </a:pPr>
            <a:r>
              <a:rPr lang="en-US" sz="1300" dirty="0">
                <a:solidFill>
                  <a:srgbClr val="C9CFDC"/>
                </a:solidFill>
                <a:latin typeface="Calibri" pitchFamily="34" charset="0"/>
                <a:ea typeface="Calibri" pitchFamily="34" charset="-122"/>
                <a:cs typeface="Calibri" pitchFamily="34" charset="-120"/>
              </a:rPr>
              <a:t>Team B1  ·  Fiscal Years 2029–2030  ·  Graduate School of Banking at Colorado</a:t>
            </a:r>
            <a:endParaRPr lang="en-US" sz="1300" dirty="0"/>
          </a:p>
        </p:txBody>
      </p:sp>
      <p:sp>
        <p:nvSpPr>
          <p:cNvPr id="7" name="Text 4"/>
          <p:cNvSpPr/>
          <p:nvPr/>
        </p:nvSpPr>
        <p:spPr>
          <a:xfrm>
            <a:off x="685800" y="5212080"/>
            <a:ext cx="7498080" cy="457200"/>
          </a:xfrm>
          <a:prstGeom prst="rect">
            <a:avLst/>
          </a:prstGeom>
          <a:noFill/>
          <a:ln/>
        </p:spPr>
        <p:txBody>
          <a:bodyPr wrap="square" lIns="0" tIns="0" rIns="0" bIns="0" rtlCol="0" anchor="ctr"/>
          <a:lstStyle/>
          <a:p>
            <a:pPr indent="0" marL="0">
              <a:buNone/>
            </a:pPr>
            <a:r>
              <a:rPr lang="en-US" sz="1500" b="1" dirty="0">
                <a:solidFill>
                  <a:srgbClr val="E3A94E"/>
                </a:solidFill>
                <a:latin typeface="Calibri" pitchFamily="34" charset="0"/>
                <a:ea typeface="Calibri" pitchFamily="34" charset="-122"/>
                <a:cs typeface="Calibri" pitchFamily="34" charset="-120"/>
              </a:rPr>
              <a:t>$41.36</a:t>
            </a:r>
            <a:pPr indent="0" marL="0">
              <a:buNone/>
            </a:pPr>
            <a:r>
              <a:rPr lang="en-US" sz="1500" dirty="0">
                <a:solidFill>
                  <a:srgbClr val="C9CFDC"/>
                </a:solidFill>
                <a:latin typeface="Calibri" pitchFamily="34" charset="0"/>
                <a:ea typeface="Calibri" pitchFamily="34" charset="-122"/>
                <a:cs typeface="Calibri" pitchFamily="34" charset="-120"/>
              </a:rPr>
              <a:t>  share price   ·   </a:t>
            </a:r>
            <a:pPr indent="0" marL="0">
              <a:buNone/>
            </a:pPr>
            <a:r>
              <a:rPr lang="en-US" sz="1500" b="1" dirty="0">
                <a:solidFill>
                  <a:srgbClr val="E3A94E"/>
                </a:solidFill>
                <a:latin typeface="Calibri" pitchFamily="34" charset="0"/>
                <a:ea typeface="Calibri" pitchFamily="34" charset="-122"/>
                <a:cs typeface="Calibri" pitchFamily="34" charset="-120"/>
              </a:rPr>
              <a:t>A</a:t>
            </a:r>
            <a:pPr indent="0" marL="0">
              <a:buNone/>
            </a:pPr>
            <a:r>
              <a:rPr lang="en-US" sz="1500" dirty="0">
                <a:solidFill>
                  <a:srgbClr val="C9CFDC"/>
                </a:solidFill>
                <a:latin typeface="Calibri" pitchFamily="34" charset="0"/>
                <a:ea typeface="Calibri" pitchFamily="34" charset="-122"/>
                <a:cs typeface="Calibri" pitchFamily="34" charset="-120"/>
              </a:rPr>
              <a:t>  credit rating   ·   </a:t>
            </a:r>
            <a:pPr indent="0" marL="0">
              <a:buNone/>
            </a:pPr>
            <a:r>
              <a:rPr lang="en-US" sz="1500" b="1" dirty="0">
                <a:solidFill>
                  <a:srgbClr val="E3A94E"/>
                </a:solidFill>
                <a:latin typeface="Calibri" pitchFamily="34" charset="0"/>
                <a:ea typeface="Calibri" pitchFamily="34" charset="-122"/>
                <a:cs typeface="Calibri" pitchFamily="34" charset="-120"/>
              </a:rPr>
              <a:t>$6.7M</a:t>
            </a:r>
            <a:pPr indent="0" marL="0">
              <a:buNone/>
            </a:pPr>
            <a:r>
              <a:rPr lang="en-US" sz="1500" dirty="0">
                <a:solidFill>
                  <a:srgbClr val="C9CFDC"/>
                </a:solidFill>
                <a:latin typeface="Calibri" pitchFamily="34" charset="0"/>
                <a:ea typeface="Calibri" pitchFamily="34" charset="-122"/>
                <a:cs typeface="Calibri" pitchFamily="34" charset="-120"/>
              </a:rPr>
              <a:t>  2030 net income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IDENTITY · VISION, MISSION &amp; CORE VALUES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Who We Are</a:t>
            </a:r>
            <a:endParaRPr lang="en-US" sz="3200" dirty="0"/>
          </a:p>
        </p:txBody>
      </p:sp>
      <p:sp>
        <p:nvSpPr>
          <p:cNvPr id="4" name="Text 2"/>
          <p:cNvSpPr/>
          <p:nvPr/>
        </p:nvSpPr>
        <p:spPr>
          <a:xfrm>
            <a:off x="548640" y="1554480"/>
            <a:ext cx="1828800" cy="320040"/>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VISION</a:t>
            </a:r>
            <a:endParaRPr lang="en-US" sz="1200" dirty="0"/>
          </a:p>
        </p:txBody>
      </p:sp>
      <p:sp>
        <p:nvSpPr>
          <p:cNvPr id="5" name="Text 3"/>
          <p:cNvSpPr/>
          <p:nvPr/>
        </p:nvSpPr>
        <p:spPr>
          <a:xfrm>
            <a:off x="548640" y="1874520"/>
            <a:ext cx="7223760" cy="777240"/>
          </a:xfrm>
          <a:prstGeom prst="rect">
            <a:avLst/>
          </a:prstGeom>
          <a:noFill/>
          <a:ln/>
        </p:spPr>
        <p:txBody>
          <a:bodyPr wrap="square" lIns="0" tIns="0" rIns="0" bIns="0" rtlCol="0" anchor="ctr"/>
          <a:lstStyle/>
          <a:p>
            <a:pPr indent="0" marL="0">
              <a:buNone/>
            </a:pPr>
            <a:r>
              <a:rPr lang="en-US" sz="1700" i="1" dirty="0">
                <a:solidFill>
                  <a:srgbClr val="232733"/>
                </a:solidFill>
                <a:latin typeface="Cambria" pitchFamily="34" charset="0"/>
                <a:ea typeface="Cambria" pitchFamily="34" charset="-122"/>
                <a:cs typeface="Cambria" pitchFamily="34" charset="-120"/>
              </a:rPr>
              <a:t>To build a bank like a great bourbon: crafted with purpose, strengthened over time, and built to endure.</a:t>
            </a:r>
            <a:endParaRPr lang="en-US" sz="1700" dirty="0"/>
          </a:p>
        </p:txBody>
      </p:sp>
      <p:sp>
        <p:nvSpPr>
          <p:cNvPr id="6" name="Text 4"/>
          <p:cNvSpPr/>
          <p:nvPr/>
        </p:nvSpPr>
        <p:spPr>
          <a:xfrm>
            <a:off x="548640" y="2834640"/>
            <a:ext cx="1828800" cy="320040"/>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MISSION</a:t>
            </a:r>
            <a:endParaRPr lang="en-US" sz="1200" dirty="0"/>
          </a:p>
        </p:txBody>
      </p:sp>
      <p:sp>
        <p:nvSpPr>
          <p:cNvPr id="7" name="Text 5"/>
          <p:cNvSpPr/>
          <p:nvPr/>
        </p:nvSpPr>
        <p:spPr>
          <a:xfrm>
            <a:off x="548640" y="3154680"/>
            <a:ext cx="7223760" cy="640080"/>
          </a:xfrm>
          <a:prstGeom prst="rect">
            <a:avLst/>
          </a:prstGeom>
          <a:noFill/>
          <a:ln/>
        </p:spPr>
        <p:txBody>
          <a:bodyPr wrap="square" lIns="0" tIns="0" rIns="0" bIns="0" rtlCol="0" anchor="ctr"/>
          <a:lstStyle/>
          <a:p>
            <a:pPr indent="0" marL="0">
              <a:buNone/>
            </a:pPr>
            <a:r>
              <a:rPr lang="en-US" sz="1700" i="1" dirty="0">
                <a:solidFill>
                  <a:srgbClr val="232733"/>
                </a:solidFill>
                <a:latin typeface="Cambria" pitchFamily="34" charset="0"/>
                <a:ea typeface="Cambria" pitchFamily="34" charset="-122"/>
                <a:cs typeface="Cambria" pitchFamily="34" charset="-120"/>
              </a:rPr>
              <a:t>Slow-aged investment, distilled from trust, poured back into the community.</a:t>
            </a:r>
            <a:endParaRPr lang="en-US" sz="1700" dirty="0"/>
          </a:p>
        </p:txBody>
      </p:sp>
      <p:sp>
        <p:nvSpPr>
          <p:cNvPr id="8" name="Text 6"/>
          <p:cNvSpPr/>
          <p:nvPr/>
        </p:nvSpPr>
        <p:spPr>
          <a:xfrm>
            <a:off x="548640" y="4114800"/>
            <a:ext cx="2743200" cy="320040"/>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CORE VALUES</a:t>
            </a:r>
            <a:endParaRPr lang="en-US" sz="1200" dirty="0"/>
          </a:p>
        </p:txBody>
      </p:sp>
      <p:sp>
        <p:nvSpPr>
          <p:cNvPr id="9" name="Shape 7"/>
          <p:cNvSpPr/>
          <p:nvPr/>
        </p:nvSpPr>
        <p:spPr>
          <a:xfrm>
            <a:off x="548640" y="4480560"/>
            <a:ext cx="2651760" cy="1691640"/>
          </a:xfrm>
          <a:prstGeom prst="roundRect">
            <a:avLst>
              <a:gd name="adj" fmla="val 4324"/>
            </a:avLst>
          </a:prstGeom>
          <a:solidFill>
            <a:srgbClr val="F5F0E4"/>
          </a:solidFill>
          <a:ln/>
        </p:spPr>
      </p:sp>
      <p:sp>
        <p:nvSpPr>
          <p:cNvPr id="10" name="Text 8"/>
          <p:cNvSpPr/>
          <p:nvPr/>
        </p:nvSpPr>
        <p:spPr>
          <a:xfrm>
            <a:off x="731520" y="4645152"/>
            <a:ext cx="2286000" cy="36576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Integrity</a:t>
            </a:r>
            <a:endParaRPr lang="en-US" sz="1600" dirty="0"/>
          </a:p>
        </p:txBody>
      </p:sp>
      <p:sp>
        <p:nvSpPr>
          <p:cNvPr id="11" name="Text 9"/>
          <p:cNvSpPr/>
          <p:nvPr/>
        </p:nvSpPr>
        <p:spPr>
          <a:xfrm>
            <a:off x="731520" y="5029200"/>
            <a:ext cx="2286000" cy="1005840"/>
          </a:xfrm>
          <a:prstGeom prst="rect">
            <a:avLst/>
          </a:prstGeom>
          <a:noFill/>
          <a:ln/>
        </p:spPr>
        <p:txBody>
          <a:bodyPr wrap="square" lIns="0" tIns="0" rIns="0" bIns="0" rtlCol="0" anchor="ctr"/>
          <a:lstStyle/>
          <a:p>
            <a:pPr indent="0" marL="0">
              <a:buNone/>
            </a:pPr>
            <a:r>
              <a:rPr lang="en-US" sz="1050" dirty="0">
                <a:solidFill>
                  <a:srgbClr val="6E7480"/>
                </a:solidFill>
                <a:latin typeface="Calibri" pitchFamily="34" charset="0"/>
                <a:ea typeface="Calibri" pitchFamily="34" charset="-122"/>
                <a:cs typeface="Calibri" pitchFamily="34" charset="-120"/>
              </a:rPr>
              <a:t>We report the hard numbers as plainly as the good ones.</a:t>
            </a:r>
            <a:endParaRPr lang="en-US" sz="1050" dirty="0"/>
          </a:p>
        </p:txBody>
      </p:sp>
      <p:sp>
        <p:nvSpPr>
          <p:cNvPr id="12" name="Shape 10"/>
          <p:cNvSpPr/>
          <p:nvPr/>
        </p:nvSpPr>
        <p:spPr>
          <a:xfrm>
            <a:off x="3355848" y="4480560"/>
            <a:ext cx="2651760" cy="1691640"/>
          </a:xfrm>
          <a:prstGeom prst="roundRect">
            <a:avLst>
              <a:gd name="adj" fmla="val 4324"/>
            </a:avLst>
          </a:prstGeom>
          <a:solidFill>
            <a:srgbClr val="F5F0E4"/>
          </a:solidFill>
          <a:ln/>
        </p:spPr>
      </p:sp>
      <p:sp>
        <p:nvSpPr>
          <p:cNvPr id="13" name="Text 11"/>
          <p:cNvSpPr/>
          <p:nvPr/>
        </p:nvSpPr>
        <p:spPr>
          <a:xfrm>
            <a:off x="3538728" y="4645152"/>
            <a:ext cx="2286000" cy="36576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Stewardship</a:t>
            </a:r>
            <a:endParaRPr lang="en-US" sz="1600" dirty="0"/>
          </a:p>
        </p:txBody>
      </p:sp>
      <p:sp>
        <p:nvSpPr>
          <p:cNvPr id="14" name="Text 12"/>
          <p:cNvSpPr/>
          <p:nvPr/>
        </p:nvSpPr>
        <p:spPr>
          <a:xfrm>
            <a:off x="3538728" y="5029200"/>
            <a:ext cx="2286000" cy="1005840"/>
          </a:xfrm>
          <a:prstGeom prst="rect">
            <a:avLst/>
          </a:prstGeom>
          <a:noFill/>
          <a:ln/>
        </p:spPr>
        <p:txBody>
          <a:bodyPr wrap="square" lIns="0" tIns="0" rIns="0" bIns="0" rtlCol="0" anchor="ctr"/>
          <a:lstStyle/>
          <a:p>
            <a:pPr indent="0" marL="0">
              <a:buNone/>
            </a:pPr>
            <a:r>
              <a:rPr lang="en-US" sz="1050" dirty="0">
                <a:solidFill>
                  <a:srgbClr val="6E7480"/>
                </a:solidFill>
                <a:latin typeface="Calibri" pitchFamily="34" charset="0"/>
                <a:ea typeface="Calibri" pitchFamily="34" charset="-122"/>
                <a:cs typeface="Calibri" pitchFamily="34" charset="-120"/>
              </a:rPr>
              <a:t>Shareholder capital is borrowed trust — we spend it carefully.</a:t>
            </a:r>
            <a:endParaRPr lang="en-US" sz="1050" dirty="0"/>
          </a:p>
        </p:txBody>
      </p:sp>
      <p:sp>
        <p:nvSpPr>
          <p:cNvPr id="15" name="Shape 13"/>
          <p:cNvSpPr/>
          <p:nvPr/>
        </p:nvSpPr>
        <p:spPr>
          <a:xfrm>
            <a:off x="6163056" y="4480560"/>
            <a:ext cx="2651760" cy="1691640"/>
          </a:xfrm>
          <a:prstGeom prst="roundRect">
            <a:avLst>
              <a:gd name="adj" fmla="val 4324"/>
            </a:avLst>
          </a:prstGeom>
          <a:solidFill>
            <a:srgbClr val="F5F0E4"/>
          </a:solidFill>
          <a:ln/>
        </p:spPr>
      </p:sp>
      <p:sp>
        <p:nvSpPr>
          <p:cNvPr id="16" name="Text 14"/>
          <p:cNvSpPr/>
          <p:nvPr/>
        </p:nvSpPr>
        <p:spPr>
          <a:xfrm>
            <a:off x="6345936" y="4645152"/>
            <a:ext cx="2286000" cy="36576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Excellence</a:t>
            </a:r>
            <a:endParaRPr lang="en-US" sz="1600" dirty="0"/>
          </a:p>
        </p:txBody>
      </p:sp>
      <p:sp>
        <p:nvSpPr>
          <p:cNvPr id="17" name="Text 15"/>
          <p:cNvSpPr/>
          <p:nvPr/>
        </p:nvSpPr>
        <p:spPr>
          <a:xfrm>
            <a:off x="6345936" y="5029200"/>
            <a:ext cx="2286000" cy="1005840"/>
          </a:xfrm>
          <a:prstGeom prst="rect">
            <a:avLst/>
          </a:prstGeom>
          <a:noFill/>
          <a:ln/>
        </p:spPr>
        <p:txBody>
          <a:bodyPr wrap="square" lIns="0" tIns="0" rIns="0" bIns="0" rtlCol="0" anchor="ctr"/>
          <a:lstStyle/>
          <a:p>
            <a:pPr indent="0" marL="0">
              <a:buNone/>
            </a:pPr>
            <a:r>
              <a:rPr lang="en-US" sz="1050" dirty="0">
                <a:solidFill>
                  <a:srgbClr val="6E7480"/>
                </a:solidFill>
                <a:latin typeface="Calibri" pitchFamily="34" charset="0"/>
                <a:ea typeface="Calibri" pitchFamily="34" charset="-122"/>
                <a:cs typeface="Calibri" pitchFamily="34" charset="-120"/>
              </a:rPr>
              <a:t>Priced right, funded right, reserved right — every quarter.</a:t>
            </a:r>
            <a:endParaRPr lang="en-US" sz="1050" dirty="0"/>
          </a:p>
        </p:txBody>
      </p:sp>
      <p:sp>
        <p:nvSpPr>
          <p:cNvPr id="18" name="Shape 16"/>
          <p:cNvSpPr/>
          <p:nvPr/>
        </p:nvSpPr>
        <p:spPr>
          <a:xfrm>
            <a:off x="8970264" y="4480560"/>
            <a:ext cx="2651760" cy="1691640"/>
          </a:xfrm>
          <a:prstGeom prst="roundRect">
            <a:avLst>
              <a:gd name="adj" fmla="val 4324"/>
            </a:avLst>
          </a:prstGeom>
          <a:solidFill>
            <a:srgbClr val="F5F0E4"/>
          </a:solidFill>
          <a:ln/>
        </p:spPr>
      </p:sp>
      <p:sp>
        <p:nvSpPr>
          <p:cNvPr id="19" name="Text 17"/>
          <p:cNvSpPr/>
          <p:nvPr/>
        </p:nvSpPr>
        <p:spPr>
          <a:xfrm>
            <a:off x="9153144" y="4645152"/>
            <a:ext cx="2286000" cy="36576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Relationships</a:t>
            </a:r>
            <a:endParaRPr lang="en-US" sz="1600" dirty="0"/>
          </a:p>
        </p:txBody>
      </p:sp>
      <p:sp>
        <p:nvSpPr>
          <p:cNvPr id="20" name="Text 18"/>
          <p:cNvSpPr/>
          <p:nvPr/>
        </p:nvSpPr>
        <p:spPr>
          <a:xfrm>
            <a:off x="9153144" y="5029200"/>
            <a:ext cx="2286000" cy="1005840"/>
          </a:xfrm>
          <a:prstGeom prst="rect">
            <a:avLst/>
          </a:prstGeom>
          <a:noFill/>
          <a:ln/>
        </p:spPr>
        <p:txBody>
          <a:bodyPr wrap="square" lIns="0" tIns="0" rIns="0" bIns="0" rtlCol="0" anchor="ctr"/>
          <a:lstStyle/>
          <a:p>
            <a:pPr indent="0" marL="0">
              <a:buNone/>
            </a:pPr>
            <a:r>
              <a:rPr lang="en-US" sz="1050" dirty="0">
                <a:solidFill>
                  <a:srgbClr val="6E7480"/>
                </a:solidFill>
                <a:latin typeface="Calibri" pitchFamily="34" charset="0"/>
                <a:ea typeface="Calibri" pitchFamily="34" charset="-122"/>
                <a:cs typeface="Calibri" pitchFamily="34" charset="-120"/>
              </a:rPr>
              <a:t>Depositors and borrowers chose us; we earn that choice daily.</a:t>
            </a:r>
            <a:endParaRPr lang="en-US" sz="1050" dirty="0"/>
          </a:p>
        </p:txBody>
      </p:sp>
      <p:pic>
        <p:nvPicPr>
          <p:cNvPr id="21" name="Image 0" descr="bottle.jpg">    </p:cNvPr>
          <p:cNvPicPr>
            <a:picLocks noChangeAspect="1"/>
          </p:cNvPicPr>
          <p:nvPr/>
        </p:nvPicPr>
        <p:blipFill>
          <a:blip r:embed="rId1"/>
          <a:stretch>
            <a:fillRect/>
          </a:stretch>
        </p:blipFill>
        <p:spPr>
          <a:xfrm>
            <a:off x="8732520" y="1417320"/>
            <a:ext cx="1691640" cy="254203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15 MINUTES · 5 MINUTES Q&amp;A · EVERY MEMBER PRESENTS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Agenda &amp; Presenters</a:t>
            </a:r>
            <a:endParaRPr lang="en-US" sz="3200" dirty="0"/>
          </a:p>
        </p:txBody>
      </p:sp>
      <p:sp>
        <p:nvSpPr>
          <p:cNvPr id="4" name="Shape 2"/>
          <p:cNvSpPr/>
          <p:nvPr/>
        </p:nvSpPr>
        <p:spPr>
          <a:xfrm>
            <a:off x="594360" y="1764792"/>
            <a:ext cx="457200" cy="457200"/>
          </a:xfrm>
          <a:prstGeom prst="ellipse">
            <a:avLst/>
          </a:prstGeom>
          <a:solidFill>
            <a:srgbClr val="1F2A44"/>
          </a:solidFill>
          <a:ln/>
        </p:spPr>
      </p:sp>
      <p:sp>
        <p:nvSpPr>
          <p:cNvPr id="5" name="Text 3"/>
          <p:cNvSpPr/>
          <p:nvPr/>
        </p:nvSpPr>
        <p:spPr>
          <a:xfrm>
            <a:off x="594360" y="176479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1</a:t>
            </a:r>
            <a:endParaRPr lang="en-US" sz="1600" dirty="0"/>
          </a:p>
        </p:txBody>
      </p:sp>
      <p:sp>
        <p:nvSpPr>
          <p:cNvPr id="6" name="Text 4"/>
          <p:cNvSpPr/>
          <p:nvPr/>
        </p:nvSpPr>
        <p:spPr>
          <a:xfrm>
            <a:off x="1280160" y="169164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The Bank We Inherited</a:t>
            </a:r>
            <a:endParaRPr lang="en-US" sz="1700" dirty="0"/>
          </a:p>
        </p:txBody>
      </p:sp>
      <p:sp>
        <p:nvSpPr>
          <p:cNvPr id="7" name="Text 5"/>
          <p:cNvSpPr/>
          <p:nvPr/>
        </p:nvSpPr>
        <p:spPr>
          <a:xfrm>
            <a:off x="7680960" y="169164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[CEO — name]</a:t>
            </a:r>
            <a:endParaRPr lang="en-US" sz="1400" dirty="0"/>
          </a:p>
        </p:txBody>
      </p:sp>
      <p:sp>
        <p:nvSpPr>
          <p:cNvPr id="8" name="Text 6"/>
          <p:cNvSpPr/>
          <p:nvPr/>
        </p:nvSpPr>
        <p:spPr>
          <a:xfrm>
            <a:off x="10652760" y="169164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2 min</a:t>
            </a:r>
            <a:endParaRPr lang="en-US" sz="1400" dirty="0"/>
          </a:p>
        </p:txBody>
      </p:sp>
      <p:sp>
        <p:nvSpPr>
          <p:cNvPr id="9" name="Shape 7"/>
          <p:cNvSpPr/>
          <p:nvPr/>
        </p:nvSpPr>
        <p:spPr>
          <a:xfrm>
            <a:off x="594360" y="2633472"/>
            <a:ext cx="457200" cy="457200"/>
          </a:xfrm>
          <a:prstGeom prst="ellipse">
            <a:avLst/>
          </a:prstGeom>
          <a:solidFill>
            <a:srgbClr val="1F2A44"/>
          </a:solidFill>
          <a:ln/>
        </p:spPr>
      </p:sp>
      <p:sp>
        <p:nvSpPr>
          <p:cNvPr id="10" name="Text 8"/>
          <p:cNvSpPr/>
          <p:nvPr/>
        </p:nvSpPr>
        <p:spPr>
          <a:xfrm>
            <a:off x="594360" y="263347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2</a:t>
            </a:r>
            <a:endParaRPr lang="en-US" sz="1600" dirty="0"/>
          </a:p>
        </p:txBody>
      </p:sp>
      <p:sp>
        <p:nvSpPr>
          <p:cNvPr id="11" name="Text 9"/>
          <p:cNvSpPr/>
          <p:nvPr/>
        </p:nvSpPr>
        <p:spPr>
          <a:xfrm>
            <a:off x="1280160" y="256032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Strategy — Growth, Balance Sheet, Products</a:t>
            </a:r>
            <a:endParaRPr lang="en-US" sz="1700" dirty="0"/>
          </a:p>
        </p:txBody>
      </p:sp>
      <p:sp>
        <p:nvSpPr>
          <p:cNvPr id="12" name="Text 10"/>
          <p:cNvSpPr/>
          <p:nvPr/>
        </p:nvSpPr>
        <p:spPr>
          <a:xfrm>
            <a:off x="7680960" y="256032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[KS — Lending &amp; Credit]</a:t>
            </a:r>
            <a:endParaRPr lang="en-US" sz="1400" dirty="0"/>
          </a:p>
        </p:txBody>
      </p:sp>
      <p:sp>
        <p:nvSpPr>
          <p:cNvPr id="13" name="Text 11"/>
          <p:cNvSpPr/>
          <p:nvPr/>
        </p:nvSpPr>
        <p:spPr>
          <a:xfrm>
            <a:off x="10652760" y="256032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4 min</a:t>
            </a:r>
            <a:endParaRPr lang="en-US" sz="1400" dirty="0"/>
          </a:p>
        </p:txBody>
      </p:sp>
      <p:sp>
        <p:nvSpPr>
          <p:cNvPr id="14" name="Shape 12"/>
          <p:cNvSpPr/>
          <p:nvPr/>
        </p:nvSpPr>
        <p:spPr>
          <a:xfrm>
            <a:off x="594360" y="3502152"/>
            <a:ext cx="457200" cy="457200"/>
          </a:xfrm>
          <a:prstGeom prst="ellipse">
            <a:avLst/>
          </a:prstGeom>
          <a:solidFill>
            <a:srgbClr val="1F2A44"/>
          </a:solidFill>
          <a:ln/>
        </p:spPr>
      </p:sp>
      <p:sp>
        <p:nvSpPr>
          <p:cNvPr id="15" name="Text 13"/>
          <p:cNvSpPr/>
          <p:nvPr/>
        </p:nvSpPr>
        <p:spPr>
          <a:xfrm>
            <a:off x="594360" y="350215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3</a:t>
            </a:r>
            <a:endParaRPr lang="en-US" sz="1600" dirty="0"/>
          </a:p>
        </p:txBody>
      </p:sp>
      <p:sp>
        <p:nvSpPr>
          <p:cNvPr id="16" name="Text 14"/>
          <p:cNvSpPr/>
          <p:nvPr/>
        </p:nvSpPr>
        <p:spPr>
          <a:xfrm>
            <a:off x="1280160" y="342900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Operating Results, FY29 &amp; FY30</a:t>
            </a:r>
            <a:endParaRPr lang="en-US" sz="1700" dirty="0"/>
          </a:p>
        </p:txBody>
      </p:sp>
      <p:sp>
        <p:nvSpPr>
          <p:cNvPr id="17" name="Text 15"/>
          <p:cNvSpPr/>
          <p:nvPr/>
        </p:nvSpPr>
        <p:spPr>
          <a:xfrm>
            <a:off x="7680960" y="342900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[CU — Treasury &amp; CFO]</a:t>
            </a:r>
            <a:endParaRPr lang="en-US" sz="1400" dirty="0"/>
          </a:p>
        </p:txBody>
      </p:sp>
      <p:sp>
        <p:nvSpPr>
          <p:cNvPr id="18" name="Text 16"/>
          <p:cNvSpPr/>
          <p:nvPr/>
        </p:nvSpPr>
        <p:spPr>
          <a:xfrm>
            <a:off x="10652760" y="342900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4 min</a:t>
            </a:r>
            <a:endParaRPr lang="en-US" sz="1400" dirty="0"/>
          </a:p>
        </p:txBody>
      </p:sp>
      <p:sp>
        <p:nvSpPr>
          <p:cNvPr id="19" name="Shape 17"/>
          <p:cNvSpPr/>
          <p:nvPr/>
        </p:nvSpPr>
        <p:spPr>
          <a:xfrm>
            <a:off x="594360" y="4370832"/>
            <a:ext cx="457200" cy="457200"/>
          </a:xfrm>
          <a:prstGeom prst="ellipse">
            <a:avLst/>
          </a:prstGeom>
          <a:solidFill>
            <a:srgbClr val="1F2A44"/>
          </a:solidFill>
          <a:ln/>
        </p:spPr>
      </p:sp>
      <p:sp>
        <p:nvSpPr>
          <p:cNvPr id="20" name="Text 18"/>
          <p:cNvSpPr/>
          <p:nvPr/>
        </p:nvSpPr>
        <p:spPr>
          <a:xfrm>
            <a:off x="594360" y="437083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4</a:t>
            </a:r>
            <a:endParaRPr lang="en-US" sz="1600" dirty="0"/>
          </a:p>
        </p:txBody>
      </p:sp>
      <p:sp>
        <p:nvSpPr>
          <p:cNvPr id="21" name="Text 19"/>
          <p:cNvSpPr/>
          <p:nvPr/>
        </p:nvSpPr>
        <p:spPr>
          <a:xfrm>
            <a:off x="1280160" y="429768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Goals &amp; Regulatory Compliance</a:t>
            </a:r>
            <a:endParaRPr lang="en-US" sz="1700" dirty="0"/>
          </a:p>
        </p:txBody>
      </p:sp>
      <p:sp>
        <p:nvSpPr>
          <p:cNvPr id="22" name="Text 20"/>
          <p:cNvSpPr/>
          <p:nvPr/>
        </p:nvSpPr>
        <p:spPr>
          <a:xfrm>
            <a:off x="7680960" y="429768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[AY — Credit Administration]</a:t>
            </a:r>
            <a:endParaRPr lang="en-US" sz="1400" dirty="0"/>
          </a:p>
        </p:txBody>
      </p:sp>
      <p:sp>
        <p:nvSpPr>
          <p:cNvPr id="23" name="Text 21"/>
          <p:cNvSpPr/>
          <p:nvPr/>
        </p:nvSpPr>
        <p:spPr>
          <a:xfrm>
            <a:off x="10652760" y="429768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3 min</a:t>
            </a:r>
            <a:endParaRPr lang="en-US" sz="1400" dirty="0"/>
          </a:p>
        </p:txBody>
      </p:sp>
      <p:sp>
        <p:nvSpPr>
          <p:cNvPr id="24" name="Shape 22"/>
          <p:cNvSpPr/>
          <p:nvPr/>
        </p:nvSpPr>
        <p:spPr>
          <a:xfrm>
            <a:off x="594360" y="5239512"/>
            <a:ext cx="457200" cy="457200"/>
          </a:xfrm>
          <a:prstGeom prst="ellipse">
            <a:avLst/>
          </a:prstGeom>
          <a:solidFill>
            <a:srgbClr val="1F2A44"/>
          </a:solidFill>
          <a:ln/>
        </p:spPr>
      </p:sp>
      <p:sp>
        <p:nvSpPr>
          <p:cNvPr id="25" name="Text 23"/>
          <p:cNvSpPr/>
          <p:nvPr/>
        </p:nvSpPr>
        <p:spPr>
          <a:xfrm>
            <a:off x="594360" y="5239512"/>
            <a:ext cx="457200" cy="457200"/>
          </a:xfrm>
          <a:prstGeom prst="rect">
            <a:avLst/>
          </a:prstGeom>
          <a:noFill/>
          <a:ln/>
        </p:spPr>
        <p:txBody>
          <a:bodyPr wrap="square" lIns="0" tIns="0" rIns="0" bIns="0" rtlCol="0" anchor="ctr"/>
          <a:lstStyle/>
          <a:p>
            <a:pPr algn="ctr" indent="0" marL="0">
              <a:buNone/>
            </a:pPr>
            <a:r>
              <a:rPr lang="en-US" sz="1600" b="1" dirty="0">
                <a:solidFill>
                  <a:srgbClr val="E3A94E"/>
                </a:solidFill>
                <a:latin typeface="Cambria" pitchFamily="34" charset="0"/>
                <a:ea typeface="Cambria" pitchFamily="34" charset="-122"/>
                <a:cs typeface="Cambria" pitchFamily="34" charset="-120"/>
              </a:rPr>
              <a:t>5</a:t>
            </a:r>
            <a:endParaRPr lang="en-US" sz="1600" dirty="0"/>
          </a:p>
        </p:txBody>
      </p:sp>
      <p:sp>
        <p:nvSpPr>
          <p:cNvPr id="26" name="Text 24"/>
          <p:cNvSpPr/>
          <p:nvPr/>
        </p:nvSpPr>
        <p:spPr>
          <a:xfrm>
            <a:off x="1280160" y="5166360"/>
            <a:ext cx="6309360" cy="594360"/>
          </a:xfrm>
          <a:prstGeom prst="rect">
            <a:avLst/>
          </a:prstGeom>
          <a:noFill/>
          <a:ln/>
        </p:spPr>
        <p:txBody>
          <a:bodyPr wrap="square" lIns="0" tIns="0" rIns="0" bIns="0" rtlCol="0" anchor="ctr"/>
          <a:lstStyle/>
          <a:p>
            <a:pPr indent="0" marL="0">
              <a:buNone/>
            </a:pPr>
            <a:r>
              <a:rPr lang="en-US" sz="1700" b="1" dirty="0">
                <a:solidFill>
                  <a:srgbClr val="232733"/>
                </a:solidFill>
                <a:latin typeface="Calibri" pitchFamily="34" charset="0"/>
                <a:ea typeface="Calibri" pitchFamily="34" charset="-122"/>
                <a:cs typeface="Calibri" pitchFamily="34" charset="-120"/>
              </a:rPr>
              <a:t>KPIs &amp; the Road Ahead</a:t>
            </a:r>
            <a:endParaRPr lang="en-US" sz="1700" dirty="0"/>
          </a:p>
        </p:txBody>
      </p:sp>
      <p:sp>
        <p:nvSpPr>
          <p:cNvPr id="27" name="Text 25"/>
          <p:cNvSpPr/>
          <p:nvPr/>
        </p:nvSpPr>
        <p:spPr>
          <a:xfrm>
            <a:off x="7680960" y="5166360"/>
            <a:ext cx="2926080" cy="594360"/>
          </a:xfrm>
          <a:prstGeom prst="rect">
            <a:avLst/>
          </a:prstGeom>
          <a:noFill/>
          <a:ln/>
        </p:spPr>
        <p:txBody>
          <a:bodyPr wrap="square" lIns="0" tIns="0" rIns="0" bIns="0" rtlCol="0" anchor="ctr"/>
          <a:lstStyle/>
          <a:p>
            <a:pPr indent="0" marL="0">
              <a:buNone/>
            </a:pPr>
            <a:r>
              <a:rPr lang="en-US" sz="1400" dirty="0">
                <a:solidFill>
                  <a:srgbClr val="6E7480"/>
                </a:solidFill>
                <a:latin typeface="Calibri" pitchFamily="34" charset="0"/>
                <a:ea typeface="Calibri" pitchFamily="34" charset="-122"/>
                <a:cs typeface="Calibri" pitchFamily="34" charset="-120"/>
              </a:rPr>
              <a:t>[JS — Deposits &amp; Strategy]</a:t>
            </a:r>
            <a:endParaRPr lang="en-US" sz="1400" dirty="0"/>
          </a:p>
        </p:txBody>
      </p:sp>
      <p:sp>
        <p:nvSpPr>
          <p:cNvPr id="28" name="Text 26"/>
          <p:cNvSpPr/>
          <p:nvPr/>
        </p:nvSpPr>
        <p:spPr>
          <a:xfrm>
            <a:off x="10652760" y="5166360"/>
            <a:ext cx="960120" cy="594360"/>
          </a:xfrm>
          <a:prstGeom prst="rect">
            <a:avLst/>
          </a:prstGeom>
          <a:noFill/>
          <a:ln/>
        </p:spPr>
        <p:txBody>
          <a:bodyPr wrap="square" lIns="0" tIns="0" rIns="0" bIns="0" rtlCol="0" anchor="ctr"/>
          <a:lstStyle/>
          <a:p>
            <a:pPr algn="r" indent="0" marL="0">
              <a:buNone/>
            </a:pPr>
            <a:r>
              <a:rPr lang="en-US" sz="1400" b="1" dirty="0">
                <a:solidFill>
                  <a:srgbClr val="B9791F"/>
                </a:solidFill>
                <a:latin typeface="Calibri" pitchFamily="34" charset="0"/>
                <a:ea typeface="Calibri" pitchFamily="34" charset="-122"/>
                <a:cs typeface="Calibri" pitchFamily="34" charset="-120"/>
              </a:rPr>
              <a:t>2 min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JANUARY 2029 · SECTION 1</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Bank We Inherited</a:t>
            </a:r>
            <a:endParaRPr lang="en-US" sz="3200" dirty="0"/>
          </a:p>
        </p:txBody>
      </p:sp>
      <p:pic>
        <p:nvPicPr>
          <p:cNvPr id="4" name="Image 0" descr="lemmings.png">    </p:cNvPr>
          <p:cNvPicPr>
            <a:picLocks noChangeAspect="1"/>
          </p:cNvPicPr>
          <p:nvPr/>
        </p:nvPicPr>
        <p:blipFill>
          <a:blip r:embed="rId1"/>
          <a:srcRect l="0" r="0" t="0" b="0"/>
          <a:stretch/>
        </p:blipFill>
        <p:spPr>
          <a:xfrm>
            <a:off x="8001000" y="1554480"/>
            <a:ext cx="3657600" cy="3657600"/>
          </a:xfrm>
          <a:prstGeom prst="rect">
            <a:avLst/>
          </a:prstGeom>
        </p:spPr>
      </p:pic>
      <p:sp>
        <p:nvSpPr>
          <p:cNvPr id="5" name="Text 2"/>
          <p:cNvSpPr/>
          <p:nvPr/>
        </p:nvSpPr>
        <p:spPr>
          <a:xfrm>
            <a:off x="8001000" y="5349240"/>
            <a:ext cx="3657600" cy="274320"/>
          </a:xfrm>
          <a:prstGeom prst="rect">
            <a:avLst/>
          </a:prstGeom>
          <a:noFill/>
          <a:ln/>
        </p:spPr>
        <p:txBody>
          <a:bodyPr wrap="square" lIns="0" tIns="0" rIns="0" bIns="0" rtlCol="0" anchor="ctr"/>
          <a:lstStyle/>
          <a:p>
            <a:pPr algn="ctr" indent="0" marL="0">
              <a:buNone/>
            </a:pPr>
            <a:r>
              <a:rPr lang="en-US" sz="1100" i="1" dirty="0">
                <a:solidFill>
                  <a:srgbClr val="6E7480"/>
                </a:solidFill>
                <a:latin typeface="Calibri" pitchFamily="34" charset="0"/>
                <a:ea typeface="Calibri" pitchFamily="34" charset="-122"/>
                <a:cs typeface="Calibri" pitchFamily="34" charset="-120"/>
              </a:rPr>
              <a:t>Prior management’s strategy, illustrated.</a:t>
            </a:r>
            <a:endParaRPr lang="en-US" sz="1100" dirty="0"/>
          </a:p>
        </p:txBody>
      </p:sp>
      <p:sp>
        <p:nvSpPr>
          <p:cNvPr id="6" name="Shape 3"/>
          <p:cNvSpPr/>
          <p:nvPr/>
        </p:nvSpPr>
        <p:spPr>
          <a:xfrm>
            <a:off x="548640" y="1645920"/>
            <a:ext cx="3520440" cy="1600200"/>
          </a:xfrm>
          <a:prstGeom prst="roundRect">
            <a:avLst>
              <a:gd name="adj" fmla="val 4571"/>
            </a:avLst>
          </a:prstGeom>
          <a:solidFill>
            <a:srgbClr val="F5F0E4"/>
          </a:solidFill>
          <a:ln/>
        </p:spPr>
      </p:sp>
      <p:sp>
        <p:nvSpPr>
          <p:cNvPr id="7" name="Text 4"/>
          <p:cNvSpPr/>
          <p:nvPr/>
        </p:nvSpPr>
        <p:spPr>
          <a:xfrm>
            <a:off x="713232" y="1755648"/>
            <a:ext cx="3191256" cy="800100"/>
          </a:xfrm>
          <a:prstGeom prst="rect">
            <a:avLst/>
          </a:prstGeom>
          <a:noFill/>
          <a:ln/>
        </p:spPr>
        <p:txBody>
          <a:bodyPr wrap="square" lIns="0" tIns="0" rIns="0" bIns="0" rtlCol="0" anchor="b"/>
          <a:lstStyle/>
          <a:p>
            <a:pPr indent="0" marL="0">
              <a:buNone/>
            </a:pPr>
            <a:r>
              <a:rPr lang="en-US" sz="3000" b="1" dirty="0">
                <a:solidFill>
                  <a:srgbClr val="B3402E"/>
                </a:solidFill>
                <a:latin typeface="Cambria" pitchFamily="34" charset="0"/>
                <a:ea typeface="Cambria" pitchFamily="34" charset="-122"/>
                <a:cs typeface="Cambria" pitchFamily="34" charset="-120"/>
              </a:rPr>
              <a:t>−$0.5M</a:t>
            </a:r>
            <a:endParaRPr lang="en-US" sz="3000" dirty="0"/>
          </a:p>
        </p:txBody>
      </p:sp>
      <p:sp>
        <p:nvSpPr>
          <p:cNvPr id="8" name="Text 5"/>
          <p:cNvSpPr/>
          <p:nvPr/>
        </p:nvSpPr>
        <p:spPr>
          <a:xfrm>
            <a:off x="713232" y="2542032"/>
            <a:ext cx="3191256" cy="640080"/>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quarterly operating loss, worsening</a:t>
            </a:r>
            <a:endParaRPr lang="en-US" sz="1200" dirty="0"/>
          </a:p>
        </p:txBody>
      </p:sp>
      <p:sp>
        <p:nvSpPr>
          <p:cNvPr id="9" name="Shape 6"/>
          <p:cNvSpPr/>
          <p:nvPr/>
        </p:nvSpPr>
        <p:spPr>
          <a:xfrm>
            <a:off x="4251960" y="1645920"/>
            <a:ext cx="3520440" cy="1600200"/>
          </a:xfrm>
          <a:prstGeom prst="roundRect">
            <a:avLst>
              <a:gd name="adj" fmla="val 4571"/>
            </a:avLst>
          </a:prstGeom>
          <a:solidFill>
            <a:srgbClr val="F5F0E4"/>
          </a:solidFill>
          <a:ln/>
        </p:spPr>
      </p:sp>
      <p:sp>
        <p:nvSpPr>
          <p:cNvPr id="10" name="Text 7"/>
          <p:cNvSpPr/>
          <p:nvPr/>
        </p:nvSpPr>
        <p:spPr>
          <a:xfrm>
            <a:off x="4416552" y="1755648"/>
            <a:ext cx="3191256" cy="800100"/>
          </a:xfrm>
          <a:prstGeom prst="rect">
            <a:avLst/>
          </a:prstGeom>
          <a:noFill/>
          <a:ln/>
        </p:spPr>
        <p:txBody>
          <a:bodyPr wrap="square" lIns="0" tIns="0" rIns="0" bIns="0" rtlCol="0" anchor="b"/>
          <a:lstStyle/>
          <a:p>
            <a:pPr indent="0" marL="0">
              <a:buNone/>
            </a:pPr>
            <a:r>
              <a:rPr lang="en-US" sz="3000" b="1" dirty="0">
                <a:solidFill>
                  <a:srgbClr val="B3402E"/>
                </a:solidFill>
                <a:latin typeface="Cambria" pitchFamily="34" charset="0"/>
                <a:ea typeface="Cambria" pitchFamily="34" charset="-122"/>
                <a:cs typeface="Cambria" pitchFamily="34" charset="-120"/>
              </a:rPr>
              <a:t>187%</a:t>
            </a:r>
            <a:endParaRPr lang="en-US" sz="3000" dirty="0"/>
          </a:p>
        </p:txBody>
      </p:sp>
      <p:sp>
        <p:nvSpPr>
          <p:cNvPr id="11" name="Text 8"/>
          <p:cNvSpPr/>
          <p:nvPr/>
        </p:nvSpPr>
        <p:spPr>
          <a:xfrm>
            <a:off x="4416552" y="2542032"/>
            <a:ext cx="3191256" cy="640080"/>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fed funds purchased vs equity — the limit is 100%</a:t>
            </a:r>
            <a:endParaRPr lang="en-US" sz="1200" dirty="0"/>
          </a:p>
        </p:txBody>
      </p:sp>
      <p:sp>
        <p:nvSpPr>
          <p:cNvPr id="12" name="Shape 9"/>
          <p:cNvSpPr/>
          <p:nvPr/>
        </p:nvSpPr>
        <p:spPr>
          <a:xfrm>
            <a:off x="548640" y="3474720"/>
            <a:ext cx="3520440" cy="1600200"/>
          </a:xfrm>
          <a:prstGeom prst="roundRect">
            <a:avLst>
              <a:gd name="adj" fmla="val 4571"/>
            </a:avLst>
          </a:prstGeom>
          <a:solidFill>
            <a:srgbClr val="F5F0E4"/>
          </a:solidFill>
          <a:ln/>
        </p:spPr>
      </p:sp>
      <p:sp>
        <p:nvSpPr>
          <p:cNvPr id="13" name="Text 10"/>
          <p:cNvSpPr/>
          <p:nvPr/>
        </p:nvSpPr>
        <p:spPr>
          <a:xfrm>
            <a:off x="713232" y="3584448"/>
            <a:ext cx="3191256" cy="800100"/>
          </a:xfrm>
          <a:prstGeom prst="rect">
            <a:avLst/>
          </a:prstGeom>
          <a:noFill/>
          <a:ln/>
        </p:spPr>
        <p:txBody>
          <a:bodyPr wrap="square" lIns="0" tIns="0" rIns="0" bIns="0" rtlCol="0" anchor="b"/>
          <a:lstStyle/>
          <a:p>
            <a:pPr indent="0" marL="0">
              <a:buNone/>
            </a:pPr>
            <a:r>
              <a:rPr lang="en-US" sz="3000" b="1" dirty="0">
                <a:solidFill>
                  <a:srgbClr val="B3402E"/>
                </a:solidFill>
                <a:latin typeface="Cambria" pitchFamily="34" charset="0"/>
                <a:ea typeface="Cambria" pitchFamily="34" charset="-122"/>
                <a:cs typeface="Cambria" pitchFamily="34" charset="-120"/>
              </a:rPr>
              <a:t>8.64%</a:t>
            </a:r>
            <a:endParaRPr lang="en-US" sz="3000" dirty="0"/>
          </a:p>
        </p:txBody>
      </p:sp>
      <p:sp>
        <p:nvSpPr>
          <p:cNvPr id="14" name="Text 11"/>
          <p:cNvSpPr/>
          <p:nvPr/>
        </p:nvSpPr>
        <p:spPr>
          <a:xfrm>
            <a:off x="713232" y="4370832"/>
            <a:ext cx="3191256" cy="640080"/>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risk capital vs a 10% rule due in 8 quarters</a:t>
            </a:r>
            <a:endParaRPr lang="en-US" sz="1200" dirty="0"/>
          </a:p>
        </p:txBody>
      </p:sp>
      <p:sp>
        <p:nvSpPr>
          <p:cNvPr id="15" name="Shape 12"/>
          <p:cNvSpPr/>
          <p:nvPr/>
        </p:nvSpPr>
        <p:spPr>
          <a:xfrm>
            <a:off x="4251960" y="3474720"/>
            <a:ext cx="3520440" cy="1600200"/>
          </a:xfrm>
          <a:prstGeom prst="roundRect">
            <a:avLst>
              <a:gd name="adj" fmla="val 4571"/>
            </a:avLst>
          </a:prstGeom>
          <a:solidFill>
            <a:srgbClr val="F5F0E4"/>
          </a:solidFill>
          <a:ln/>
        </p:spPr>
      </p:sp>
      <p:sp>
        <p:nvSpPr>
          <p:cNvPr id="16" name="Text 13"/>
          <p:cNvSpPr/>
          <p:nvPr/>
        </p:nvSpPr>
        <p:spPr>
          <a:xfrm>
            <a:off x="4416552" y="3584448"/>
            <a:ext cx="3191256" cy="800100"/>
          </a:xfrm>
          <a:prstGeom prst="rect">
            <a:avLst/>
          </a:prstGeom>
          <a:noFill/>
          <a:ln/>
        </p:spPr>
        <p:txBody>
          <a:bodyPr wrap="square" lIns="0" tIns="0" rIns="0" bIns="0" rtlCol="0" anchor="b"/>
          <a:lstStyle/>
          <a:p>
            <a:pPr indent="0" marL="0">
              <a:buNone/>
            </a:pPr>
            <a:r>
              <a:rPr lang="en-US" sz="3000" b="1" dirty="0">
                <a:solidFill>
                  <a:srgbClr val="B3402E"/>
                </a:solidFill>
                <a:latin typeface="Cambria" pitchFamily="34" charset="0"/>
                <a:ea typeface="Cambria" pitchFamily="34" charset="-122"/>
                <a:cs typeface="Cambria" pitchFamily="34" charset="-120"/>
              </a:rPr>
              <a:t>C</a:t>
            </a:r>
            <a:endParaRPr lang="en-US" sz="3000" dirty="0"/>
          </a:p>
        </p:txBody>
      </p:sp>
      <p:sp>
        <p:nvSpPr>
          <p:cNvPr id="17" name="Text 14"/>
          <p:cNvSpPr/>
          <p:nvPr/>
        </p:nvSpPr>
        <p:spPr>
          <a:xfrm>
            <a:off x="4416552" y="4370832"/>
            <a:ext cx="3191256" cy="640080"/>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credit rating — wholesale funding nearly shut</a:t>
            </a:r>
            <a:endParaRPr lang="en-US" sz="1200" dirty="0"/>
          </a:p>
        </p:txBody>
      </p:sp>
      <p:sp>
        <p:nvSpPr>
          <p:cNvPr id="18" name="Text 15"/>
          <p:cNvSpPr/>
          <p:nvPr/>
        </p:nvSpPr>
        <p:spPr>
          <a:xfrm>
            <a:off x="548640" y="5623560"/>
            <a:ext cx="7223760" cy="548640"/>
          </a:xfrm>
          <a:prstGeom prst="rect">
            <a:avLst/>
          </a:prstGeom>
          <a:noFill/>
          <a:ln/>
        </p:spPr>
        <p:txBody>
          <a:bodyPr wrap="square" lIns="0" tIns="0" rIns="0" bIns="0" rtlCol="0" anchor="ctr"/>
          <a:lstStyle/>
          <a:p>
            <a:pPr indent="0" marL="0">
              <a:buNone/>
            </a:pPr>
            <a:r>
              <a:rPr lang="en-US" sz="1300" i="1" dirty="0">
                <a:solidFill>
                  <a:srgbClr val="6E7480"/>
                </a:solidFill>
                <a:latin typeface="Calibri" pitchFamily="34" charset="0"/>
                <a:ea typeface="Calibri" pitchFamily="34" charset="-122"/>
                <a:cs typeface="Calibri" pitchFamily="34" charset="-120"/>
              </a:rPr>
              <a:t>A dividend the earnings couldn’t cover, an under-funded loss reserve, and a plan that was mostly momentum.</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SHARE PRICE, QUARTER BY QUARTER</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Our Two-Year Journey</a:t>
            </a:r>
            <a:endParaRPr lang="en-US" sz="3200" dirty="0"/>
          </a:p>
        </p:txBody>
      </p:sp>
      <p:graphicFrame>
        <p:nvGraphicFramePr>
          <p:cNvPr id="4" name="Chart 0" descr=""/>
          <p:cNvGraphicFramePr/>
          <p:nvPr/>
        </p:nvGraphicFramePr>
        <p:xfrm>
          <a:off x="548640" y="1554480"/>
          <a:ext cx="786384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554480"/>
            <a:ext cx="2926080" cy="1371600"/>
          </a:xfrm>
          <a:prstGeom prst="roundRect">
            <a:avLst>
              <a:gd name="adj" fmla="val 5333"/>
            </a:avLst>
          </a:prstGeom>
          <a:solidFill>
            <a:srgbClr val="F5F0E4"/>
          </a:solidFill>
          <a:ln/>
        </p:spPr>
      </p:sp>
      <p:sp>
        <p:nvSpPr>
          <p:cNvPr id="6" name="Text 3"/>
          <p:cNvSpPr/>
          <p:nvPr/>
        </p:nvSpPr>
        <p:spPr>
          <a:xfrm>
            <a:off x="8851392" y="1664208"/>
            <a:ext cx="2596896" cy="685800"/>
          </a:xfrm>
          <a:prstGeom prst="rect">
            <a:avLst/>
          </a:prstGeom>
          <a:noFill/>
          <a:ln/>
        </p:spPr>
        <p:txBody>
          <a:bodyPr wrap="square" lIns="0" tIns="0" rIns="0" bIns="0" rtlCol="0" anchor="b"/>
          <a:lstStyle/>
          <a:p>
            <a:pPr indent="0" marL="0">
              <a:buNone/>
            </a:pPr>
            <a:r>
              <a:rPr lang="en-US" sz="2800" b="1" dirty="0">
                <a:solidFill>
                  <a:srgbClr val="B3402E"/>
                </a:solidFill>
                <a:latin typeface="Cambria" pitchFamily="34" charset="0"/>
                <a:ea typeface="Cambria" pitchFamily="34" charset="-122"/>
                <a:cs typeface="Cambria" pitchFamily="34" charset="-120"/>
              </a:rPr>
              <a:t>$22.97</a:t>
            </a:r>
            <a:endParaRPr lang="en-US" sz="2800" dirty="0"/>
          </a:p>
        </p:txBody>
      </p:sp>
      <p:sp>
        <p:nvSpPr>
          <p:cNvPr id="7" name="Text 4"/>
          <p:cNvSpPr/>
          <p:nvPr/>
        </p:nvSpPr>
        <p:spPr>
          <a:xfrm>
            <a:off x="8851392" y="2322576"/>
            <a:ext cx="259689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the low — Q2/29. We told you the plan; we kept to it.</a:t>
            </a:r>
            <a:endParaRPr lang="en-US" sz="1100" dirty="0"/>
          </a:p>
        </p:txBody>
      </p:sp>
      <p:sp>
        <p:nvSpPr>
          <p:cNvPr id="8" name="Shape 5"/>
          <p:cNvSpPr/>
          <p:nvPr/>
        </p:nvSpPr>
        <p:spPr>
          <a:xfrm>
            <a:off x="8686800" y="3063240"/>
            <a:ext cx="2926080" cy="1371600"/>
          </a:xfrm>
          <a:prstGeom prst="roundRect">
            <a:avLst>
              <a:gd name="adj" fmla="val 5333"/>
            </a:avLst>
          </a:prstGeom>
          <a:solidFill>
            <a:srgbClr val="F5F0E4"/>
          </a:solidFill>
          <a:ln/>
        </p:spPr>
      </p:sp>
      <p:sp>
        <p:nvSpPr>
          <p:cNvPr id="9" name="Text 6"/>
          <p:cNvSpPr/>
          <p:nvPr/>
        </p:nvSpPr>
        <p:spPr>
          <a:xfrm>
            <a:off x="8851392" y="3172968"/>
            <a:ext cx="2596896" cy="685800"/>
          </a:xfrm>
          <a:prstGeom prst="rect">
            <a:avLst/>
          </a:prstGeom>
          <a:noFill/>
          <a:ln/>
        </p:spPr>
        <p:txBody>
          <a:bodyPr wrap="square" lIns="0" tIns="0" rIns="0" bIns="0" rtlCol="0" anchor="b"/>
          <a:lstStyle/>
          <a:p>
            <a:pPr indent="0" marL="0">
              <a:buNone/>
            </a:pPr>
            <a:r>
              <a:rPr lang="en-US" sz="2800" b="1" dirty="0">
                <a:solidFill>
                  <a:srgbClr val="2E7D32"/>
                </a:solidFill>
                <a:latin typeface="Cambria" pitchFamily="34" charset="0"/>
                <a:ea typeface="Cambria" pitchFamily="34" charset="-122"/>
                <a:cs typeface="Cambria" pitchFamily="34" charset="-120"/>
              </a:rPr>
              <a:t>$47.41</a:t>
            </a:r>
            <a:endParaRPr lang="en-US" sz="2800" dirty="0"/>
          </a:p>
        </p:txBody>
      </p:sp>
      <p:sp>
        <p:nvSpPr>
          <p:cNvPr id="10" name="Text 7"/>
          <p:cNvSpPr/>
          <p:nvPr/>
        </p:nvSpPr>
        <p:spPr>
          <a:xfrm>
            <a:off x="8851392" y="3831336"/>
            <a:ext cx="259689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the peak — Q3/30, our record quarter</a:t>
            </a:r>
            <a:endParaRPr lang="en-US" sz="1100" dirty="0"/>
          </a:p>
        </p:txBody>
      </p:sp>
      <p:sp>
        <p:nvSpPr>
          <p:cNvPr id="11" name="Shape 8"/>
          <p:cNvSpPr/>
          <p:nvPr/>
        </p:nvSpPr>
        <p:spPr>
          <a:xfrm>
            <a:off x="8686800" y="4572000"/>
            <a:ext cx="2926080" cy="1371600"/>
          </a:xfrm>
          <a:prstGeom prst="roundRect">
            <a:avLst>
              <a:gd name="adj" fmla="val 5333"/>
            </a:avLst>
          </a:prstGeom>
          <a:solidFill>
            <a:srgbClr val="F5F0E4"/>
          </a:solidFill>
          <a:ln/>
        </p:spPr>
      </p:sp>
      <p:sp>
        <p:nvSpPr>
          <p:cNvPr id="12" name="Text 9"/>
          <p:cNvSpPr/>
          <p:nvPr/>
        </p:nvSpPr>
        <p:spPr>
          <a:xfrm>
            <a:off x="8851392" y="4681728"/>
            <a:ext cx="2596896" cy="685800"/>
          </a:xfrm>
          <a:prstGeom prst="rect">
            <a:avLst/>
          </a:prstGeom>
          <a:noFill/>
          <a:ln/>
        </p:spPr>
        <p:txBody>
          <a:bodyPr wrap="square" lIns="0" tIns="0" rIns="0" bIns="0" rtlCol="0" anchor="b"/>
          <a:lstStyle/>
          <a:p>
            <a:pPr indent="0" marL="0">
              <a:buNone/>
            </a:pPr>
            <a:r>
              <a:rPr lang="en-US" sz="2800" b="1" dirty="0">
                <a:solidFill>
                  <a:srgbClr val="1F2A44"/>
                </a:solidFill>
                <a:latin typeface="Cambria" pitchFamily="34" charset="0"/>
                <a:ea typeface="Cambria" pitchFamily="34" charset="-122"/>
                <a:cs typeface="Cambria" pitchFamily="34" charset="-120"/>
              </a:rPr>
              <a:t>$41.36</a:t>
            </a:r>
            <a:endParaRPr lang="en-US" sz="2800" dirty="0"/>
          </a:p>
        </p:txBody>
      </p:sp>
      <p:sp>
        <p:nvSpPr>
          <p:cNvPr id="13" name="Text 10"/>
          <p:cNvSpPr/>
          <p:nvPr/>
        </p:nvSpPr>
        <p:spPr>
          <a:xfrm>
            <a:off x="8851392" y="5340096"/>
            <a:ext cx="259689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year-end 2030 — above where we started, with a dividend again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SECTION 2 · STRATEGY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Recipe — Three Phases</a:t>
            </a:r>
            <a:endParaRPr lang="en-US" sz="3200" dirty="0"/>
          </a:p>
        </p:txBody>
      </p:sp>
      <p:sp>
        <p:nvSpPr>
          <p:cNvPr id="4" name="Shape 2"/>
          <p:cNvSpPr/>
          <p:nvPr/>
        </p:nvSpPr>
        <p:spPr>
          <a:xfrm>
            <a:off x="548640" y="1600200"/>
            <a:ext cx="3657600" cy="4206240"/>
          </a:xfrm>
          <a:prstGeom prst="roundRect">
            <a:avLst>
              <a:gd name="adj" fmla="val 2250"/>
            </a:avLst>
          </a:prstGeom>
          <a:solidFill>
            <a:srgbClr val="F5F0E4"/>
          </a:solidFill>
          <a:ln/>
        </p:spPr>
      </p:sp>
      <p:sp>
        <p:nvSpPr>
          <p:cNvPr id="5" name="Text 3"/>
          <p:cNvSpPr/>
          <p:nvPr/>
        </p:nvSpPr>
        <p:spPr>
          <a:xfrm>
            <a:off x="777240" y="1828800"/>
            <a:ext cx="3200400" cy="365760"/>
          </a:xfrm>
          <a:prstGeom prst="rect">
            <a:avLst/>
          </a:prstGeom>
          <a:noFill/>
          <a:ln/>
        </p:spPr>
        <p:txBody>
          <a:bodyPr wrap="square" lIns="0" tIns="0" rIns="0" bIns="0" rtlCol="0" anchor="ctr"/>
          <a:lstStyle/>
          <a:p>
            <a:pPr indent="0" marL="0">
              <a:buNone/>
            </a:pPr>
            <a:r>
              <a:rPr lang="en-US" sz="1400" b="1" spc="150" kern="0" dirty="0">
                <a:solidFill>
                  <a:srgbClr val="B9791F"/>
                </a:solidFill>
                <a:latin typeface="Calibri" pitchFamily="34" charset="0"/>
                <a:ea typeface="Calibri" pitchFamily="34" charset="-122"/>
                <a:cs typeface="Calibri" pitchFamily="34" charset="-120"/>
              </a:rPr>
              <a:t>1 · THE MASH</a:t>
            </a:r>
            <a:endParaRPr lang="en-US" sz="1400" dirty="0"/>
          </a:p>
        </p:txBody>
      </p:sp>
      <p:sp>
        <p:nvSpPr>
          <p:cNvPr id="6" name="Text 4"/>
          <p:cNvSpPr/>
          <p:nvPr/>
        </p:nvSpPr>
        <p:spPr>
          <a:xfrm>
            <a:off x="777240" y="2212848"/>
            <a:ext cx="3200400" cy="41148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H1 2029 — Stabilize</a:t>
            </a:r>
            <a:endParaRPr lang="en-US" sz="1600" dirty="0"/>
          </a:p>
        </p:txBody>
      </p:sp>
      <p:sp>
        <p:nvSpPr>
          <p:cNvPr id="7" name="Text 5"/>
          <p:cNvSpPr/>
          <p:nvPr/>
        </p:nvSpPr>
        <p:spPr>
          <a:xfrm>
            <a:off x="777240" y="2788920"/>
            <a:ext cx="3246120" cy="283464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Converted emergency borrowings into core deposits</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Raised $12M of common equity early</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Suspended the dividend — painful, honest</a:t>
            </a:r>
            <a:endParaRPr lang="en-US" sz="1250" dirty="0"/>
          </a:p>
        </p:txBody>
      </p:sp>
      <p:sp>
        <p:nvSpPr>
          <p:cNvPr id="8" name="Shape 6"/>
          <p:cNvSpPr/>
          <p:nvPr/>
        </p:nvSpPr>
        <p:spPr>
          <a:xfrm>
            <a:off x="4407408" y="1600200"/>
            <a:ext cx="3657600" cy="4206240"/>
          </a:xfrm>
          <a:prstGeom prst="roundRect">
            <a:avLst>
              <a:gd name="adj" fmla="val 2250"/>
            </a:avLst>
          </a:prstGeom>
          <a:solidFill>
            <a:srgbClr val="F5F0E4"/>
          </a:solidFill>
          <a:ln/>
        </p:spPr>
      </p:sp>
      <p:sp>
        <p:nvSpPr>
          <p:cNvPr id="9" name="Text 7"/>
          <p:cNvSpPr/>
          <p:nvPr/>
        </p:nvSpPr>
        <p:spPr>
          <a:xfrm>
            <a:off x="4636008" y="1828800"/>
            <a:ext cx="3200400" cy="365760"/>
          </a:xfrm>
          <a:prstGeom prst="rect">
            <a:avLst/>
          </a:prstGeom>
          <a:noFill/>
          <a:ln/>
        </p:spPr>
        <p:txBody>
          <a:bodyPr wrap="square" lIns="0" tIns="0" rIns="0" bIns="0" rtlCol="0" anchor="ctr"/>
          <a:lstStyle/>
          <a:p>
            <a:pPr indent="0" marL="0">
              <a:buNone/>
            </a:pPr>
            <a:r>
              <a:rPr lang="en-US" sz="1400" b="1" spc="150" kern="0" dirty="0">
                <a:solidFill>
                  <a:srgbClr val="B9791F"/>
                </a:solidFill>
                <a:latin typeface="Calibri" pitchFamily="34" charset="0"/>
                <a:ea typeface="Calibri" pitchFamily="34" charset="-122"/>
                <a:cs typeface="Calibri" pitchFamily="34" charset="-120"/>
              </a:rPr>
              <a:t>2 · THE BARREL</a:t>
            </a:r>
            <a:endParaRPr lang="en-US" sz="1400" dirty="0"/>
          </a:p>
        </p:txBody>
      </p:sp>
      <p:sp>
        <p:nvSpPr>
          <p:cNvPr id="10" name="Text 8"/>
          <p:cNvSpPr/>
          <p:nvPr/>
        </p:nvSpPr>
        <p:spPr>
          <a:xfrm>
            <a:off x="4636008" y="2212848"/>
            <a:ext cx="3200400" cy="41148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H2 2029 — Reprice &amp; Reserve</a:t>
            </a:r>
            <a:endParaRPr lang="en-US" sz="1600" dirty="0"/>
          </a:p>
        </p:txBody>
      </p:sp>
      <p:sp>
        <p:nvSpPr>
          <p:cNvPr id="11" name="Text 9"/>
          <p:cNvSpPr/>
          <p:nvPr/>
        </p:nvSpPr>
        <p:spPr>
          <a:xfrm>
            <a:off x="4636008" y="2788920"/>
            <a:ext cx="3246120" cy="283464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Repriced the loan book +100 to +300bp</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Exited money-losing consumer products</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Pre-funded credit; finished the capital plan</a:t>
            </a:r>
            <a:endParaRPr lang="en-US" sz="1250" dirty="0"/>
          </a:p>
        </p:txBody>
      </p:sp>
      <p:sp>
        <p:nvSpPr>
          <p:cNvPr id="12" name="Shape 10"/>
          <p:cNvSpPr/>
          <p:nvPr/>
        </p:nvSpPr>
        <p:spPr>
          <a:xfrm>
            <a:off x="8266176" y="1600200"/>
            <a:ext cx="3657600" cy="4206240"/>
          </a:xfrm>
          <a:prstGeom prst="roundRect">
            <a:avLst>
              <a:gd name="adj" fmla="val 2250"/>
            </a:avLst>
          </a:prstGeom>
          <a:solidFill>
            <a:srgbClr val="F5F0E4"/>
          </a:solidFill>
          <a:ln/>
        </p:spPr>
      </p:sp>
      <p:sp>
        <p:nvSpPr>
          <p:cNvPr id="13" name="Text 11"/>
          <p:cNvSpPr/>
          <p:nvPr/>
        </p:nvSpPr>
        <p:spPr>
          <a:xfrm>
            <a:off x="8494776" y="1828800"/>
            <a:ext cx="3200400" cy="365760"/>
          </a:xfrm>
          <a:prstGeom prst="rect">
            <a:avLst/>
          </a:prstGeom>
          <a:noFill/>
          <a:ln/>
        </p:spPr>
        <p:txBody>
          <a:bodyPr wrap="square" lIns="0" tIns="0" rIns="0" bIns="0" rtlCol="0" anchor="ctr"/>
          <a:lstStyle/>
          <a:p>
            <a:pPr indent="0" marL="0">
              <a:buNone/>
            </a:pPr>
            <a:r>
              <a:rPr lang="en-US" sz="1400" b="1" spc="150" kern="0" dirty="0">
                <a:solidFill>
                  <a:srgbClr val="B9791F"/>
                </a:solidFill>
                <a:latin typeface="Calibri" pitchFamily="34" charset="0"/>
                <a:ea typeface="Calibri" pitchFamily="34" charset="-122"/>
                <a:cs typeface="Calibri" pitchFamily="34" charset="-120"/>
              </a:rPr>
              <a:t>3 · THE POUR</a:t>
            </a:r>
            <a:endParaRPr lang="en-US" sz="1400" dirty="0"/>
          </a:p>
        </p:txBody>
      </p:sp>
      <p:sp>
        <p:nvSpPr>
          <p:cNvPr id="14" name="Text 12"/>
          <p:cNvSpPr/>
          <p:nvPr/>
        </p:nvSpPr>
        <p:spPr>
          <a:xfrm>
            <a:off x="8494776" y="2212848"/>
            <a:ext cx="3200400" cy="41148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FY 2030 — Harvest</a:t>
            </a:r>
            <a:endParaRPr lang="en-US" sz="1600" dirty="0"/>
          </a:p>
        </p:txBody>
      </p:sp>
      <p:sp>
        <p:nvSpPr>
          <p:cNvPr id="15" name="Text 13"/>
          <p:cNvSpPr/>
          <p:nvPr/>
        </p:nvSpPr>
        <p:spPr>
          <a:xfrm>
            <a:off x="8494776" y="2788920"/>
            <a:ext cx="3246120" cy="2834640"/>
          </a:xfrm>
          <a:prstGeom prst="rect">
            <a:avLst/>
          </a:prstGeom>
          <a:noFill/>
          <a:ln/>
        </p:spPr>
        <p:txBody>
          <a:bodyPr wrap="square" lIns="0" tIns="0" rIns="0" bIns="0" rtlCol="0" anchor="t"/>
          <a:lstStyle/>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Variable funding rode rates down into margin</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Restarted the dividend: $0.25 → $0.50</a:t>
            </a:r>
            <a:endParaRPr lang="en-US" sz="1250" dirty="0"/>
          </a:p>
          <a:p>
            <a:pPr marL="127000" indent="-127000">
              <a:spcAft>
                <a:spcPts val="1000"/>
              </a:spcAft>
              <a:buSzPct val="100000"/>
              <a:buChar char="•"/>
            </a:pPr>
            <a:r>
              <a:rPr lang="en-US" sz="1250" dirty="0">
                <a:solidFill>
                  <a:srgbClr val="232733"/>
                </a:solidFill>
                <a:latin typeface="Calibri" pitchFamily="34" charset="0"/>
                <a:ea typeface="Calibri" pitchFamily="34" charset="-122"/>
                <a:cs typeface="Calibri" pitchFamily="34" charset="-120"/>
              </a:rPr>
              <a:t>De-risked construction as the cycle aged</a:t>
            </a:r>
            <a:endParaRPr lang="en-US" sz="1250" dirty="0"/>
          </a:p>
        </p:txBody>
      </p:sp>
      <p:sp>
        <p:nvSpPr>
          <p:cNvPr id="16" name="Text 14"/>
          <p:cNvSpPr/>
          <p:nvPr/>
        </p:nvSpPr>
        <p:spPr>
          <a:xfrm>
            <a:off x="548640" y="6080760"/>
            <a:ext cx="11064240" cy="365760"/>
          </a:xfrm>
          <a:prstGeom prst="rect">
            <a:avLst/>
          </a:prstGeom>
          <a:noFill/>
          <a:ln/>
        </p:spPr>
        <p:txBody>
          <a:bodyPr wrap="square" lIns="0" tIns="0" rIns="0" bIns="0" rtlCol="0" anchor="ctr"/>
          <a:lstStyle/>
          <a:p>
            <a:pPr algn="ctr" indent="0" marL="0">
              <a:buNone/>
            </a:pPr>
            <a:r>
              <a:rPr lang="en-US" sz="1400" i="1" dirty="0">
                <a:solidFill>
                  <a:srgbClr val="1F2A44"/>
                </a:solidFill>
                <a:latin typeface="Cambria" pitchFamily="34" charset="0"/>
                <a:ea typeface="Cambria" pitchFamily="34" charset="-122"/>
                <a:cs typeface="Cambria" pitchFamily="34" charset="-120"/>
              </a:rPr>
              <a:t>Sequence was the strategy: stabilize before you reprice, reprice before you harvest.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HOW WE GREW, HOW WE FUNDED IT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Growth &amp; Balance Sheet Strategy</a:t>
            </a:r>
            <a:endParaRPr lang="en-US" sz="3200" dirty="0"/>
          </a:p>
        </p:txBody>
      </p:sp>
      <p:sp>
        <p:nvSpPr>
          <p:cNvPr id="4" name="Text 2"/>
          <p:cNvSpPr/>
          <p:nvPr/>
        </p:nvSpPr>
        <p:spPr>
          <a:xfrm>
            <a:off x="548640" y="1554480"/>
            <a:ext cx="5120640" cy="320040"/>
          </a:xfrm>
          <a:prstGeom prst="rect">
            <a:avLst/>
          </a:prstGeom>
          <a:noFill/>
          <a:ln/>
        </p:spPr>
        <p:txBody>
          <a:bodyPr wrap="square" lIns="0" tIns="0" rIns="0" bIns="0" rtlCol="0" anchor="ctr"/>
          <a:lstStyle/>
          <a:p>
            <a:pPr indent="0" marL="0">
              <a:buNone/>
            </a:pPr>
            <a:r>
              <a:rPr lang="en-US" sz="1500" b="1" dirty="0">
                <a:solidFill>
                  <a:srgbClr val="1F2A44"/>
                </a:solidFill>
                <a:latin typeface="Calibri" pitchFamily="34" charset="0"/>
                <a:ea typeface="Calibri" pitchFamily="34" charset="-122"/>
                <a:cs typeface="Calibri" pitchFamily="34" charset="-120"/>
              </a:rPr>
              <a:t>Growth: organic first, M&amp;A-ready next</a:t>
            </a:r>
            <a:endParaRPr lang="en-US" sz="1500" dirty="0"/>
          </a:p>
        </p:txBody>
      </p:sp>
      <p:sp>
        <p:nvSpPr>
          <p:cNvPr id="5" name="Text 3"/>
          <p:cNvSpPr/>
          <p:nvPr/>
        </p:nvSpPr>
        <p:spPr>
          <a:xfrm>
            <a:off x="548640" y="1920240"/>
            <a:ext cx="5120640" cy="1005840"/>
          </a:xfrm>
          <a:prstGeom prst="rect">
            <a:avLst/>
          </a:prstGeom>
          <a:noFill/>
          <a:ln/>
        </p:spPr>
        <p:txBody>
          <a:bodyPr wrap="square" lIns="0" tIns="0" rIns="0" bIns="0" rtlCol="0" anchor="ctr"/>
          <a:lstStyle/>
          <a:p>
            <a:pPr indent="0" marL="0">
              <a:buNone/>
            </a:pPr>
            <a:r>
              <a:rPr lang="en-US" sz="1200" dirty="0">
                <a:solidFill>
                  <a:srgbClr val="232733"/>
                </a:solidFill>
                <a:latin typeface="Calibri" pitchFamily="34" charset="0"/>
                <a:ea typeface="Calibri" pitchFamily="34" charset="-122"/>
                <a:cs typeface="Calibri" pitchFamily="34" charset="-120"/>
              </a:rPr>
              <a:t>These two years we grew by winning customers — pricing, fees, service. Assets $740M → $818M. That discipline built the balance sheet an acquirer needs.</a:t>
            </a:r>
            <a:endParaRPr lang="en-US" sz="1200" dirty="0"/>
          </a:p>
        </p:txBody>
      </p:sp>
      <p:sp>
        <p:nvSpPr>
          <p:cNvPr id="6" name="Text 4"/>
          <p:cNvSpPr/>
          <p:nvPr/>
        </p:nvSpPr>
        <p:spPr>
          <a:xfrm>
            <a:off x="548640" y="3127248"/>
            <a:ext cx="5120640" cy="320040"/>
          </a:xfrm>
          <a:prstGeom prst="rect">
            <a:avLst/>
          </a:prstGeom>
          <a:noFill/>
          <a:ln/>
        </p:spPr>
        <p:txBody>
          <a:bodyPr wrap="square" lIns="0" tIns="0" rIns="0" bIns="0" rtlCol="0" anchor="ctr"/>
          <a:lstStyle/>
          <a:p>
            <a:pPr indent="0" marL="0">
              <a:buNone/>
            </a:pPr>
            <a:r>
              <a:rPr lang="en-US" sz="1500" b="1" dirty="0">
                <a:solidFill>
                  <a:srgbClr val="1F2A44"/>
                </a:solidFill>
                <a:latin typeface="Calibri" pitchFamily="34" charset="0"/>
                <a:ea typeface="Calibri" pitchFamily="34" charset="-122"/>
                <a:cs typeface="Calibri" pitchFamily="34" charset="-120"/>
              </a:rPr>
              <a:t>Capital raised early and cheap</a:t>
            </a:r>
            <a:endParaRPr lang="en-US" sz="1500" dirty="0"/>
          </a:p>
        </p:txBody>
      </p:sp>
      <p:sp>
        <p:nvSpPr>
          <p:cNvPr id="7" name="Text 5"/>
          <p:cNvSpPr/>
          <p:nvPr/>
        </p:nvSpPr>
        <p:spPr>
          <a:xfrm>
            <a:off x="548640" y="3493008"/>
            <a:ext cx="5120640" cy="1005840"/>
          </a:xfrm>
          <a:prstGeom prst="rect">
            <a:avLst/>
          </a:prstGeom>
          <a:noFill/>
          <a:ln/>
        </p:spPr>
        <p:txBody>
          <a:bodyPr wrap="square" lIns="0" tIns="0" rIns="0" bIns="0" rtlCol="0" anchor="ctr"/>
          <a:lstStyle/>
          <a:p>
            <a:pPr indent="0" marL="0">
              <a:buNone/>
            </a:pPr>
            <a:r>
              <a:rPr lang="en-US" sz="1200" dirty="0">
                <a:solidFill>
                  <a:srgbClr val="232733"/>
                </a:solidFill>
                <a:latin typeface="Calibri" pitchFamily="34" charset="0"/>
                <a:ea typeface="Calibri" pitchFamily="34" charset="-122"/>
                <a:cs typeface="Calibri" pitchFamily="34" charset="-120"/>
              </a:rPr>
              <a:t>$18M common + $5M subordinated notes, raised before prices fell further. Philosophy: hold a buffer above every requirement.</a:t>
            </a:r>
            <a:endParaRPr lang="en-US" sz="1200" dirty="0"/>
          </a:p>
        </p:txBody>
      </p:sp>
      <p:sp>
        <p:nvSpPr>
          <p:cNvPr id="8" name="Text 6"/>
          <p:cNvSpPr/>
          <p:nvPr/>
        </p:nvSpPr>
        <p:spPr>
          <a:xfrm>
            <a:off x="548640" y="4700016"/>
            <a:ext cx="5120640" cy="320040"/>
          </a:xfrm>
          <a:prstGeom prst="rect">
            <a:avLst/>
          </a:prstGeom>
          <a:noFill/>
          <a:ln/>
        </p:spPr>
        <p:txBody>
          <a:bodyPr wrap="square" lIns="0" tIns="0" rIns="0" bIns="0" rtlCol="0" anchor="ctr"/>
          <a:lstStyle/>
          <a:p>
            <a:pPr indent="0" marL="0">
              <a:buNone/>
            </a:pPr>
            <a:r>
              <a:rPr lang="en-US" sz="1500" b="1" dirty="0">
                <a:solidFill>
                  <a:srgbClr val="1F2A44"/>
                </a:solidFill>
                <a:latin typeface="Calibri" pitchFamily="34" charset="0"/>
                <a:ea typeface="Calibri" pitchFamily="34" charset="-122"/>
                <a:cs typeface="Calibri" pitchFamily="34" charset="-120"/>
              </a:rPr>
              <a:t>Funding model: core first</a:t>
            </a:r>
            <a:endParaRPr lang="en-US" sz="1500" dirty="0"/>
          </a:p>
        </p:txBody>
      </p:sp>
      <p:sp>
        <p:nvSpPr>
          <p:cNvPr id="9" name="Text 7"/>
          <p:cNvSpPr/>
          <p:nvPr/>
        </p:nvSpPr>
        <p:spPr>
          <a:xfrm>
            <a:off x="548640" y="5065776"/>
            <a:ext cx="5120640" cy="1005840"/>
          </a:xfrm>
          <a:prstGeom prst="rect">
            <a:avLst/>
          </a:prstGeom>
          <a:noFill/>
          <a:ln/>
        </p:spPr>
        <p:txBody>
          <a:bodyPr wrap="square" lIns="0" tIns="0" rIns="0" bIns="0" rtlCol="0" anchor="ctr"/>
          <a:lstStyle/>
          <a:p>
            <a:pPr indent="0" marL="0">
              <a:buNone/>
            </a:pPr>
            <a:r>
              <a:rPr lang="en-US" sz="1200" dirty="0">
                <a:solidFill>
                  <a:srgbClr val="232733"/>
                </a:solidFill>
                <a:latin typeface="Calibri" pitchFamily="34" charset="0"/>
                <a:ea typeface="Calibri" pitchFamily="34" charset="-122"/>
                <a:cs typeface="Calibri" pitchFamily="34" charset="-120"/>
              </a:rPr>
              <a:t>Core deposits fund ~99% of the book; wholesale borrowings retired to near zero. Deposits $551M → $658M.</a:t>
            </a:r>
            <a:endParaRPr lang="en-US" sz="1200" dirty="0"/>
          </a:p>
        </p:txBody>
      </p:sp>
      <p:graphicFrame>
        <p:nvGraphicFramePr>
          <p:cNvPr id="10" name="Chart 0" descr=""/>
          <p:cNvGraphicFramePr/>
          <p:nvPr/>
        </p:nvGraphicFramePr>
        <p:xfrm>
          <a:off x="6035040" y="1554480"/>
          <a:ext cx="5577840" cy="45720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6035040" y="6172200"/>
            <a:ext cx="5577840" cy="274320"/>
          </a:xfrm>
          <a:prstGeom prst="rect">
            <a:avLst/>
          </a:prstGeom>
          <a:noFill/>
          <a:ln/>
        </p:spPr>
        <p:txBody>
          <a:bodyPr wrap="square" lIns="0" tIns="0" rIns="0" bIns="0" rtlCol="0" anchor="ctr"/>
          <a:lstStyle/>
          <a:p>
            <a:pPr algn="ctr" indent="0" marL="0">
              <a:buNone/>
            </a:pPr>
            <a:r>
              <a:rPr lang="en-US" sz="1000" i="1" dirty="0">
                <a:solidFill>
                  <a:srgbClr val="6E7480"/>
                </a:solidFill>
                <a:latin typeface="Calibri" pitchFamily="34" charset="0"/>
                <a:ea typeface="Calibri" pitchFamily="34" charset="-122"/>
                <a:cs typeface="Calibri" pitchFamily="34" charset="-120"/>
              </a:rPr>
              <a:t>$M · capital = equity + subordinated notes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WHAT WE OFFER — AND WHAT WE STOPPED OFFERING</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Products &amp; Capabilities</a:t>
            </a:r>
            <a:endParaRPr lang="en-US" sz="3200" dirty="0"/>
          </a:p>
        </p:txBody>
      </p:sp>
      <p:sp>
        <p:nvSpPr>
          <p:cNvPr id="4" name="Shape 2"/>
          <p:cNvSpPr/>
          <p:nvPr/>
        </p:nvSpPr>
        <p:spPr>
          <a:xfrm>
            <a:off x="548640" y="1600200"/>
            <a:ext cx="3657600" cy="4297680"/>
          </a:xfrm>
          <a:prstGeom prst="roundRect">
            <a:avLst>
              <a:gd name="adj" fmla="val 2250"/>
            </a:avLst>
          </a:prstGeom>
          <a:solidFill>
            <a:srgbClr val="F5F0E4"/>
          </a:solidFill>
          <a:ln/>
        </p:spPr>
      </p:sp>
      <p:sp>
        <p:nvSpPr>
          <p:cNvPr id="5" name="Text 3"/>
          <p:cNvSpPr/>
          <p:nvPr/>
        </p:nvSpPr>
        <p:spPr>
          <a:xfrm>
            <a:off x="777240" y="1828800"/>
            <a:ext cx="3200400" cy="365760"/>
          </a:xfrm>
          <a:prstGeom prst="rect">
            <a:avLst/>
          </a:prstGeom>
          <a:noFill/>
          <a:ln/>
        </p:spPr>
        <p:txBody>
          <a:bodyPr wrap="square" lIns="0" tIns="0" rIns="0" bIns="0" rtlCol="0" anchor="ctr"/>
          <a:lstStyle/>
          <a:p>
            <a:pPr indent="0" marL="0">
              <a:buNone/>
            </a:pPr>
            <a:r>
              <a:rPr lang="en-US" sz="1300" b="1" spc="150" kern="0" dirty="0">
                <a:solidFill>
                  <a:srgbClr val="2E7D32"/>
                </a:solidFill>
                <a:latin typeface="Calibri" pitchFamily="34" charset="0"/>
                <a:ea typeface="Calibri" pitchFamily="34" charset="-122"/>
                <a:cs typeface="Calibri" pitchFamily="34" charset="-120"/>
              </a:rPr>
              <a:t>WHERE WE LEAD</a:t>
            </a:r>
            <a:endParaRPr lang="en-US" sz="1300" dirty="0"/>
          </a:p>
        </p:txBody>
      </p:sp>
      <p:sp>
        <p:nvSpPr>
          <p:cNvPr id="6" name="Text 4"/>
          <p:cNvSpPr/>
          <p:nvPr/>
        </p:nvSpPr>
        <p:spPr>
          <a:xfrm>
            <a:off x="777240" y="2331720"/>
            <a:ext cx="3246120" cy="3383280"/>
          </a:xfrm>
          <a:prstGeom prst="rect">
            <a:avLst/>
          </a:prstGeom>
          <a:noFill/>
          <a:ln/>
        </p:spPr>
        <p:txBody>
          <a:bodyPr wrap="square" lIns="0" tIns="0" rIns="0" bIns="0" rtlCol="0" anchor="t"/>
          <a:lstStyle/>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Commercial &amp; construction lending — priced for risk, reviewed every cycle</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Full deposit suite — top-of-market rates, low fees, ~99% core funding</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Business banking relationships — deposits follow our borrowers</a:t>
            </a:r>
            <a:endParaRPr lang="en-US" sz="1200" dirty="0"/>
          </a:p>
        </p:txBody>
      </p:sp>
      <p:sp>
        <p:nvSpPr>
          <p:cNvPr id="7" name="Shape 5"/>
          <p:cNvSpPr/>
          <p:nvPr/>
        </p:nvSpPr>
        <p:spPr>
          <a:xfrm>
            <a:off x="4407408" y="1600200"/>
            <a:ext cx="3657600" cy="4297680"/>
          </a:xfrm>
          <a:prstGeom prst="roundRect">
            <a:avLst>
              <a:gd name="adj" fmla="val 2250"/>
            </a:avLst>
          </a:prstGeom>
          <a:solidFill>
            <a:srgbClr val="F5F0E4"/>
          </a:solidFill>
          <a:ln/>
        </p:spPr>
      </p:sp>
      <p:sp>
        <p:nvSpPr>
          <p:cNvPr id="8" name="Text 6"/>
          <p:cNvSpPr/>
          <p:nvPr/>
        </p:nvSpPr>
        <p:spPr>
          <a:xfrm>
            <a:off x="4636008" y="1828800"/>
            <a:ext cx="3200400" cy="365760"/>
          </a:xfrm>
          <a:prstGeom prst="rect">
            <a:avLst/>
          </a:prstGeom>
          <a:noFill/>
          <a:ln/>
        </p:spPr>
        <p:txBody>
          <a:bodyPr wrap="square" lIns="0" tIns="0" rIns="0" bIns="0" rtlCol="0" anchor="ctr"/>
          <a:lstStyle/>
          <a:p>
            <a:pPr indent="0" marL="0">
              <a:buNone/>
            </a:pPr>
            <a:r>
              <a:rPr lang="en-US" sz="1300" b="1" spc="150" kern="0" dirty="0">
                <a:solidFill>
                  <a:srgbClr val="1F2A44"/>
                </a:solidFill>
                <a:latin typeface="Calibri" pitchFamily="34" charset="0"/>
                <a:ea typeface="Calibri" pitchFamily="34" charset="-122"/>
                <a:cs typeface="Calibri" pitchFamily="34" charset="-120"/>
              </a:rPr>
              <a:t>CAPABILITIES BUILT</a:t>
            </a:r>
            <a:endParaRPr lang="en-US" sz="1300" dirty="0"/>
          </a:p>
        </p:txBody>
      </p:sp>
      <p:sp>
        <p:nvSpPr>
          <p:cNvPr id="9" name="Text 7"/>
          <p:cNvSpPr/>
          <p:nvPr/>
        </p:nvSpPr>
        <p:spPr>
          <a:xfrm>
            <a:off x="4636008" y="2331720"/>
            <a:ext cx="3246120" cy="3383280"/>
          </a:xfrm>
          <a:prstGeom prst="rect">
            <a:avLst/>
          </a:prstGeom>
          <a:noFill/>
          <a:ln/>
        </p:spPr>
        <p:txBody>
          <a:bodyPr wrap="square" lIns="0" tIns="0" rIns="0" bIns="0" rtlCol="0" anchor="t"/>
          <a:lstStyle/>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Mortgage banking &amp; servicing — originate, sell, service for fee income</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Treasury: interest-rate swaps (+$2.1M in 2030), disciplined securities ladder</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CECL-grade credit administration and full loan review</a:t>
            </a:r>
            <a:endParaRPr lang="en-US" sz="1200" dirty="0"/>
          </a:p>
        </p:txBody>
      </p:sp>
      <p:sp>
        <p:nvSpPr>
          <p:cNvPr id="10" name="Shape 8"/>
          <p:cNvSpPr/>
          <p:nvPr/>
        </p:nvSpPr>
        <p:spPr>
          <a:xfrm>
            <a:off x="8266176" y="1600200"/>
            <a:ext cx="3657600" cy="4297680"/>
          </a:xfrm>
          <a:prstGeom prst="roundRect">
            <a:avLst>
              <a:gd name="adj" fmla="val 2250"/>
            </a:avLst>
          </a:prstGeom>
          <a:solidFill>
            <a:srgbClr val="F5F0E4"/>
          </a:solidFill>
          <a:ln/>
        </p:spPr>
      </p:sp>
      <p:sp>
        <p:nvSpPr>
          <p:cNvPr id="11" name="Text 9"/>
          <p:cNvSpPr/>
          <p:nvPr/>
        </p:nvSpPr>
        <p:spPr>
          <a:xfrm>
            <a:off x="8494776" y="1828800"/>
            <a:ext cx="3200400" cy="365760"/>
          </a:xfrm>
          <a:prstGeom prst="rect">
            <a:avLst/>
          </a:prstGeom>
          <a:noFill/>
          <a:ln/>
        </p:spPr>
        <p:txBody>
          <a:bodyPr wrap="square" lIns="0" tIns="0" rIns="0" bIns="0" rtlCol="0" anchor="ctr"/>
          <a:lstStyle/>
          <a:p>
            <a:pPr indent="0" marL="0">
              <a:buNone/>
            </a:pPr>
            <a:r>
              <a:rPr lang="en-US" sz="1300" b="1" spc="150" kern="0" dirty="0">
                <a:solidFill>
                  <a:srgbClr val="B9791F"/>
                </a:solidFill>
                <a:latin typeface="Calibri" pitchFamily="34" charset="0"/>
                <a:ea typeface="Calibri" pitchFamily="34" charset="-122"/>
                <a:cs typeface="Calibri" pitchFamily="34" charset="-120"/>
              </a:rPr>
              <a:t>PRUNED FROM THE SHELF</a:t>
            </a:r>
            <a:endParaRPr lang="en-US" sz="1300" dirty="0"/>
          </a:p>
        </p:txBody>
      </p:sp>
      <p:sp>
        <p:nvSpPr>
          <p:cNvPr id="12" name="Text 10"/>
          <p:cNvSpPr/>
          <p:nvPr/>
        </p:nvSpPr>
        <p:spPr>
          <a:xfrm>
            <a:off x="8494776" y="2331720"/>
            <a:ext cx="3246120" cy="3383280"/>
          </a:xfrm>
          <a:prstGeom prst="rect">
            <a:avLst/>
          </a:prstGeom>
          <a:noFill/>
          <a:ln/>
        </p:spPr>
        <p:txBody>
          <a:bodyPr wrap="square" lIns="0" tIns="0" rIns="0" bIns="0" rtlCol="0" anchor="t"/>
          <a:lstStyle/>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Credit card &amp; installment lending — earned less than our cost of funds</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Below-market fixed CDs that customers rightly ignored</a:t>
            </a:r>
            <a:endParaRPr lang="en-US" sz="1200" dirty="0"/>
          </a:p>
          <a:p>
            <a:pPr marL="127000" indent="-127000">
              <a:spcAft>
                <a:spcPts val="1200"/>
              </a:spcAft>
              <a:buSzPct val="100000"/>
              <a:buChar char="•"/>
            </a:pPr>
            <a:r>
              <a:rPr lang="en-US" sz="1200" dirty="0">
                <a:solidFill>
                  <a:srgbClr val="232733"/>
                </a:solidFill>
                <a:latin typeface="Calibri" pitchFamily="34" charset="0"/>
                <a:ea typeface="Calibri" pitchFamily="34" charset="-122"/>
                <a:cs typeface="Calibri" pitchFamily="34" charset="-120"/>
              </a:rPr>
              <a:t>Premises we didn't need — sold, leaned out occupancy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SECTION 3 · OPERATING RESULTS, QUARTER BY QUARTER</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Earnings Turn</a:t>
            </a:r>
            <a:endParaRPr lang="en-US" sz="3200" dirty="0"/>
          </a:p>
        </p:txBody>
      </p:sp>
      <p:graphicFrame>
        <p:nvGraphicFramePr>
          <p:cNvPr id="4" name="Chart 0" descr=""/>
          <p:cNvGraphicFramePr/>
          <p:nvPr/>
        </p:nvGraphicFramePr>
        <p:xfrm>
          <a:off x="548640" y="1554480"/>
          <a:ext cx="777240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595360" y="1554480"/>
            <a:ext cx="3017520" cy="1371600"/>
          </a:xfrm>
          <a:prstGeom prst="roundRect">
            <a:avLst>
              <a:gd name="adj" fmla="val 5333"/>
            </a:avLst>
          </a:prstGeom>
          <a:solidFill>
            <a:srgbClr val="F5F0E4"/>
          </a:solidFill>
          <a:ln/>
        </p:spPr>
      </p:sp>
      <p:sp>
        <p:nvSpPr>
          <p:cNvPr id="6" name="Text 3"/>
          <p:cNvSpPr/>
          <p:nvPr/>
        </p:nvSpPr>
        <p:spPr>
          <a:xfrm>
            <a:off x="8759952" y="1664208"/>
            <a:ext cx="2688336" cy="685800"/>
          </a:xfrm>
          <a:prstGeom prst="rect">
            <a:avLst/>
          </a:prstGeom>
          <a:noFill/>
          <a:ln/>
        </p:spPr>
        <p:txBody>
          <a:bodyPr wrap="square" lIns="0" tIns="0" rIns="0" bIns="0" rtlCol="0" anchor="b"/>
          <a:lstStyle/>
          <a:p>
            <a:pPr indent="0" marL="0">
              <a:buNone/>
            </a:pPr>
            <a:r>
              <a:rPr lang="en-US" sz="2800" b="1" dirty="0">
                <a:solidFill>
                  <a:srgbClr val="B3402E"/>
                </a:solidFill>
                <a:latin typeface="Cambria" pitchFamily="34" charset="0"/>
                <a:ea typeface="Cambria" pitchFamily="34" charset="-122"/>
                <a:cs typeface="Cambria" pitchFamily="34" charset="-120"/>
              </a:rPr>
              <a:t>−$2.5M</a:t>
            </a:r>
            <a:endParaRPr lang="en-US" sz="2800" dirty="0"/>
          </a:p>
        </p:txBody>
      </p:sp>
      <p:sp>
        <p:nvSpPr>
          <p:cNvPr id="7" name="Text 4"/>
          <p:cNvSpPr/>
          <p:nvPr/>
        </p:nvSpPr>
        <p:spPr>
          <a:xfrm>
            <a:off x="8759952" y="2322576"/>
            <a:ext cx="268833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FY2029 operating result — the rebuild year</a:t>
            </a:r>
            <a:endParaRPr lang="en-US" sz="1100" dirty="0"/>
          </a:p>
        </p:txBody>
      </p:sp>
      <p:sp>
        <p:nvSpPr>
          <p:cNvPr id="8" name="Shape 5"/>
          <p:cNvSpPr/>
          <p:nvPr/>
        </p:nvSpPr>
        <p:spPr>
          <a:xfrm>
            <a:off x="8595360" y="3063240"/>
            <a:ext cx="3017520" cy="1371600"/>
          </a:xfrm>
          <a:prstGeom prst="roundRect">
            <a:avLst>
              <a:gd name="adj" fmla="val 5333"/>
            </a:avLst>
          </a:prstGeom>
          <a:solidFill>
            <a:srgbClr val="F5F0E4"/>
          </a:solidFill>
          <a:ln/>
        </p:spPr>
      </p:sp>
      <p:sp>
        <p:nvSpPr>
          <p:cNvPr id="9" name="Text 6"/>
          <p:cNvSpPr/>
          <p:nvPr/>
        </p:nvSpPr>
        <p:spPr>
          <a:xfrm>
            <a:off x="8759952" y="3172968"/>
            <a:ext cx="2688336" cy="685800"/>
          </a:xfrm>
          <a:prstGeom prst="rect">
            <a:avLst/>
          </a:prstGeom>
          <a:noFill/>
          <a:ln/>
        </p:spPr>
        <p:txBody>
          <a:bodyPr wrap="square" lIns="0" tIns="0" rIns="0" bIns="0" rtlCol="0" anchor="b"/>
          <a:lstStyle/>
          <a:p>
            <a:pPr indent="0" marL="0">
              <a:buNone/>
            </a:pPr>
            <a:r>
              <a:rPr lang="en-US" sz="2800" b="1" dirty="0">
                <a:solidFill>
                  <a:srgbClr val="2E7D32"/>
                </a:solidFill>
                <a:latin typeface="Cambria" pitchFamily="34" charset="0"/>
                <a:ea typeface="Cambria" pitchFamily="34" charset="-122"/>
                <a:cs typeface="Cambria" pitchFamily="34" charset="-120"/>
              </a:rPr>
              <a:t>+$7.8M</a:t>
            </a:r>
            <a:endParaRPr lang="en-US" sz="2800" dirty="0"/>
          </a:p>
        </p:txBody>
      </p:sp>
      <p:sp>
        <p:nvSpPr>
          <p:cNvPr id="10" name="Text 7"/>
          <p:cNvSpPr/>
          <p:nvPr/>
        </p:nvSpPr>
        <p:spPr>
          <a:xfrm>
            <a:off x="8759952" y="3831336"/>
            <a:ext cx="268833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FY2030 operating result — a $10.3M swing</a:t>
            </a:r>
            <a:endParaRPr lang="en-US" sz="1100" dirty="0"/>
          </a:p>
        </p:txBody>
      </p:sp>
      <p:sp>
        <p:nvSpPr>
          <p:cNvPr id="11" name="Shape 8"/>
          <p:cNvSpPr/>
          <p:nvPr/>
        </p:nvSpPr>
        <p:spPr>
          <a:xfrm>
            <a:off x="8595360" y="4572000"/>
            <a:ext cx="3017520" cy="1371600"/>
          </a:xfrm>
          <a:prstGeom prst="roundRect">
            <a:avLst>
              <a:gd name="adj" fmla="val 5333"/>
            </a:avLst>
          </a:prstGeom>
          <a:solidFill>
            <a:srgbClr val="F5F0E4"/>
          </a:solidFill>
          <a:ln/>
        </p:spPr>
      </p:sp>
      <p:sp>
        <p:nvSpPr>
          <p:cNvPr id="12" name="Text 9"/>
          <p:cNvSpPr/>
          <p:nvPr/>
        </p:nvSpPr>
        <p:spPr>
          <a:xfrm>
            <a:off x="8759952" y="4681728"/>
            <a:ext cx="2688336" cy="685800"/>
          </a:xfrm>
          <a:prstGeom prst="rect">
            <a:avLst/>
          </a:prstGeom>
          <a:noFill/>
          <a:ln/>
        </p:spPr>
        <p:txBody>
          <a:bodyPr wrap="square" lIns="0" tIns="0" rIns="0" bIns="0" rtlCol="0" anchor="b"/>
          <a:lstStyle/>
          <a:p>
            <a:pPr indent="0" marL="0">
              <a:buNone/>
            </a:pPr>
            <a:r>
              <a:rPr lang="en-US" sz="2800" b="1" dirty="0">
                <a:solidFill>
                  <a:srgbClr val="2E7D32"/>
                </a:solidFill>
                <a:latin typeface="Cambria" pitchFamily="34" charset="0"/>
                <a:ea typeface="Cambria" pitchFamily="34" charset="-122"/>
                <a:cs typeface="Cambria" pitchFamily="34" charset="-120"/>
              </a:rPr>
              <a:t>+$3.8M</a:t>
            </a:r>
            <a:endParaRPr lang="en-US" sz="2800" dirty="0"/>
          </a:p>
        </p:txBody>
      </p:sp>
      <p:sp>
        <p:nvSpPr>
          <p:cNvPr id="13" name="Text 10"/>
          <p:cNvSpPr/>
          <p:nvPr/>
        </p:nvSpPr>
        <p:spPr>
          <a:xfrm>
            <a:off x="8759952" y="5340096"/>
            <a:ext cx="2688336" cy="548640"/>
          </a:xfrm>
          <a:prstGeom prst="rect">
            <a:avLst/>
          </a:prstGeom>
          <a:noFill/>
          <a:ln/>
        </p:spPr>
        <p:txBody>
          <a:bodyPr wrap="square" lIns="0" tIns="0" rIns="0" bIns="0" rtlCol="0" anchor="t"/>
          <a:lstStyle/>
          <a:p>
            <a:pPr indent="0" marL="0">
              <a:buNone/>
            </a:pPr>
            <a:r>
              <a:rPr lang="en-US" sz="1100" dirty="0">
                <a:solidFill>
                  <a:srgbClr val="6E7480"/>
                </a:solidFill>
                <a:latin typeface="Calibri" pitchFamily="34" charset="0"/>
                <a:ea typeface="Calibri" pitchFamily="34" charset="-122"/>
                <a:cs typeface="Calibri" pitchFamily="34" charset="-120"/>
              </a:rPr>
              <a:t>our record quarter (Q3/30) — 16.5% ROAE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THE TWO ENGINES OF THE TURNAROUND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Margin Built, Costs Cut</a:t>
            </a:r>
            <a:endParaRPr lang="en-US" sz="3200" dirty="0"/>
          </a:p>
        </p:txBody>
      </p:sp>
      <p:sp>
        <p:nvSpPr>
          <p:cNvPr id="4" name="Text 2"/>
          <p:cNvSpPr/>
          <p:nvPr/>
        </p:nvSpPr>
        <p:spPr>
          <a:xfrm>
            <a:off x="548640" y="1508760"/>
            <a:ext cx="5486400" cy="274320"/>
          </a:xfrm>
          <a:prstGeom prst="rect">
            <a:avLst/>
          </a:prstGeom>
          <a:noFill/>
          <a:ln/>
        </p:spPr>
        <p:txBody>
          <a:bodyPr wrap="square" lIns="0" tIns="0" rIns="0" bIns="0" rtlCol="0" anchor="ctr"/>
          <a:lstStyle/>
          <a:p>
            <a:pPr indent="0" marL="0">
              <a:buNone/>
            </a:pPr>
            <a:r>
              <a:rPr lang="en-US" sz="1250" b="1" dirty="0">
                <a:solidFill>
                  <a:srgbClr val="232733"/>
                </a:solidFill>
                <a:latin typeface="Calibri" pitchFamily="34" charset="0"/>
                <a:ea typeface="Calibri" pitchFamily="34" charset="-122"/>
                <a:cs typeface="Calibri" pitchFamily="34" charset="-120"/>
              </a:rPr>
              <a:t>Net interest margin (%)</a:t>
            </a:r>
            <a:endParaRPr lang="en-US" sz="1250" dirty="0"/>
          </a:p>
        </p:txBody>
      </p:sp>
      <p:graphicFrame>
        <p:nvGraphicFramePr>
          <p:cNvPr id="5" name="Chart 0" descr=""/>
          <p:cNvGraphicFramePr/>
          <p:nvPr/>
        </p:nvGraphicFramePr>
        <p:xfrm>
          <a:off x="548640" y="1828800"/>
          <a:ext cx="5394960" cy="40233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263640" y="1508760"/>
            <a:ext cx="5486400" cy="274320"/>
          </a:xfrm>
          <a:prstGeom prst="rect">
            <a:avLst/>
          </a:prstGeom>
          <a:noFill/>
          <a:ln/>
        </p:spPr>
        <p:txBody>
          <a:bodyPr wrap="square" lIns="0" tIns="0" rIns="0" bIns="0" rtlCol="0" anchor="ctr"/>
          <a:lstStyle/>
          <a:p>
            <a:pPr indent="0" marL="0">
              <a:buNone/>
            </a:pPr>
            <a:r>
              <a:rPr lang="en-US" sz="1250" b="1" dirty="0">
                <a:solidFill>
                  <a:srgbClr val="232733"/>
                </a:solidFill>
                <a:latin typeface="Calibri" pitchFamily="34" charset="0"/>
                <a:ea typeface="Calibri" pitchFamily="34" charset="-122"/>
                <a:cs typeface="Calibri" pitchFamily="34" charset="-120"/>
              </a:rPr>
              <a:t>Efficiency ratio (%) — lower is better</a:t>
            </a:r>
            <a:endParaRPr lang="en-US" sz="1250" dirty="0"/>
          </a:p>
        </p:txBody>
      </p:sp>
      <p:graphicFrame>
        <p:nvGraphicFramePr>
          <p:cNvPr id="7" name="Chart 1" descr=""/>
          <p:cNvGraphicFramePr/>
          <p:nvPr/>
        </p:nvGraphicFramePr>
        <p:xfrm>
          <a:off x="6263640" y="1828800"/>
          <a:ext cx="5394960" cy="40233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548640" y="5989320"/>
            <a:ext cx="5394960" cy="365760"/>
          </a:xfrm>
          <a:prstGeom prst="rect">
            <a:avLst/>
          </a:prstGeom>
          <a:noFill/>
          <a:ln/>
        </p:spPr>
        <p:txBody>
          <a:bodyPr wrap="square" lIns="0" tIns="0" rIns="0" bIns="0" rtlCol="0" anchor="ctr"/>
          <a:lstStyle/>
          <a:p>
            <a:pPr indent="0" marL="0">
              <a:buNone/>
            </a:pPr>
            <a:r>
              <a:rPr lang="en-US" sz="1200" i="1" dirty="0">
                <a:solidFill>
                  <a:srgbClr val="6E7480"/>
                </a:solidFill>
                <a:latin typeface="Calibri" pitchFamily="34" charset="0"/>
                <a:ea typeface="Calibri" pitchFamily="34" charset="-122"/>
                <a:cs typeface="Calibri" pitchFamily="34" charset="-120"/>
              </a:rPr>
              <a:t>3.12% → 4.10% at peak — repricing that stuck</a:t>
            </a:r>
            <a:endParaRPr lang="en-US" sz="1200" dirty="0"/>
          </a:p>
        </p:txBody>
      </p:sp>
      <p:sp>
        <p:nvSpPr>
          <p:cNvPr id="9" name="Text 5"/>
          <p:cNvSpPr/>
          <p:nvPr/>
        </p:nvSpPr>
        <p:spPr>
          <a:xfrm>
            <a:off x="6263640" y="5989320"/>
            <a:ext cx="5394960" cy="365760"/>
          </a:xfrm>
          <a:prstGeom prst="rect">
            <a:avLst/>
          </a:prstGeom>
          <a:noFill/>
          <a:ln/>
        </p:spPr>
        <p:txBody>
          <a:bodyPr wrap="square" lIns="0" tIns="0" rIns="0" bIns="0" rtlCol="0" anchor="ctr"/>
          <a:lstStyle/>
          <a:p>
            <a:pPr indent="0" marL="0">
              <a:buNone/>
            </a:pPr>
            <a:r>
              <a:rPr lang="en-US" sz="1200" i="1" dirty="0">
                <a:solidFill>
                  <a:srgbClr val="6E7480"/>
                </a:solidFill>
                <a:latin typeface="Calibri" pitchFamily="34" charset="0"/>
                <a:ea typeface="Calibri" pitchFamily="34" charset="-122"/>
                <a:cs typeface="Calibri" pitchFamily="34" charset="-120"/>
              </a:rPr>
              <a:t>91% → 60% at best — a third less cost per dollar of revenue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FY2029 VS FY2030 ($M)</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Two Years on One Page</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035040" cy="914400"/>
        </p:xfrm>
        <a:graphic>
          <a:graphicData uri="http://schemas.openxmlformats.org/drawingml/2006/table">
            <a:tbl>
              <a:tblPr/>
              <a:tblGrid>
                <a:gridCol w="3108960"/>
                <a:gridCol w="1463040"/>
                <a:gridCol w="1463040"/>
              </a:tblGrid>
              <a:tr h="475488">
                <a:tc>
                  <a:txBody>
                    <a:bodyPr/>
                    <a:lstStyle/>
                    <a:p>
                      <a:pPr indent="0" marL="0">
                        <a:buNone/>
                      </a:pPr>
                      <a:endParaRPr lang="en-US" sz="12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6E7480"/>
                          </a:solidFill>
                          <a:latin typeface="Calibri" pitchFamily="34" charset="0"/>
                          <a:ea typeface="Calibri" pitchFamily="34" charset="-122"/>
                          <a:cs typeface="Calibri" pitchFamily="34" charset="-120"/>
                        </a:rPr>
                        <a:t>FY2029</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b="1" dirty="0">
                          <a:solidFill>
                            <a:srgbClr val="1F2A44"/>
                          </a:solidFill>
                          <a:latin typeface="Calibri" pitchFamily="34" charset="0"/>
                          <a:ea typeface="Calibri" pitchFamily="34" charset="-122"/>
                          <a:cs typeface="Calibri" pitchFamily="34" charset="-120"/>
                        </a:rPr>
                        <a:t>FY2030</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300" dirty="0">
                          <a:solidFill>
                            <a:srgbClr val="232733"/>
                          </a:solidFill>
                          <a:latin typeface="Calibri" pitchFamily="34" charset="0"/>
                          <a:ea typeface="Calibri" pitchFamily="34" charset="-122"/>
                          <a:cs typeface="Calibri" pitchFamily="34" charset="-120"/>
                        </a:rPr>
                        <a:t>Net interest income</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6E7480"/>
                          </a:solidFill>
                          <a:latin typeface="Calibri" pitchFamily="34" charset="0"/>
                          <a:ea typeface="Calibri" pitchFamily="34" charset="-122"/>
                          <a:cs typeface="Calibri" pitchFamily="34" charset="-120"/>
                        </a:rPr>
                        <a:t>23.9</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1F2A44"/>
                          </a:solidFill>
                          <a:latin typeface="Calibri" pitchFamily="34" charset="0"/>
                          <a:ea typeface="Calibri" pitchFamily="34" charset="-122"/>
                          <a:cs typeface="Calibri" pitchFamily="34" charset="-120"/>
                        </a:rPr>
                        <a:t>29.0</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300" dirty="0">
                          <a:solidFill>
                            <a:srgbClr val="232733"/>
                          </a:solidFill>
                          <a:latin typeface="Calibri" pitchFamily="34" charset="0"/>
                          <a:ea typeface="Calibri" pitchFamily="34" charset="-122"/>
                          <a:cs typeface="Calibri" pitchFamily="34" charset="-120"/>
                        </a:rPr>
                        <a:t>Fees &amp; other income</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6E7480"/>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1F2A44"/>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300" dirty="0">
                          <a:solidFill>
                            <a:srgbClr val="232733"/>
                          </a:solidFill>
                          <a:latin typeface="Calibri" pitchFamily="34" charset="0"/>
                          <a:ea typeface="Calibri" pitchFamily="34" charset="-122"/>
                          <a:cs typeface="Calibri" pitchFamily="34" charset="-120"/>
                        </a:rPr>
                        <a:t>Credit loss provision</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6E7480"/>
                          </a:solidFill>
                          <a:latin typeface="Calibri" pitchFamily="34" charset="0"/>
                          <a:ea typeface="Calibri" pitchFamily="34" charset="-122"/>
                          <a:cs typeface="Calibri" pitchFamily="34" charset="-120"/>
                        </a:rPr>
                        <a:t>7.7</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1F2A44"/>
                          </a:solidFill>
                          <a:latin typeface="Calibri" pitchFamily="34" charset="0"/>
                          <a:ea typeface="Calibri" pitchFamily="34" charset="-122"/>
                          <a:cs typeface="Calibri" pitchFamily="34" charset="-120"/>
                        </a:rPr>
                        <a:t>5.3</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300" dirty="0">
                          <a:solidFill>
                            <a:srgbClr val="232733"/>
                          </a:solidFill>
                          <a:latin typeface="Calibri" pitchFamily="34" charset="0"/>
                          <a:ea typeface="Calibri" pitchFamily="34" charset="-122"/>
                          <a:cs typeface="Calibri" pitchFamily="34" charset="-120"/>
                        </a:rPr>
                        <a:t>Operating expenses</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6E7480"/>
                          </a:solidFill>
                          <a:latin typeface="Calibri" pitchFamily="34" charset="0"/>
                          <a:ea typeface="Calibri" pitchFamily="34" charset="-122"/>
                          <a:cs typeface="Calibri" pitchFamily="34" charset="-120"/>
                        </a:rPr>
                        <a:t>25.1</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300" dirty="0">
                          <a:solidFill>
                            <a:srgbClr val="1F2A44"/>
                          </a:solidFill>
                          <a:latin typeface="Calibri" pitchFamily="34" charset="0"/>
                          <a:ea typeface="Calibri" pitchFamily="34" charset="-122"/>
                          <a:cs typeface="Calibri" pitchFamily="34" charset="-120"/>
                        </a:rPr>
                        <a:t>23.1</a:t>
                      </a:r>
                      <a:endParaRPr lang="en-US" sz="13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400" b="1" dirty="0">
                          <a:solidFill>
                            <a:srgbClr val="232733"/>
                          </a:solidFill>
                          <a:latin typeface="Calibri" pitchFamily="34" charset="0"/>
                          <a:ea typeface="Calibri" pitchFamily="34" charset="-122"/>
                          <a:cs typeface="Calibri" pitchFamily="34" charset="-120"/>
                        </a:rPr>
                        <a:t>Operating earnings</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6E7480"/>
                          </a:solidFill>
                          <a:latin typeface="Calibri" pitchFamily="34" charset="0"/>
                          <a:ea typeface="Calibri" pitchFamily="34" charset="-122"/>
                          <a:cs typeface="Calibri" pitchFamily="34" charset="-120"/>
                        </a:rPr>
                        <a:t>−0.6</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2E7D32"/>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400" b="1" dirty="0">
                          <a:solidFill>
                            <a:srgbClr val="232733"/>
                          </a:solidFill>
                          <a:latin typeface="Calibri" pitchFamily="34" charset="0"/>
                          <a:ea typeface="Calibri" pitchFamily="34" charset="-122"/>
                          <a:cs typeface="Calibri" pitchFamily="34" charset="-120"/>
                        </a:rPr>
                        <a:t>Net income</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6E7480"/>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2E7D32"/>
                          </a:solidFill>
                          <a:latin typeface="Calibri" pitchFamily="34" charset="0"/>
                          <a:ea typeface="Calibri" pitchFamily="34" charset="-122"/>
                          <a:cs typeface="Calibri" pitchFamily="34" charset="-120"/>
                        </a:rPr>
                        <a:t>+6.7</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400" b="1" dirty="0">
                          <a:solidFill>
                            <a:srgbClr val="232733"/>
                          </a:solidFill>
                          <a:latin typeface="Calibri" pitchFamily="34" charset="0"/>
                          <a:ea typeface="Calibri" pitchFamily="34" charset="-122"/>
                          <a:cs typeface="Calibri" pitchFamily="34" charset="-120"/>
                        </a:rPr>
                        <a:t>Earnings per share</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6E7480"/>
                          </a:solidFill>
                          <a:latin typeface="Calibri" pitchFamily="34" charset="0"/>
                          <a:ea typeface="Calibri" pitchFamily="34" charset="-122"/>
                          <a:cs typeface="Calibri" pitchFamily="34" charset="-120"/>
                        </a:rPr>
                        <a:t>−$0.03</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2E7D32"/>
                          </a:solidFill>
                          <a:latin typeface="Calibri" pitchFamily="34" charset="0"/>
                          <a:ea typeface="Calibri" pitchFamily="34" charset="-122"/>
                          <a:cs typeface="Calibri" pitchFamily="34" charset="-120"/>
                        </a:rPr>
                        <a:t>+$3.66</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r h="475488">
                <a:tc>
                  <a:txBody>
                    <a:bodyPr/>
                    <a:lstStyle/>
                    <a:p>
                      <a:pPr indent="0" marL="0">
                        <a:buNone/>
                      </a:pPr>
                      <a:r>
                        <a:rPr lang="en-US" sz="1400" b="1" dirty="0">
                          <a:solidFill>
                            <a:srgbClr val="232733"/>
                          </a:solidFill>
                          <a:latin typeface="Calibri" pitchFamily="34" charset="0"/>
                          <a:ea typeface="Calibri" pitchFamily="34" charset="-122"/>
                          <a:cs typeface="Calibri" pitchFamily="34" charset="-120"/>
                        </a:rPr>
                        <a:t>Dividends per share</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6E7480"/>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c>
                  <a:txBody>
                    <a:bodyPr/>
                    <a:lstStyle/>
                    <a:p>
                      <a:pPr algn="r" indent="0" marL="0">
                        <a:buNone/>
                      </a:pPr>
                      <a:r>
                        <a:rPr lang="en-US" sz="1400" b="1" dirty="0">
                          <a:solidFill>
                            <a:srgbClr val="2E7D32"/>
                          </a:solidFill>
                          <a:latin typeface="Calibri" pitchFamily="34" charset="0"/>
                          <a:ea typeface="Calibri" pitchFamily="34" charset="-122"/>
                          <a:cs typeface="Calibri" pitchFamily="34" charset="-120"/>
                        </a:rPr>
                        <a:t>$1.40</a:t>
                      </a:r>
                      <a:endParaRPr lang="en-US" sz="1400" dirty="0">
                        <a:latin typeface="Calibri" charset="0"/>
                        <a:ea typeface="Calibri" charset="0"/>
                        <a:cs typeface="Calibri" charset="0"/>
                      </a:endParaRPr>
                    </a:p>
                  </a:txBody>
                  <a:tcPr marL="54864" marR="54864" marT="54864" marB="54864" anchor="ctr">
                    <a:lnL w="6350" cap="flat" cmpd="sng" algn="ctr">
                      <a:solidFill>
                        <a:srgbClr val="E4E0D5"/>
                      </a:solidFill>
                      <a:prstDash val="solid"/>
                      <a:round/>
                      <a:headEnd type="none" w="med" len="med"/>
                      <a:tailEnd type="none" w="med" len="med"/>
                    </a:lnL>
                    <a:lnR w="6350" cap="flat" cmpd="sng" algn="ctr">
                      <a:solidFill>
                        <a:srgbClr val="E4E0D5"/>
                      </a:solidFill>
                      <a:prstDash val="solid"/>
                      <a:round/>
                      <a:headEnd type="none" w="med" len="med"/>
                      <a:tailEnd type="none" w="med" len="med"/>
                    </a:lnR>
                    <a:lnT w="6350" cap="flat" cmpd="sng" algn="ctr">
                      <a:solidFill>
                        <a:srgbClr val="E4E0D5"/>
                      </a:solidFill>
                      <a:prstDash val="solid"/>
                      <a:round/>
                      <a:headEnd type="none" w="med" len="med"/>
                      <a:tailEnd type="none" w="med" len="med"/>
                    </a:lnT>
                    <a:lnB w="6350" cap="flat" cmpd="sng" algn="ctr">
                      <a:solidFill>
                        <a:srgbClr val="E4E0D5"/>
                      </a:solidFill>
                      <a:prstDash val="solid"/>
                      <a:round/>
                      <a:headEnd type="none" w="med" len="med"/>
                      <a:tailEnd type="none" w="med" len="med"/>
                    </a:lnB>
                  </a:tcPr>
                </a:tc>
              </a:tr>
            </a:tbl>
          </a:graphicData>
        </a:graphic>
      </p:graphicFrame>
      <p:sp>
        <p:nvSpPr>
          <p:cNvPr id="5" name="Shape 2"/>
          <p:cNvSpPr/>
          <p:nvPr/>
        </p:nvSpPr>
        <p:spPr>
          <a:xfrm>
            <a:off x="6949440" y="1554480"/>
            <a:ext cx="4663440" cy="1417320"/>
          </a:xfrm>
          <a:prstGeom prst="roundRect">
            <a:avLst>
              <a:gd name="adj" fmla="val 5161"/>
            </a:avLst>
          </a:prstGeom>
          <a:solidFill>
            <a:srgbClr val="F5F0E4"/>
          </a:solidFill>
          <a:ln/>
        </p:spPr>
      </p:sp>
      <p:sp>
        <p:nvSpPr>
          <p:cNvPr id="6" name="Text 3"/>
          <p:cNvSpPr/>
          <p:nvPr/>
        </p:nvSpPr>
        <p:spPr>
          <a:xfrm>
            <a:off x="7114032" y="1664208"/>
            <a:ext cx="4334256" cy="708660"/>
          </a:xfrm>
          <a:prstGeom prst="rect">
            <a:avLst/>
          </a:prstGeom>
          <a:noFill/>
          <a:ln/>
        </p:spPr>
        <p:txBody>
          <a:bodyPr wrap="square" lIns="0" tIns="0" rIns="0" bIns="0" rtlCol="0" anchor="b"/>
          <a:lstStyle/>
          <a:p>
            <a:pPr indent="0" marL="0">
              <a:buNone/>
            </a:pPr>
            <a:r>
              <a:rPr lang="en-US" sz="3200" b="1" dirty="0">
                <a:solidFill>
                  <a:srgbClr val="2E7D32"/>
                </a:solidFill>
                <a:latin typeface="Cambria" pitchFamily="34" charset="0"/>
                <a:ea typeface="Cambria" pitchFamily="34" charset="-122"/>
                <a:cs typeface="Cambria" pitchFamily="34" charset="-120"/>
              </a:rPr>
              <a:t>+$10.3M</a:t>
            </a:r>
            <a:endParaRPr lang="en-US" sz="3200" dirty="0"/>
          </a:p>
        </p:txBody>
      </p:sp>
      <p:sp>
        <p:nvSpPr>
          <p:cNvPr id="7" name="Text 4"/>
          <p:cNvSpPr/>
          <p:nvPr/>
        </p:nvSpPr>
        <p:spPr>
          <a:xfrm>
            <a:off x="7114032" y="2348179"/>
            <a:ext cx="4334256" cy="566928"/>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swing in annual operating earnings</a:t>
            </a:r>
            <a:endParaRPr lang="en-US" sz="1200" dirty="0"/>
          </a:p>
        </p:txBody>
      </p:sp>
      <p:sp>
        <p:nvSpPr>
          <p:cNvPr id="8" name="Shape 5"/>
          <p:cNvSpPr/>
          <p:nvPr/>
        </p:nvSpPr>
        <p:spPr>
          <a:xfrm>
            <a:off x="6949440" y="3154680"/>
            <a:ext cx="4663440" cy="1417320"/>
          </a:xfrm>
          <a:prstGeom prst="roundRect">
            <a:avLst>
              <a:gd name="adj" fmla="val 5161"/>
            </a:avLst>
          </a:prstGeom>
          <a:solidFill>
            <a:srgbClr val="F5F0E4"/>
          </a:solidFill>
          <a:ln/>
        </p:spPr>
      </p:sp>
      <p:sp>
        <p:nvSpPr>
          <p:cNvPr id="9" name="Text 6"/>
          <p:cNvSpPr/>
          <p:nvPr/>
        </p:nvSpPr>
        <p:spPr>
          <a:xfrm>
            <a:off x="7114032" y="3264408"/>
            <a:ext cx="4334256" cy="708660"/>
          </a:xfrm>
          <a:prstGeom prst="rect">
            <a:avLst/>
          </a:prstGeom>
          <a:noFill/>
          <a:ln/>
        </p:spPr>
        <p:txBody>
          <a:bodyPr wrap="square" lIns="0" tIns="0" rIns="0" bIns="0" rtlCol="0" anchor="b"/>
          <a:lstStyle/>
          <a:p>
            <a:pPr indent="0" marL="0">
              <a:buNone/>
            </a:pPr>
            <a:r>
              <a:rPr lang="en-US" sz="3200" b="1" dirty="0">
                <a:solidFill>
                  <a:srgbClr val="1F2A44"/>
                </a:solidFill>
                <a:latin typeface="Cambria" pitchFamily="34" charset="0"/>
                <a:ea typeface="Cambria" pitchFamily="34" charset="-122"/>
                <a:cs typeface="Cambria" pitchFamily="34" charset="-120"/>
              </a:rPr>
              <a:t>9.4% ROAE</a:t>
            </a:r>
            <a:endParaRPr lang="en-US" sz="3200" dirty="0"/>
          </a:p>
        </p:txBody>
      </p:sp>
      <p:sp>
        <p:nvSpPr>
          <p:cNvPr id="10" name="Text 7"/>
          <p:cNvSpPr/>
          <p:nvPr/>
        </p:nvSpPr>
        <p:spPr>
          <a:xfrm>
            <a:off x="7114032" y="3948379"/>
            <a:ext cx="4334256" cy="566928"/>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full-year 2030 return on equity</a:t>
            </a:r>
            <a:endParaRPr lang="en-US" sz="1200" dirty="0"/>
          </a:p>
        </p:txBody>
      </p:sp>
      <p:sp>
        <p:nvSpPr>
          <p:cNvPr id="11" name="Shape 8"/>
          <p:cNvSpPr/>
          <p:nvPr/>
        </p:nvSpPr>
        <p:spPr>
          <a:xfrm>
            <a:off x="6949440" y="4754880"/>
            <a:ext cx="4663440" cy="1417320"/>
          </a:xfrm>
          <a:prstGeom prst="roundRect">
            <a:avLst>
              <a:gd name="adj" fmla="val 5161"/>
            </a:avLst>
          </a:prstGeom>
          <a:solidFill>
            <a:srgbClr val="F5F0E4"/>
          </a:solidFill>
          <a:ln/>
        </p:spPr>
      </p:sp>
      <p:sp>
        <p:nvSpPr>
          <p:cNvPr id="12" name="Text 9"/>
          <p:cNvSpPr/>
          <p:nvPr/>
        </p:nvSpPr>
        <p:spPr>
          <a:xfrm>
            <a:off x="7114032" y="4864608"/>
            <a:ext cx="4334256" cy="708660"/>
          </a:xfrm>
          <a:prstGeom prst="rect">
            <a:avLst/>
          </a:prstGeom>
          <a:noFill/>
          <a:ln/>
        </p:spPr>
        <p:txBody>
          <a:bodyPr wrap="square" lIns="0" tIns="0" rIns="0" bIns="0" rtlCol="0" anchor="b"/>
          <a:lstStyle/>
          <a:p>
            <a:pPr indent="0" marL="0">
              <a:buNone/>
            </a:pPr>
            <a:r>
              <a:rPr lang="en-US" sz="3000" b="1" dirty="0">
                <a:solidFill>
                  <a:srgbClr val="1F2A44"/>
                </a:solidFill>
                <a:latin typeface="Cambria" pitchFamily="34" charset="0"/>
                <a:ea typeface="Cambria" pitchFamily="34" charset="-122"/>
                <a:cs typeface="Cambria" pitchFamily="34" charset="-120"/>
              </a:rPr>
              <a:t>$1.40 / share</a:t>
            </a:r>
            <a:endParaRPr lang="en-US" sz="3000" dirty="0"/>
          </a:p>
        </p:txBody>
      </p:sp>
      <p:sp>
        <p:nvSpPr>
          <p:cNvPr id="13" name="Text 10"/>
          <p:cNvSpPr/>
          <p:nvPr/>
        </p:nvSpPr>
        <p:spPr>
          <a:xfrm>
            <a:off x="7114032" y="5548579"/>
            <a:ext cx="4334256" cy="566928"/>
          </a:xfrm>
          <a:prstGeom prst="rect">
            <a:avLst/>
          </a:prstGeom>
          <a:noFill/>
          <a:ln/>
        </p:spPr>
        <p:txBody>
          <a:bodyPr wrap="square" lIns="0" tIns="0" rIns="0" bIns="0" rtlCol="0" anchor="t"/>
          <a:lstStyle/>
          <a:p>
            <a:pPr indent="0" marL="0">
              <a:buNone/>
            </a:pPr>
            <a:r>
              <a:rPr lang="en-US" sz="1200" dirty="0">
                <a:solidFill>
                  <a:srgbClr val="6E7480"/>
                </a:solidFill>
                <a:latin typeface="Calibri" pitchFamily="34" charset="0"/>
                <a:ea typeface="Calibri" pitchFamily="34" charset="-122"/>
                <a:cs typeface="Calibri" pitchFamily="34" charset="-120"/>
              </a:rPr>
              <a:t>2030 dividends — restarted, then doubled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SECTION 4 · THE GOALS WE SET, GRADED HONESTLY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Goal Realization — 2029</a:t>
            </a:r>
            <a:endParaRPr lang="en-US" sz="3200" dirty="0"/>
          </a:p>
        </p:txBody>
      </p:sp>
      <p:sp>
        <p:nvSpPr>
          <p:cNvPr id="4" name="Shape 2"/>
          <p:cNvSpPr/>
          <p:nvPr/>
        </p:nvSpPr>
        <p:spPr>
          <a:xfrm>
            <a:off x="594360" y="1847088"/>
            <a:ext cx="420624" cy="420624"/>
          </a:xfrm>
          <a:prstGeom prst="ellipse">
            <a:avLst/>
          </a:prstGeom>
          <a:solidFill>
            <a:srgbClr val="B9791F"/>
          </a:solidFill>
          <a:ln/>
        </p:spPr>
      </p:sp>
      <p:sp>
        <p:nvSpPr>
          <p:cNvPr id="5" name="Text 3"/>
          <p:cNvSpPr/>
          <p:nvPr/>
        </p:nvSpPr>
        <p:spPr>
          <a:xfrm>
            <a:off x="594360" y="184708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6" name="Text 4"/>
          <p:cNvSpPr/>
          <p:nvPr/>
        </p:nvSpPr>
        <p:spPr>
          <a:xfrm>
            <a:off x="1234440" y="1737360"/>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Net income $6.5M · ROAA 0.8%</a:t>
            </a:r>
            <a:endParaRPr lang="en-US" sz="1500" dirty="0"/>
          </a:p>
        </p:txBody>
      </p:sp>
      <p:sp>
        <p:nvSpPr>
          <p:cNvPr id="7" name="Text 5"/>
          <p:cNvSpPr/>
          <p:nvPr/>
        </p:nvSpPr>
        <p:spPr>
          <a:xfrm>
            <a:off x="5715000" y="1737360"/>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Missed in the rebuild year (−$0.0M / −0.01%) — delivered in 2030: $6.7M and 0.79%</a:t>
            </a:r>
            <a:endParaRPr lang="en-US" sz="1300" dirty="0"/>
          </a:p>
        </p:txBody>
      </p:sp>
      <p:sp>
        <p:nvSpPr>
          <p:cNvPr id="8" name="Shape 6"/>
          <p:cNvSpPr/>
          <p:nvPr/>
        </p:nvSpPr>
        <p:spPr>
          <a:xfrm>
            <a:off x="594360" y="3054096"/>
            <a:ext cx="420624" cy="420624"/>
          </a:xfrm>
          <a:prstGeom prst="ellipse">
            <a:avLst/>
          </a:prstGeom>
          <a:solidFill>
            <a:srgbClr val="2E7D32"/>
          </a:solidFill>
          <a:ln/>
        </p:spPr>
      </p:sp>
      <p:sp>
        <p:nvSpPr>
          <p:cNvPr id="9" name="Text 7"/>
          <p:cNvSpPr/>
          <p:nvPr/>
        </p:nvSpPr>
        <p:spPr>
          <a:xfrm>
            <a:off x="594360" y="305409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0" name="Text 8"/>
          <p:cNvSpPr/>
          <p:nvPr/>
        </p:nvSpPr>
        <p:spPr>
          <a:xfrm>
            <a:off x="1234440" y="2944368"/>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Grow assets to $815M (+10%)</a:t>
            </a:r>
            <a:endParaRPr lang="en-US" sz="1500" dirty="0"/>
          </a:p>
        </p:txBody>
      </p:sp>
      <p:sp>
        <p:nvSpPr>
          <p:cNvPr id="11" name="Text 9"/>
          <p:cNvSpPr/>
          <p:nvPr/>
        </p:nvSpPr>
        <p:spPr>
          <a:xfrm>
            <a:off x="5715000" y="2944368"/>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Exceeded: $857.6M at year-end — deposit-funded growth</a:t>
            </a:r>
            <a:endParaRPr lang="en-US" sz="1300" dirty="0"/>
          </a:p>
        </p:txBody>
      </p:sp>
      <p:sp>
        <p:nvSpPr>
          <p:cNvPr id="12" name="Shape 10"/>
          <p:cNvSpPr/>
          <p:nvPr/>
        </p:nvSpPr>
        <p:spPr>
          <a:xfrm>
            <a:off x="594360" y="4261104"/>
            <a:ext cx="420624" cy="420624"/>
          </a:xfrm>
          <a:prstGeom prst="ellipse">
            <a:avLst/>
          </a:prstGeom>
          <a:solidFill>
            <a:srgbClr val="B9791F"/>
          </a:solidFill>
          <a:ln/>
        </p:spPr>
      </p:sp>
      <p:sp>
        <p:nvSpPr>
          <p:cNvPr id="13" name="Text 11"/>
          <p:cNvSpPr/>
          <p:nvPr/>
        </p:nvSpPr>
        <p:spPr>
          <a:xfrm>
            <a:off x="594360" y="4261104"/>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1234440" y="4151376"/>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Raise capital to an 8% leverage ratio</a:t>
            </a:r>
            <a:endParaRPr lang="en-US" sz="1500" dirty="0"/>
          </a:p>
        </p:txBody>
      </p:sp>
      <p:sp>
        <p:nvSpPr>
          <p:cNvPr id="15" name="Text 13"/>
          <p:cNvSpPr/>
          <p:nvPr/>
        </p:nvSpPr>
        <p:spPr>
          <a:xfrm>
            <a:off x="5715000" y="4151376"/>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Raise completed ($18M+$5M); 7.57% at year-end, crossed 8% in early 2030</a:t>
            </a:r>
            <a:endParaRPr lang="en-US" sz="1300" dirty="0"/>
          </a:p>
        </p:txBody>
      </p:sp>
      <p:sp>
        <p:nvSpPr>
          <p:cNvPr id="16" name="Shape 14"/>
          <p:cNvSpPr/>
          <p:nvPr/>
        </p:nvSpPr>
        <p:spPr>
          <a:xfrm>
            <a:off x="548640" y="5440680"/>
            <a:ext cx="11064240" cy="960120"/>
          </a:xfrm>
          <a:prstGeom prst="roundRect">
            <a:avLst>
              <a:gd name="adj" fmla="val 7619"/>
            </a:avLst>
          </a:prstGeom>
          <a:solidFill>
            <a:srgbClr val="F5F0E4"/>
          </a:solidFill>
          <a:ln/>
        </p:spPr>
      </p:sp>
      <p:sp>
        <p:nvSpPr>
          <p:cNvPr id="17" name="Text 15"/>
          <p:cNvSpPr/>
          <p:nvPr/>
        </p:nvSpPr>
        <p:spPr>
          <a:xfrm>
            <a:off x="777240" y="5559552"/>
            <a:ext cx="10607040" cy="731520"/>
          </a:xfrm>
          <a:prstGeom prst="rect">
            <a:avLst/>
          </a:prstGeom>
          <a:noFill/>
          <a:ln/>
        </p:spPr>
        <p:txBody>
          <a:bodyPr wrap="square" lIns="0" tIns="0" rIns="0" bIns="0" rtlCol="0" anchor="ctr"/>
          <a:lstStyle/>
          <a:p>
            <a:pPr indent="0" marL="0">
              <a:buNone/>
            </a:pPr>
            <a:r>
              <a:rPr lang="en-US" sz="1250" b="1" dirty="0">
                <a:solidFill>
                  <a:srgbClr val="1F2A44"/>
                </a:solidFill>
                <a:latin typeface="Calibri" pitchFamily="34" charset="0"/>
                <a:ea typeface="Calibri" pitchFamily="34" charset="-122"/>
                <a:cs typeface="Calibri" pitchFamily="34" charset="-120"/>
              </a:rPr>
              <a:t>The conflict we named up front:  </a:t>
            </a:r>
            <a:pPr indent="0" marL="0">
              <a:buNone/>
            </a:pPr>
            <a:r>
              <a:rPr lang="en-US" sz="1250" dirty="0">
                <a:solidFill>
                  <a:srgbClr val="232733"/>
                </a:solidFill>
                <a:latin typeface="Calibri" pitchFamily="34" charset="0"/>
                <a:ea typeface="Calibri" pitchFamily="34" charset="-122"/>
                <a:cs typeface="Calibri" pitchFamily="34" charset="-120"/>
              </a:rPr>
              <a:t>raising capital while growing is hard. We reconciled it by raising early, growing with deposits, and letting efficiency carry the earnings.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THE GOALS WE SET, GRADED HONESTLY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Goal Realization — 2030</a:t>
            </a:r>
            <a:endParaRPr lang="en-US" sz="3200" dirty="0"/>
          </a:p>
        </p:txBody>
      </p:sp>
      <p:sp>
        <p:nvSpPr>
          <p:cNvPr id="4" name="Shape 2"/>
          <p:cNvSpPr/>
          <p:nvPr/>
        </p:nvSpPr>
        <p:spPr>
          <a:xfrm>
            <a:off x="594360" y="1847088"/>
            <a:ext cx="420624" cy="420624"/>
          </a:xfrm>
          <a:prstGeom prst="ellipse">
            <a:avLst/>
          </a:prstGeom>
          <a:solidFill>
            <a:srgbClr val="B9791F"/>
          </a:solidFill>
          <a:ln/>
        </p:spPr>
      </p:sp>
      <p:sp>
        <p:nvSpPr>
          <p:cNvPr id="5" name="Text 3"/>
          <p:cNvSpPr/>
          <p:nvPr/>
        </p:nvSpPr>
        <p:spPr>
          <a:xfrm>
            <a:off x="594360" y="1847088"/>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6" name="Text 4"/>
          <p:cNvSpPr/>
          <p:nvPr/>
        </p:nvSpPr>
        <p:spPr>
          <a:xfrm>
            <a:off x="1234440" y="1737360"/>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Hit an ROAA of 1.2%</a:t>
            </a:r>
            <a:endParaRPr lang="en-US" sz="1500" dirty="0"/>
          </a:p>
        </p:txBody>
      </p:sp>
      <p:sp>
        <p:nvSpPr>
          <p:cNvPr id="7" name="Text 5"/>
          <p:cNvSpPr/>
          <p:nvPr/>
        </p:nvSpPr>
        <p:spPr>
          <a:xfrm>
            <a:off x="5715000" y="1737360"/>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Peaked at 1.45% in Q3/30 — our best quarter ever; full year 0.79% as we chose to keep reserving</a:t>
            </a:r>
            <a:endParaRPr lang="en-US" sz="1300" dirty="0"/>
          </a:p>
        </p:txBody>
      </p:sp>
      <p:sp>
        <p:nvSpPr>
          <p:cNvPr id="8" name="Shape 6"/>
          <p:cNvSpPr/>
          <p:nvPr/>
        </p:nvSpPr>
        <p:spPr>
          <a:xfrm>
            <a:off x="594360" y="3054096"/>
            <a:ext cx="420624" cy="420624"/>
          </a:xfrm>
          <a:prstGeom prst="ellipse">
            <a:avLst/>
          </a:prstGeom>
          <a:solidFill>
            <a:srgbClr val="B9791F"/>
          </a:solidFill>
          <a:ln/>
        </p:spPr>
      </p:sp>
      <p:sp>
        <p:nvSpPr>
          <p:cNvPr id="9" name="Text 7"/>
          <p:cNvSpPr/>
          <p:nvPr/>
        </p:nvSpPr>
        <p:spPr>
          <a:xfrm>
            <a:off x="594360" y="305409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0" name="Text 8"/>
          <p:cNvSpPr/>
          <p:nvPr/>
        </p:nvSpPr>
        <p:spPr>
          <a:xfrm>
            <a:off x="1234440" y="2944368"/>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Grow assets to $1 billion</a:t>
            </a:r>
            <a:endParaRPr lang="en-US" sz="1500" dirty="0"/>
          </a:p>
        </p:txBody>
      </p:sp>
      <p:sp>
        <p:nvSpPr>
          <p:cNvPr id="11" name="Text 9"/>
          <p:cNvSpPr/>
          <p:nvPr/>
        </p:nvSpPr>
        <p:spPr>
          <a:xfrm>
            <a:off x="5715000" y="2944368"/>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Chose not to chase it: held ~$820M and quadrupled earnings instead — size is not stewardship</a:t>
            </a:r>
            <a:endParaRPr lang="en-US" sz="1300" dirty="0"/>
          </a:p>
        </p:txBody>
      </p:sp>
      <p:sp>
        <p:nvSpPr>
          <p:cNvPr id="12" name="Shape 10"/>
          <p:cNvSpPr/>
          <p:nvPr/>
        </p:nvSpPr>
        <p:spPr>
          <a:xfrm>
            <a:off x="594360" y="4261104"/>
            <a:ext cx="420624" cy="420624"/>
          </a:xfrm>
          <a:prstGeom prst="ellipse">
            <a:avLst/>
          </a:prstGeom>
          <a:solidFill>
            <a:srgbClr val="2E7D32"/>
          </a:solidFill>
          <a:ln/>
        </p:spPr>
      </p:sp>
      <p:sp>
        <p:nvSpPr>
          <p:cNvPr id="13" name="Text 11"/>
          <p:cNvSpPr/>
          <p:nvPr/>
        </p:nvSpPr>
        <p:spPr>
          <a:xfrm>
            <a:off x="594360" y="4261104"/>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1234440" y="4151376"/>
            <a:ext cx="4297680" cy="1005840"/>
          </a:xfrm>
          <a:prstGeom prst="rect">
            <a:avLst/>
          </a:prstGeom>
          <a:noFill/>
          <a:ln/>
        </p:spPr>
        <p:txBody>
          <a:bodyPr wrap="square" lIns="0" tIns="0" rIns="0" bIns="0" rtlCol="0" anchor="t"/>
          <a:lstStyle/>
          <a:p>
            <a:pPr indent="0" marL="0">
              <a:buNone/>
            </a:pPr>
            <a:r>
              <a:rPr lang="en-US" sz="1500" b="1" dirty="0">
                <a:solidFill>
                  <a:srgbClr val="1F2A44"/>
                </a:solidFill>
                <a:latin typeface="Calibri" pitchFamily="34" charset="0"/>
                <a:ea typeface="Calibri" pitchFamily="34" charset="-122"/>
                <a:cs typeface="Calibri" pitchFamily="34" charset="-120"/>
              </a:rPr>
              <a:t>Maintain an 8% leverage ratio</a:t>
            </a:r>
            <a:endParaRPr lang="en-US" sz="1500" dirty="0"/>
          </a:p>
        </p:txBody>
      </p:sp>
      <p:sp>
        <p:nvSpPr>
          <p:cNvPr id="15" name="Text 13"/>
          <p:cNvSpPr/>
          <p:nvPr/>
        </p:nvSpPr>
        <p:spPr>
          <a:xfrm>
            <a:off x="5715000" y="4151376"/>
            <a:ext cx="5897880" cy="1005840"/>
          </a:xfrm>
          <a:prstGeom prst="rect">
            <a:avLst/>
          </a:prstGeom>
          <a:noFill/>
          <a:ln/>
        </p:spPr>
        <p:txBody>
          <a:bodyPr wrap="square" lIns="0" tIns="0" rIns="0" bIns="0" rtlCol="0" anchor="t"/>
          <a:lstStyle/>
          <a:p>
            <a:pPr indent="0" marL="0">
              <a:buNone/>
            </a:pPr>
            <a:r>
              <a:rPr lang="en-US" sz="1300" dirty="0">
                <a:solidFill>
                  <a:srgbClr val="232733"/>
                </a:solidFill>
                <a:latin typeface="Calibri" pitchFamily="34" charset="0"/>
                <a:ea typeface="Calibri" pitchFamily="34" charset="-122"/>
                <a:cs typeface="Calibri" pitchFamily="34" charset="-120"/>
              </a:rPr>
              <a:t>Exceeded: 9.05% at year-end, with risk capital at 12.2% — buffers above every requirement</a:t>
            </a:r>
            <a:endParaRPr lang="en-US" sz="1300" dirty="0"/>
          </a:p>
        </p:txBody>
      </p:sp>
      <p:sp>
        <p:nvSpPr>
          <p:cNvPr id="16" name="Shape 14"/>
          <p:cNvSpPr/>
          <p:nvPr/>
        </p:nvSpPr>
        <p:spPr>
          <a:xfrm>
            <a:off x="548640" y="5440680"/>
            <a:ext cx="11064240" cy="960120"/>
          </a:xfrm>
          <a:prstGeom prst="roundRect">
            <a:avLst>
              <a:gd name="adj" fmla="val 7619"/>
            </a:avLst>
          </a:prstGeom>
          <a:solidFill>
            <a:srgbClr val="F5F0E4"/>
          </a:solidFill>
          <a:ln/>
        </p:spPr>
      </p:sp>
      <p:sp>
        <p:nvSpPr>
          <p:cNvPr id="17" name="Text 15"/>
          <p:cNvSpPr/>
          <p:nvPr/>
        </p:nvSpPr>
        <p:spPr>
          <a:xfrm>
            <a:off x="777240" y="5559552"/>
            <a:ext cx="10607040" cy="731520"/>
          </a:xfrm>
          <a:prstGeom prst="rect">
            <a:avLst/>
          </a:prstGeom>
          <a:noFill/>
          <a:ln/>
        </p:spPr>
        <p:txBody>
          <a:bodyPr wrap="square" lIns="0" tIns="0" rIns="0" bIns="0" rtlCol="0" anchor="ctr"/>
          <a:lstStyle/>
          <a:p>
            <a:pPr indent="0" marL="0">
              <a:buNone/>
            </a:pPr>
            <a:r>
              <a:rPr lang="en-US" sz="1250" b="1" dirty="0">
                <a:solidFill>
                  <a:srgbClr val="1F2A44"/>
                </a:solidFill>
                <a:latin typeface="Calibri" pitchFamily="34" charset="0"/>
                <a:ea typeface="Calibri" pitchFamily="34" charset="-122"/>
                <a:cs typeface="Calibri" pitchFamily="34" charset="-120"/>
              </a:rPr>
              <a:t>The reconciliation:  </a:t>
            </a:r>
            <a:pPr indent="0" marL="0">
              <a:buNone/>
            </a:pPr>
            <a:r>
              <a:rPr lang="en-US" sz="1250" dirty="0">
                <a:solidFill>
                  <a:srgbClr val="232733"/>
                </a:solidFill>
                <a:latin typeface="Calibri" pitchFamily="34" charset="0"/>
                <a:ea typeface="Calibri" pitchFamily="34" charset="-122"/>
                <a:cs typeface="Calibri" pitchFamily="34" charset="-120"/>
              </a:rPr>
              <a:t>staying well-capitalized while lowering borrowings meant growing slower than the $1B goal — we believe shareholders got the better trade.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REGULATORY COMPLIANCE — TWO DINGS, BOTH CURED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The Distiller's License</a:t>
            </a:r>
            <a:endParaRPr lang="en-US" sz="3200" dirty="0"/>
          </a:p>
        </p:txBody>
      </p:sp>
      <p:sp>
        <p:nvSpPr>
          <p:cNvPr id="4" name="Shape 2"/>
          <p:cNvSpPr/>
          <p:nvPr/>
        </p:nvSpPr>
        <p:spPr>
          <a:xfrm>
            <a:off x="548640" y="1554480"/>
            <a:ext cx="11064240" cy="713232"/>
          </a:xfrm>
          <a:prstGeom prst="roundRect">
            <a:avLst>
              <a:gd name="adj" fmla="val 7692"/>
            </a:avLst>
          </a:prstGeom>
          <a:solidFill>
            <a:srgbClr val="FAF7F0"/>
          </a:solidFill>
          <a:ln/>
        </p:spPr>
      </p:sp>
      <p:sp>
        <p:nvSpPr>
          <p:cNvPr id="5" name="Text 3"/>
          <p:cNvSpPr/>
          <p:nvPr/>
        </p:nvSpPr>
        <p:spPr>
          <a:xfrm>
            <a:off x="777240" y="1591056"/>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Boulder Capital Accord (6% / 10% by 4Q29)</a:t>
            </a:r>
            <a:endParaRPr lang="en-US" sz="1150" dirty="0"/>
          </a:p>
        </p:txBody>
      </p:sp>
      <p:sp>
        <p:nvSpPr>
          <p:cNvPr id="6" name="Text 4"/>
          <p:cNvSpPr/>
          <p:nvPr/>
        </p:nvSpPr>
        <p:spPr>
          <a:xfrm>
            <a:off x="4800600" y="1591056"/>
            <a:ext cx="2194560" cy="640080"/>
          </a:xfrm>
          <a:prstGeom prst="rect">
            <a:avLst/>
          </a:prstGeom>
          <a:noFill/>
          <a:ln/>
        </p:spPr>
        <p:txBody>
          <a:bodyPr wrap="square" lIns="0" tIns="0" rIns="0" bIns="0" rtlCol="0" anchor="ctr"/>
          <a:lstStyle/>
          <a:p>
            <a:pPr indent="0" marL="0">
              <a:buNone/>
            </a:pPr>
            <a:r>
              <a:rPr lang="en-US" sz="1050" b="1" dirty="0">
                <a:solidFill>
                  <a:srgbClr val="2E7D32"/>
                </a:solidFill>
                <a:latin typeface="Calibri" pitchFamily="34" charset="0"/>
                <a:ea typeface="Calibri" pitchFamily="34" charset="-122"/>
                <a:cs typeface="Calibri" pitchFamily="34" charset="-120"/>
              </a:rPr>
              <a:t>MET ON DEADLINE</a:t>
            </a:r>
            <a:endParaRPr lang="en-US" sz="1050" dirty="0"/>
          </a:p>
        </p:txBody>
      </p:sp>
      <p:sp>
        <p:nvSpPr>
          <p:cNvPr id="7" name="Text 5"/>
          <p:cNvSpPr/>
          <p:nvPr/>
        </p:nvSpPr>
        <p:spPr>
          <a:xfrm>
            <a:off x="7040880" y="1591056"/>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10.85% risk capital in Q4/29; ended 2030 at 12.2%</a:t>
            </a:r>
            <a:endParaRPr lang="en-US" sz="1050" dirty="0"/>
          </a:p>
        </p:txBody>
      </p:sp>
      <p:sp>
        <p:nvSpPr>
          <p:cNvPr id="8" name="Shape 6"/>
          <p:cNvSpPr/>
          <p:nvPr/>
        </p:nvSpPr>
        <p:spPr>
          <a:xfrm>
            <a:off x="548640" y="2359152"/>
            <a:ext cx="11064240" cy="713232"/>
          </a:xfrm>
          <a:prstGeom prst="roundRect">
            <a:avLst>
              <a:gd name="adj" fmla="val 7692"/>
            </a:avLst>
          </a:prstGeom>
          <a:solidFill>
            <a:srgbClr val="FAF7F0"/>
          </a:solidFill>
          <a:ln/>
        </p:spPr>
      </p:sp>
      <p:sp>
        <p:nvSpPr>
          <p:cNvPr id="9" name="Text 7"/>
          <p:cNvSpPr/>
          <p:nvPr/>
        </p:nvSpPr>
        <p:spPr>
          <a:xfrm>
            <a:off x="777240" y="2395728"/>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Fed funds purchased ≤ 100% of equity</a:t>
            </a:r>
            <a:endParaRPr lang="en-US" sz="1150" dirty="0"/>
          </a:p>
        </p:txBody>
      </p:sp>
      <p:sp>
        <p:nvSpPr>
          <p:cNvPr id="10" name="Text 8"/>
          <p:cNvSpPr/>
          <p:nvPr/>
        </p:nvSpPr>
        <p:spPr>
          <a:xfrm>
            <a:off x="4800600" y="2395728"/>
            <a:ext cx="2194560" cy="640080"/>
          </a:xfrm>
          <a:prstGeom prst="rect">
            <a:avLst/>
          </a:prstGeom>
          <a:noFill/>
          <a:ln/>
        </p:spPr>
        <p:txBody>
          <a:bodyPr wrap="square" lIns="0" tIns="0" rIns="0" bIns="0" rtlCol="0" anchor="ctr"/>
          <a:lstStyle/>
          <a:p>
            <a:pPr indent="0" marL="0">
              <a:buNone/>
            </a:pPr>
            <a:r>
              <a:rPr lang="en-US" sz="1050" b="1" dirty="0">
                <a:solidFill>
                  <a:srgbClr val="B9791F"/>
                </a:solidFill>
                <a:latin typeface="Calibri" pitchFamily="34" charset="0"/>
                <a:ea typeface="Calibri" pitchFamily="34" charset="-122"/>
                <a:cs typeface="Calibri" pitchFamily="34" charset="-120"/>
              </a:rPr>
              <a:t>BREACHED, THEN CURED</a:t>
            </a:r>
            <a:endParaRPr lang="en-US" sz="1050" dirty="0"/>
          </a:p>
        </p:txBody>
      </p:sp>
      <p:sp>
        <p:nvSpPr>
          <p:cNvPr id="11" name="Text 9"/>
          <p:cNvSpPr/>
          <p:nvPr/>
        </p:nvSpPr>
        <p:spPr>
          <a:xfrm>
            <a:off x="7040880" y="2395728"/>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Over the line Q2–Q3/29; cured Q4/29; $0 by Q3/30</a:t>
            </a:r>
            <a:endParaRPr lang="en-US" sz="1050" dirty="0"/>
          </a:p>
        </p:txBody>
      </p:sp>
      <p:sp>
        <p:nvSpPr>
          <p:cNvPr id="12" name="Shape 10"/>
          <p:cNvSpPr/>
          <p:nvPr/>
        </p:nvSpPr>
        <p:spPr>
          <a:xfrm>
            <a:off x="548640" y="3163824"/>
            <a:ext cx="11064240" cy="713232"/>
          </a:xfrm>
          <a:prstGeom prst="roundRect">
            <a:avLst>
              <a:gd name="adj" fmla="val 7692"/>
            </a:avLst>
          </a:prstGeom>
          <a:solidFill>
            <a:srgbClr val="FAF7F0"/>
          </a:solidFill>
          <a:ln/>
        </p:spPr>
      </p:sp>
      <p:sp>
        <p:nvSpPr>
          <p:cNvPr id="13" name="Text 11"/>
          <p:cNvSpPr/>
          <p:nvPr/>
        </p:nvSpPr>
        <p:spPr>
          <a:xfrm>
            <a:off x="777240" y="3200400"/>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ACL / CECL requirements</a:t>
            </a:r>
            <a:endParaRPr lang="en-US" sz="1150" dirty="0"/>
          </a:p>
        </p:txBody>
      </p:sp>
      <p:sp>
        <p:nvSpPr>
          <p:cNvPr id="14" name="Text 12"/>
          <p:cNvSpPr/>
          <p:nvPr/>
        </p:nvSpPr>
        <p:spPr>
          <a:xfrm>
            <a:off x="4800600" y="3200400"/>
            <a:ext cx="2194560" cy="640080"/>
          </a:xfrm>
          <a:prstGeom prst="rect">
            <a:avLst/>
          </a:prstGeom>
          <a:noFill/>
          <a:ln/>
        </p:spPr>
        <p:txBody>
          <a:bodyPr wrap="square" lIns="0" tIns="0" rIns="0" bIns="0" rtlCol="0" anchor="ctr"/>
          <a:lstStyle/>
          <a:p>
            <a:pPr indent="0" marL="0">
              <a:buNone/>
            </a:pPr>
            <a:r>
              <a:rPr lang="en-US" sz="1050" b="1" dirty="0">
                <a:solidFill>
                  <a:srgbClr val="2E7D32"/>
                </a:solidFill>
                <a:latin typeface="Calibri" pitchFamily="34" charset="0"/>
                <a:ea typeface="Calibri" pitchFamily="34" charset="-122"/>
                <a:cs typeface="Calibri" pitchFamily="34" charset="-120"/>
              </a:rPr>
              <a:t>COMPLIANT THROUGHOUT</a:t>
            </a:r>
            <a:endParaRPr lang="en-US" sz="1050" dirty="0"/>
          </a:p>
        </p:txBody>
      </p:sp>
      <p:sp>
        <p:nvSpPr>
          <p:cNvPr id="15" name="Text 13"/>
          <p:cNvSpPr/>
          <p:nvPr/>
        </p:nvSpPr>
        <p:spPr>
          <a:xfrm>
            <a:off x="7040880" y="3200400"/>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Never below the floor; 106% coverage of non-performers at year-end</a:t>
            </a:r>
            <a:endParaRPr lang="en-US" sz="1050" dirty="0"/>
          </a:p>
        </p:txBody>
      </p:sp>
      <p:sp>
        <p:nvSpPr>
          <p:cNvPr id="16" name="Shape 14"/>
          <p:cNvSpPr/>
          <p:nvPr/>
        </p:nvSpPr>
        <p:spPr>
          <a:xfrm>
            <a:off x="548640" y="3968496"/>
            <a:ext cx="11064240" cy="713232"/>
          </a:xfrm>
          <a:prstGeom prst="roundRect">
            <a:avLst>
              <a:gd name="adj" fmla="val 7692"/>
            </a:avLst>
          </a:prstGeom>
          <a:solidFill>
            <a:srgbClr val="FAF7F0"/>
          </a:solidFill>
          <a:ln/>
        </p:spPr>
      </p:sp>
      <p:sp>
        <p:nvSpPr>
          <p:cNvPr id="17" name="Text 15"/>
          <p:cNvSpPr/>
          <p:nvPr/>
        </p:nvSpPr>
        <p:spPr>
          <a:xfrm>
            <a:off x="777240" y="4005072"/>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100% loan review by Q3/29</a:t>
            </a:r>
            <a:endParaRPr lang="en-US" sz="1150" dirty="0"/>
          </a:p>
        </p:txBody>
      </p:sp>
      <p:sp>
        <p:nvSpPr>
          <p:cNvPr id="18" name="Text 16"/>
          <p:cNvSpPr/>
          <p:nvPr/>
        </p:nvSpPr>
        <p:spPr>
          <a:xfrm>
            <a:off x="4800600" y="4005072"/>
            <a:ext cx="2194560" cy="640080"/>
          </a:xfrm>
          <a:prstGeom prst="rect">
            <a:avLst/>
          </a:prstGeom>
          <a:noFill/>
          <a:ln/>
        </p:spPr>
        <p:txBody>
          <a:bodyPr wrap="square" lIns="0" tIns="0" rIns="0" bIns="0" rtlCol="0" anchor="ctr"/>
          <a:lstStyle/>
          <a:p>
            <a:pPr indent="0" marL="0">
              <a:buNone/>
            </a:pPr>
            <a:r>
              <a:rPr lang="en-US" sz="1050" b="1" dirty="0">
                <a:solidFill>
                  <a:srgbClr val="2E7D32"/>
                </a:solidFill>
                <a:latin typeface="Calibri" pitchFamily="34" charset="0"/>
                <a:ea typeface="Calibri" pitchFamily="34" charset="-122"/>
                <a:cs typeface="Calibri" pitchFamily="34" charset="-120"/>
              </a:rPr>
              <a:t>COMPLETED</a:t>
            </a:r>
            <a:endParaRPr lang="en-US" sz="1050" dirty="0"/>
          </a:p>
        </p:txBody>
      </p:sp>
      <p:sp>
        <p:nvSpPr>
          <p:cNvPr id="19" name="Text 17"/>
          <p:cNvSpPr/>
          <p:nvPr/>
        </p:nvSpPr>
        <p:spPr>
          <a:xfrm>
            <a:off x="7040880" y="4005072"/>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Full portfolio reviewed; findings drove early reserves</a:t>
            </a:r>
            <a:endParaRPr lang="en-US" sz="1050" dirty="0"/>
          </a:p>
        </p:txBody>
      </p:sp>
      <p:sp>
        <p:nvSpPr>
          <p:cNvPr id="20" name="Shape 18"/>
          <p:cNvSpPr/>
          <p:nvPr/>
        </p:nvSpPr>
        <p:spPr>
          <a:xfrm>
            <a:off x="548640" y="4773168"/>
            <a:ext cx="11064240" cy="713232"/>
          </a:xfrm>
          <a:prstGeom prst="roundRect">
            <a:avLst>
              <a:gd name="adj" fmla="val 7692"/>
            </a:avLst>
          </a:prstGeom>
          <a:solidFill>
            <a:srgbClr val="FAF7F0"/>
          </a:solidFill>
          <a:ln/>
        </p:spPr>
      </p:sp>
      <p:sp>
        <p:nvSpPr>
          <p:cNvPr id="21" name="Text 19"/>
          <p:cNvSpPr/>
          <p:nvPr/>
        </p:nvSpPr>
        <p:spPr>
          <a:xfrm>
            <a:off x="777240" y="4809744"/>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Construction concentration guidance</a:t>
            </a:r>
            <a:endParaRPr lang="en-US" sz="1150" dirty="0"/>
          </a:p>
        </p:txBody>
      </p:sp>
      <p:sp>
        <p:nvSpPr>
          <p:cNvPr id="22" name="Text 20"/>
          <p:cNvSpPr/>
          <p:nvPr/>
        </p:nvSpPr>
        <p:spPr>
          <a:xfrm>
            <a:off x="4800600" y="4809744"/>
            <a:ext cx="2194560" cy="640080"/>
          </a:xfrm>
          <a:prstGeom prst="rect">
            <a:avLst/>
          </a:prstGeom>
          <a:noFill/>
          <a:ln/>
        </p:spPr>
        <p:txBody>
          <a:bodyPr wrap="square" lIns="0" tIns="0" rIns="0" bIns="0" rtlCol="0" anchor="ctr"/>
          <a:lstStyle/>
          <a:p>
            <a:pPr indent="0" marL="0">
              <a:buNone/>
            </a:pPr>
            <a:r>
              <a:rPr lang="en-US" sz="1050" b="1" dirty="0">
                <a:solidFill>
                  <a:srgbClr val="B9791F"/>
                </a:solidFill>
                <a:latin typeface="Calibri" pitchFamily="34" charset="0"/>
                <a:ea typeface="Calibri" pitchFamily="34" charset="-122"/>
                <a:cs typeface="Calibri" pitchFamily="34" charset="-120"/>
              </a:rPr>
              <a:t>FLAGGED &amp; MANAGED</a:t>
            </a:r>
            <a:endParaRPr lang="en-US" sz="1050" dirty="0"/>
          </a:p>
        </p:txBody>
      </p:sp>
      <p:sp>
        <p:nvSpPr>
          <p:cNvPr id="23" name="Text 21"/>
          <p:cNvSpPr/>
          <p:nvPr/>
        </p:nvSpPr>
        <p:spPr>
          <a:xfrm>
            <a:off x="7040880" y="4809744"/>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Peaked 198% of capital; deliberate glide to 147%, still falling</a:t>
            </a:r>
            <a:endParaRPr lang="en-US" sz="1050" dirty="0"/>
          </a:p>
        </p:txBody>
      </p:sp>
      <p:sp>
        <p:nvSpPr>
          <p:cNvPr id="24" name="Shape 22"/>
          <p:cNvSpPr/>
          <p:nvPr/>
        </p:nvSpPr>
        <p:spPr>
          <a:xfrm>
            <a:off x="548640" y="5577840"/>
            <a:ext cx="11064240" cy="713232"/>
          </a:xfrm>
          <a:prstGeom prst="roundRect">
            <a:avLst>
              <a:gd name="adj" fmla="val 7692"/>
            </a:avLst>
          </a:prstGeom>
          <a:solidFill>
            <a:srgbClr val="FAF7F0"/>
          </a:solidFill>
          <a:ln/>
        </p:spPr>
      </p:sp>
      <p:sp>
        <p:nvSpPr>
          <p:cNvPr id="25" name="Text 23"/>
          <p:cNvSpPr/>
          <p:nvPr/>
        </p:nvSpPr>
        <p:spPr>
          <a:xfrm>
            <a:off x="777240" y="5614416"/>
            <a:ext cx="3977640" cy="640080"/>
          </a:xfrm>
          <a:prstGeom prst="rect">
            <a:avLst/>
          </a:prstGeom>
          <a:noFill/>
          <a:ln/>
        </p:spPr>
        <p:txBody>
          <a:bodyPr wrap="square" lIns="0" tIns="0" rIns="0" bIns="0" rtlCol="0" anchor="ctr"/>
          <a:lstStyle/>
          <a:p>
            <a:pPr indent="0" marL="0">
              <a:buNone/>
            </a:pPr>
            <a:r>
              <a:rPr lang="en-US" sz="1150" b="1" dirty="0">
                <a:solidFill>
                  <a:srgbClr val="1F2A44"/>
                </a:solidFill>
                <a:latin typeface="Calibri" pitchFamily="34" charset="0"/>
                <a:ea typeface="Calibri" pitchFamily="34" charset="-122"/>
                <a:cs typeface="Calibri" pitchFamily="34" charset="-120"/>
              </a:rPr>
              <a:t>Dividend cessation rule</a:t>
            </a:r>
            <a:endParaRPr lang="en-US" sz="1150" dirty="0"/>
          </a:p>
        </p:txBody>
      </p:sp>
      <p:sp>
        <p:nvSpPr>
          <p:cNvPr id="26" name="Text 24"/>
          <p:cNvSpPr/>
          <p:nvPr/>
        </p:nvSpPr>
        <p:spPr>
          <a:xfrm>
            <a:off x="4800600" y="5614416"/>
            <a:ext cx="2194560" cy="640080"/>
          </a:xfrm>
          <a:prstGeom prst="rect">
            <a:avLst/>
          </a:prstGeom>
          <a:noFill/>
          <a:ln/>
        </p:spPr>
        <p:txBody>
          <a:bodyPr wrap="square" lIns="0" tIns="0" rIns="0" bIns="0" rtlCol="0" anchor="ctr"/>
          <a:lstStyle/>
          <a:p>
            <a:pPr indent="0" marL="0">
              <a:buNone/>
            </a:pPr>
            <a:r>
              <a:rPr lang="en-US" sz="1050" b="1" dirty="0">
                <a:solidFill>
                  <a:srgbClr val="2E7D32"/>
                </a:solidFill>
                <a:latin typeface="Calibri" pitchFamily="34" charset="0"/>
                <a:ea typeface="Calibri" pitchFamily="34" charset="-122"/>
                <a:cs typeface="Calibri" pitchFamily="34" charset="-120"/>
              </a:rPr>
              <a:t>FOLLOWED</a:t>
            </a:r>
            <a:endParaRPr lang="en-US" sz="1050" dirty="0"/>
          </a:p>
        </p:txBody>
      </p:sp>
      <p:sp>
        <p:nvSpPr>
          <p:cNvPr id="27" name="Text 25"/>
          <p:cNvSpPr/>
          <p:nvPr/>
        </p:nvSpPr>
        <p:spPr>
          <a:xfrm>
            <a:off x="7040880" y="5614416"/>
            <a:ext cx="4480560" cy="640080"/>
          </a:xfrm>
          <a:prstGeom prst="rect">
            <a:avLst/>
          </a:prstGeom>
          <a:noFill/>
          <a:ln/>
        </p:spPr>
        <p:txBody>
          <a:bodyPr wrap="square" lIns="0" tIns="0" rIns="0" bIns="0" rtlCol="0" anchor="ctr"/>
          <a:lstStyle/>
          <a:p>
            <a:pPr indent="0" marL="0">
              <a:buNone/>
            </a:pPr>
            <a:r>
              <a:rPr lang="en-US" sz="1050" dirty="0">
                <a:solidFill>
                  <a:srgbClr val="232733"/>
                </a:solidFill>
                <a:latin typeface="Calibri" pitchFamily="34" charset="0"/>
                <a:ea typeface="Calibri" pitchFamily="34" charset="-122"/>
                <a:cs typeface="Calibri" pitchFamily="34" charset="-120"/>
              </a:rPr>
              <a:t>Suspended when required; restarted lawfully, then doubled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0515600" cy="292608"/>
          </a:xfrm>
          <a:prstGeom prst="rect">
            <a:avLst/>
          </a:prstGeom>
          <a:noFill/>
          <a:ln/>
        </p:spPr>
        <p:txBody>
          <a:bodyPr wrap="square" lIns="0" tIns="0" rIns="0" bIns="0" rtlCol="0" anchor="ctr"/>
          <a:lstStyle/>
          <a:p>
            <a:pPr indent="0" marL="0">
              <a:buNone/>
            </a:pPr>
            <a:r>
              <a:rPr lang="en-US" sz="1200" b="1" spc="200" kern="0" dirty="0">
                <a:solidFill>
                  <a:srgbClr val="B9791F"/>
                </a:solidFill>
                <a:latin typeface="Calibri" pitchFamily="34" charset="0"/>
                <a:ea typeface="Calibri" pitchFamily="34" charset="-122"/>
                <a:cs typeface="Calibri" pitchFamily="34" charset="-120"/>
              </a:rPr>
              <a:t>SECTION 5 · SIX KPIS — FINANCIAL, CUSTOMER, CULTURAL</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1F2A44"/>
                </a:solidFill>
                <a:latin typeface="Cambria" pitchFamily="34" charset="0"/>
                <a:ea typeface="Cambria" pitchFamily="34" charset="-122"/>
                <a:cs typeface="Cambria" pitchFamily="34" charset="-120"/>
              </a:rPr>
              <a:t>What Defines Success From Here</a:t>
            </a:r>
            <a:endParaRPr lang="en-US" sz="3200" dirty="0"/>
          </a:p>
        </p:txBody>
      </p:sp>
      <p:sp>
        <p:nvSpPr>
          <p:cNvPr id="4" name="Shape 2"/>
          <p:cNvSpPr/>
          <p:nvPr/>
        </p:nvSpPr>
        <p:spPr>
          <a:xfrm>
            <a:off x="548640" y="1600200"/>
            <a:ext cx="3657600" cy="1508760"/>
          </a:xfrm>
          <a:prstGeom prst="roundRect">
            <a:avLst>
              <a:gd name="adj" fmla="val 4848"/>
            </a:avLst>
          </a:prstGeom>
          <a:solidFill>
            <a:srgbClr val="F5F0E4"/>
          </a:solidFill>
          <a:ln/>
        </p:spPr>
      </p:sp>
      <p:sp>
        <p:nvSpPr>
          <p:cNvPr id="5" name="Text 3"/>
          <p:cNvSpPr/>
          <p:nvPr/>
        </p:nvSpPr>
        <p:spPr>
          <a:xfrm>
            <a:off x="731520" y="170992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FINANCIAL</a:t>
            </a:r>
            <a:endParaRPr lang="en-US" sz="1000" dirty="0"/>
          </a:p>
        </p:txBody>
      </p:sp>
      <p:sp>
        <p:nvSpPr>
          <p:cNvPr id="6" name="Text 4"/>
          <p:cNvSpPr/>
          <p:nvPr/>
        </p:nvSpPr>
        <p:spPr>
          <a:xfrm>
            <a:off x="731520" y="198424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ROAA ≥ 1.0%</a:t>
            </a:r>
            <a:endParaRPr lang="en-US" sz="1500" dirty="0"/>
          </a:p>
        </p:txBody>
      </p:sp>
      <p:sp>
        <p:nvSpPr>
          <p:cNvPr id="7" name="Text 5"/>
          <p:cNvSpPr/>
          <p:nvPr/>
        </p:nvSpPr>
        <p:spPr>
          <a:xfrm>
            <a:off x="731520" y="251460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exiting 2030 at 0.99% run-rate</a:t>
            </a:r>
            <a:endParaRPr lang="en-US" sz="1100" dirty="0"/>
          </a:p>
        </p:txBody>
      </p:sp>
      <p:sp>
        <p:nvSpPr>
          <p:cNvPr id="8" name="Shape 6"/>
          <p:cNvSpPr/>
          <p:nvPr/>
        </p:nvSpPr>
        <p:spPr>
          <a:xfrm>
            <a:off x="4407408" y="1600200"/>
            <a:ext cx="3657600" cy="1508760"/>
          </a:xfrm>
          <a:prstGeom prst="roundRect">
            <a:avLst>
              <a:gd name="adj" fmla="val 4848"/>
            </a:avLst>
          </a:prstGeom>
          <a:solidFill>
            <a:srgbClr val="F5F0E4"/>
          </a:solidFill>
          <a:ln/>
        </p:spPr>
      </p:sp>
      <p:sp>
        <p:nvSpPr>
          <p:cNvPr id="9" name="Text 7"/>
          <p:cNvSpPr/>
          <p:nvPr/>
        </p:nvSpPr>
        <p:spPr>
          <a:xfrm>
            <a:off x="4590288" y="170992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FINANCIAL</a:t>
            </a:r>
            <a:endParaRPr lang="en-US" sz="1000" dirty="0"/>
          </a:p>
        </p:txBody>
      </p:sp>
      <p:sp>
        <p:nvSpPr>
          <p:cNvPr id="10" name="Text 8"/>
          <p:cNvSpPr/>
          <p:nvPr/>
        </p:nvSpPr>
        <p:spPr>
          <a:xfrm>
            <a:off x="4590288" y="198424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Efficiency ≤ 65%</a:t>
            </a:r>
            <a:endParaRPr lang="en-US" sz="1500" dirty="0"/>
          </a:p>
        </p:txBody>
      </p:sp>
      <p:sp>
        <p:nvSpPr>
          <p:cNvPr id="11" name="Text 9"/>
          <p:cNvSpPr/>
          <p:nvPr/>
        </p:nvSpPr>
        <p:spPr>
          <a:xfrm>
            <a:off x="4590288" y="251460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2030 average: 64%</a:t>
            </a:r>
            <a:endParaRPr lang="en-US" sz="1100" dirty="0"/>
          </a:p>
        </p:txBody>
      </p:sp>
      <p:sp>
        <p:nvSpPr>
          <p:cNvPr id="12" name="Shape 10"/>
          <p:cNvSpPr/>
          <p:nvPr/>
        </p:nvSpPr>
        <p:spPr>
          <a:xfrm>
            <a:off x="8266176" y="1600200"/>
            <a:ext cx="3657600" cy="1508760"/>
          </a:xfrm>
          <a:prstGeom prst="roundRect">
            <a:avLst>
              <a:gd name="adj" fmla="val 4848"/>
            </a:avLst>
          </a:prstGeom>
          <a:solidFill>
            <a:srgbClr val="F5F0E4"/>
          </a:solidFill>
          <a:ln/>
        </p:spPr>
      </p:sp>
      <p:sp>
        <p:nvSpPr>
          <p:cNvPr id="13" name="Text 11"/>
          <p:cNvSpPr/>
          <p:nvPr/>
        </p:nvSpPr>
        <p:spPr>
          <a:xfrm>
            <a:off x="8449056" y="170992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FINANCIAL</a:t>
            </a:r>
            <a:endParaRPr lang="en-US" sz="1000" dirty="0"/>
          </a:p>
        </p:txBody>
      </p:sp>
      <p:sp>
        <p:nvSpPr>
          <p:cNvPr id="14" name="Text 12"/>
          <p:cNvSpPr/>
          <p:nvPr/>
        </p:nvSpPr>
        <p:spPr>
          <a:xfrm>
            <a:off x="8449056" y="198424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Leverage ≥ 8% · Risk capital ≥ 11%</a:t>
            </a:r>
            <a:endParaRPr lang="en-US" sz="1500" dirty="0"/>
          </a:p>
        </p:txBody>
      </p:sp>
      <p:sp>
        <p:nvSpPr>
          <p:cNvPr id="15" name="Text 13"/>
          <p:cNvSpPr/>
          <p:nvPr/>
        </p:nvSpPr>
        <p:spPr>
          <a:xfrm>
            <a:off x="8449056" y="251460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9.05% / 12.2% today</a:t>
            </a:r>
            <a:endParaRPr lang="en-US" sz="1100" dirty="0"/>
          </a:p>
        </p:txBody>
      </p:sp>
      <p:sp>
        <p:nvSpPr>
          <p:cNvPr id="16" name="Shape 14"/>
          <p:cNvSpPr/>
          <p:nvPr/>
        </p:nvSpPr>
        <p:spPr>
          <a:xfrm>
            <a:off x="548640" y="3291840"/>
            <a:ext cx="3657600" cy="1508760"/>
          </a:xfrm>
          <a:prstGeom prst="roundRect">
            <a:avLst>
              <a:gd name="adj" fmla="val 4848"/>
            </a:avLst>
          </a:prstGeom>
          <a:solidFill>
            <a:srgbClr val="F5F0E4"/>
          </a:solidFill>
          <a:ln/>
        </p:spPr>
      </p:sp>
      <p:sp>
        <p:nvSpPr>
          <p:cNvPr id="17" name="Text 15"/>
          <p:cNvSpPr/>
          <p:nvPr/>
        </p:nvSpPr>
        <p:spPr>
          <a:xfrm>
            <a:off x="731520" y="340156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CUSTOMER</a:t>
            </a:r>
            <a:endParaRPr lang="en-US" sz="1000" dirty="0"/>
          </a:p>
        </p:txBody>
      </p:sp>
      <p:sp>
        <p:nvSpPr>
          <p:cNvPr id="18" name="Text 16"/>
          <p:cNvSpPr/>
          <p:nvPr/>
        </p:nvSpPr>
        <p:spPr>
          <a:xfrm>
            <a:off x="731520" y="367588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Core deposits ≥ 95% of funding</a:t>
            </a:r>
            <a:endParaRPr lang="en-US" sz="1500" dirty="0"/>
          </a:p>
        </p:txBody>
      </p:sp>
      <p:sp>
        <p:nvSpPr>
          <p:cNvPr id="19" name="Text 17"/>
          <p:cNvSpPr/>
          <p:nvPr/>
        </p:nvSpPr>
        <p:spPr>
          <a:xfrm>
            <a:off x="731520" y="420624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~97% today — customers, not borrowings</a:t>
            </a:r>
            <a:endParaRPr lang="en-US" sz="1100" dirty="0"/>
          </a:p>
        </p:txBody>
      </p:sp>
      <p:sp>
        <p:nvSpPr>
          <p:cNvPr id="20" name="Shape 18"/>
          <p:cNvSpPr/>
          <p:nvPr/>
        </p:nvSpPr>
        <p:spPr>
          <a:xfrm>
            <a:off x="4407408" y="3291840"/>
            <a:ext cx="3657600" cy="1508760"/>
          </a:xfrm>
          <a:prstGeom prst="roundRect">
            <a:avLst>
              <a:gd name="adj" fmla="val 4848"/>
            </a:avLst>
          </a:prstGeom>
          <a:solidFill>
            <a:srgbClr val="F5F0E4"/>
          </a:solidFill>
          <a:ln/>
        </p:spPr>
      </p:sp>
      <p:sp>
        <p:nvSpPr>
          <p:cNvPr id="21" name="Text 19"/>
          <p:cNvSpPr/>
          <p:nvPr/>
        </p:nvSpPr>
        <p:spPr>
          <a:xfrm>
            <a:off x="4590288" y="340156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CUSTOMER</a:t>
            </a:r>
            <a:endParaRPr lang="en-US" sz="1000" dirty="0"/>
          </a:p>
        </p:txBody>
      </p:sp>
      <p:sp>
        <p:nvSpPr>
          <p:cNvPr id="22" name="Text 20"/>
          <p:cNvSpPr/>
          <p:nvPr/>
        </p:nvSpPr>
        <p:spPr>
          <a:xfrm>
            <a:off x="4590288" y="367588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Business deposit share ≥ 30%</a:t>
            </a:r>
            <a:endParaRPr lang="en-US" sz="1500" dirty="0"/>
          </a:p>
        </p:txBody>
      </p:sp>
      <p:sp>
        <p:nvSpPr>
          <p:cNvPr id="23" name="Text 21"/>
          <p:cNvSpPr/>
          <p:nvPr/>
        </p:nvSpPr>
        <p:spPr>
          <a:xfrm>
            <a:off x="4590288" y="420624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26% at year-end — the growth engine</a:t>
            </a:r>
            <a:endParaRPr lang="en-US" sz="1100" dirty="0"/>
          </a:p>
        </p:txBody>
      </p:sp>
      <p:sp>
        <p:nvSpPr>
          <p:cNvPr id="24" name="Shape 22"/>
          <p:cNvSpPr/>
          <p:nvPr/>
        </p:nvSpPr>
        <p:spPr>
          <a:xfrm>
            <a:off x="8266176" y="3291840"/>
            <a:ext cx="3657600" cy="1508760"/>
          </a:xfrm>
          <a:prstGeom prst="roundRect">
            <a:avLst>
              <a:gd name="adj" fmla="val 4848"/>
            </a:avLst>
          </a:prstGeom>
          <a:solidFill>
            <a:srgbClr val="F5F0E4"/>
          </a:solidFill>
          <a:ln/>
        </p:spPr>
      </p:sp>
      <p:sp>
        <p:nvSpPr>
          <p:cNvPr id="25" name="Text 23"/>
          <p:cNvSpPr/>
          <p:nvPr/>
        </p:nvSpPr>
        <p:spPr>
          <a:xfrm>
            <a:off x="8449056" y="3401568"/>
            <a:ext cx="3291840" cy="274320"/>
          </a:xfrm>
          <a:prstGeom prst="rect">
            <a:avLst/>
          </a:prstGeom>
          <a:noFill/>
          <a:ln/>
        </p:spPr>
        <p:txBody>
          <a:bodyPr wrap="square" lIns="0" tIns="0" rIns="0" bIns="0" rtlCol="0" anchor="ctr"/>
          <a:lstStyle/>
          <a:p>
            <a:pPr indent="0" marL="0">
              <a:buNone/>
            </a:pPr>
            <a:r>
              <a:rPr lang="en-US" sz="1000" b="1" spc="200" kern="0" dirty="0">
                <a:solidFill>
                  <a:srgbClr val="B9791F"/>
                </a:solidFill>
                <a:latin typeface="Calibri" pitchFamily="34" charset="0"/>
                <a:ea typeface="Calibri" pitchFamily="34" charset="-122"/>
                <a:cs typeface="Calibri" pitchFamily="34" charset="-120"/>
              </a:rPr>
              <a:t>CULTURAL</a:t>
            </a:r>
            <a:endParaRPr lang="en-US" sz="1000" dirty="0"/>
          </a:p>
        </p:txBody>
      </p:sp>
      <p:sp>
        <p:nvSpPr>
          <p:cNvPr id="26" name="Text 24"/>
          <p:cNvSpPr/>
          <p:nvPr/>
        </p:nvSpPr>
        <p:spPr>
          <a:xfrm>
            <a:off x="8449056" y="3675888"/>
            <a:ext cx="3291840" cy="502920"/>
          </a:xfrm>
          <a:prstGeom prst="rect">
            <a:avLst/>
          </a:prstGeom>
          <a:noFill/>
          <a:ln/>
        </p:spPr>
        <p:txBody>
          <a:bodyPr wrap="square" lIns="0" tIns="0" rIns="0" bIns="0" rtlCol="0" anchor="ctr"/>
          <a:lstStyle/>
          <a:p>
            <a:pPr indent="0" marL="0">
              <a:buNone/>
            </a:pPr>
            <a:r>
              <a:rPr lang="en-US" sz="1500" b="1" dirty="0">
                <a:solidFill>
                  <a:srgbClr val="1F2A44"/>
                </a:solidFill>
                <a:latin typeface="Cambria" pitchFamily="34" charset="0"/>
                <a:ea typeface="Cambria" pitchFamily="34" charset="-122"/>
                <a:cs typeface="Cambria" pitchFamily="34" charset="-120"/>
              </a:rPr>
              <a:t>Meet or beat guidance</a:t>
            </a:r>
            <a:endParaRPr lang="en-US" sz="1500" dirty="0"/>
          </a:p>
        </p:txBody>
      </p:sp>
      <p:sp>
        <p:nvSpPr>
          <p:cNvPr id="27" name="Text 25"/>
          <p:cNvSpPr/>
          <p:nvPr/>
        </p:nvSpPr>
        <p:spPr>
          <a:xfrm>
            <a:off x="8449056" y="4206240"/>
            <a:ext cx="3291840" cy="502920"/>
          </a:xfrm>
          <a:prstGeom prst="rect">
            <a:avLst/>
          </a:prstGeom>
          <a:noFill/>
          <a:ln/>
        </p:spPr>
        <p:txBody>
          <a:bodyPr wrap="square" lIns="0" tIns="0" rIns="0" bIns="0" rtlCol="0" anchor="ctr"/>
          <a:lstStyle/>
          <a:p>
            <a:pPr indent="0" marL="0">
              <a:buNone/>
            </a:pPr>
            <a:r>
              <a:rPr lang="en-US" sz="1100" dirty="0">
                <a:solidFill>
                  <a:srgbClr val="6E7480"/>
                </a:solidFill>
                <a:latin typeface="Calibri" pitchFamily="34" charset="0"/>
                <a:ea typeface="Calibri" pitchFamily="34" charset="-122"/>
                <a:cs typeface="Calibri" pitchFamily="34" charset="-120"/>
              </a:rPr>
              <a:t>credibility is compounding capital</a:t>
            </a:r>
            <a:endParaRPr lang="en-US" sz="1100" dirty="0"/>
          </a:p>
        </p:txBody>
      </p:sp>
      <p:sp>
        <p:nvSpPr>
          <p:cNvPr id="28" name="Shape 26"/>
          <p:cNvSpPr/>
          <p:nvPr/>
        </p:nvSpPr>
        <p:spPr>
          <a:xfrm>
            <a:off x="548640" y="5212080"/>
            <a:ext cx="11064240" cy="1188720"/>
          </a:xfrm>
          <a:prstGeom prst="roundRect">
            <a:avLst>
              <a:gd name="adj" fmla="val 6154"/>
            </a:avLst>
          </a:prstGeom>
          <a:solidFill>
            <a:srgbClr val="EFF2EE"/>
          </a:solidFill>
          <a:ln/>
        </p:spPr>
      </p:sp>
      <p:sp>
        <p:nvSpPr>
          <p:cNvPr id="29" name="Text 27"/>
          <p:cNvSpPr/>
          <p:nvPr/>
        </p:nvSpPr>
        <p:spPr>
          <a:xfrm>
            <a:off x="777240" y="5376672"/>
            <a:ext cx="10607040" cy="914400"/>
          </a:xfrm>
          <a:prstGeom prst="rect">
            <a:avLst/>
          </a:prstGeom>
          <a:noFill/>
          <a:ln/>
        </p:spPr>
        <p:txBody>
          <a:bodyPr wrap="square" lIns="0" tIns="0" rIns="0" bIns="0" rtlCol="0" anchor="ctr"/>
          <a:lstStyle/>
          <a:p>
            <a:pPr indent="0" marL="0">
              <a:buNone/>
            </a:pPr>
            <a:r>
              <a:rPr lang="en-US" sz="1300" b="1" dirty="0">
                <a:solidFill>
                  <a:srgbClr val="3E5C41"/>
                </a:solidFill>
                <a:latin typeface="Calibri" pitchFamily="34" charset="0"/>
                <a:ea typeface="Calibri" pitchFamily="34" charset="-122"/>
                <a:cs typeface="Calibri" pitchFamily="34" charset="-120"/>
              </a:rPr>
              <a:t>2031 outlook — ready to lead, ready to acquire:  </a:t>
            </a:r>
            <a:pPr indent="0" marL="0">
              <a:buNone/>
            </a:pPr>
            <a:r>
              <a:rPr lang="en-US" sz="1300" dirty="0">
                <a:solidFill>
                  <a:srgbClr val="232733"/>
                </a:solidFill>
                <a:latin typeface="Calibri" pitchFamily="34" charset="0"/>
                <a:ea typeface="Calibri" pitchFamily="34" charset="-122"/>
                <a:cs typeface="Calibri" pitchFamily="34" charset="-120"/>
              </a:rPr>
              <a:t>rates rising again and we are positioned for it; ~$100M of deposit-funded lending capacity; ≈$15M of capital above requirements and a stock near book value — dry powder for growth, dividends, buybacks, or the right acquisition.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C31"/>
        </a:solidFill>
      </p:bgPr>
    </p:bg>
    <p:spTree>
      <p:nvGrpSpPr>
        <p:cNvPr id="1" name=""/>
        <p:cNvGrpSpPr/>
        <p:nvPr/>
      </p:nvGrpSpPr>
      <p:grpSpPr>
        <a:xfrm>
          <a:off x="0" y="0"/>
          <a:ext cx="0" cy="0"/>
          <a:chOff x="0" y="0"/>
          <a:chExt cx="0" cy="0"/>
        </a:xfrm>
      </p:grpSpPr>
      <p:pic>
        <p:nvPicPr>
          <p:cNvPr id="2" name="Image 0" descr="bottle.jpg">    </p:cNvPr>
          <p:cNvPicPr>
            <a:picLocks noChangeAspect="1"/>
          </p:cNvPicPr>
          <p:nvPr/>
        </p:nvPicPr>
        <p:blipFill>
          <a:blip r:embed="rId1"/>
          <a:stretch>
            <a:fillRect/>
          </a:stretch>
        </p:blipFill>
        <p:spPr>
          <a:xfrm>
            <a:off x="822960" y="1234440"/>
            <a:ext cx="2926080" cy="4389120"/>
          </a:xfrm>
          <a:prstGeom prst="rect">
            <a:avLst/>
          </a:prstGeom>
        </p:spPr>
      </p:pic>
      <p:sp>
        <p:nvSpPr>
          <p:cNvPr id="3" name="Text 0"/>
          <p:cNvSpPr/>
          <p:nvPr/>
        </p:nvSpPr>
        <p:spPr>
          <a:xfrm>
            <a:off x="4297680" y="1920240"/>
            <a:ext cx="73152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Aged to Top Shelf.</a:t>
            </a:r>
            <a:endParaRPr lang="en-US" sz="4800" dirty="0"/>
          </a:p>
        </p:txBody>
      </p:sp>
      <p:sp>
        <p:nvSpPr>
          <p:cNvPr id="4" name="Text 1"/>
          <p:cNvSpPr/>
          <p:nvPr/>
        </p:nvSpPr>
        <p:spPr>
          <a:xfrm>
            <a:off x="4297680" y="3383280"/>
            <a:ext cx="1783080" cy="502920"/>
          </a:xfrm>
          <a:prstGeom prst="rect">
            <a:avLst/>
          </a:prstGeom>
          <a:noFill/>
          <a:ln/>
        </p:spPr>
        <p:txBody>
          <a:bodyPr wrap="square" lIns="0" tIns="0" rIns="0" bIns="0" rtlCol="0" anchor="ctr"/>
          <a:lstStyle/>
          <a:p>
            <a:pPr indent="0" marL="0">
              <a:buNone/>
            </a:pPr>
            <a:r>
              <a:rPr lang="en-US" sz="2400" b="1" dirty="0">
                <a:solidFill>
                  <a:srgbClr val="E3A94E"/>
                </a:solidFill>
                <a:latin typeface="Cambria" pitchFamily="34" charset="0"/>
                <a:ea typeface="Cambria" pitchFamily="34" charset="-122"/>
                <a:cs typeface="Cambria" pitchFamily="34" charset="-120"/>
              </a:rPr>
              <a:t>+$10.3M</a:t>
            </a:r>
            <a:endParaRPr lang="en-US" sz="2400" dirty="0"/>
          </a:p>
        </p:txBody>
      </p:sp>
      <p:sp>
        <p:nvSpPr>
          <p:cNvPr id="5" name="Text 2"/>
          <p:cNvSpPr/>
          <p:nvPr/>
        </p:nvSpPr>
        <p:spPr>
          <a:xfrm>
            <a:off x="4297680" y="3886200"/>
            <a:ext cx="1783080" cy="548640"/>
          </a:xfrm>
          <a:prstGeom prst="rect">
            <a:avLst/>
          </a:prstGeom>
          <a:noFill/>
          <a:ln/>
        </p:spPr>
        <p:txBody>
          <a:bodyPr wrap="square" lIns="0" tIns="0" rIns="0" bIns="0" rtlCol="0" anchor="ctr"/>
          <a:lstStyle/>
          <a:p>
            <a:pPr indent="0" marL="0">
              <a:buNone/>
            </a:pPr>
            <a:r>
              <a:rPr lang="en-US" sz="1050" dirty="0">
                <a:solidFill>
                  <a:srgbClr val="C9CFDC"/>
                </a:solidFill>
                <a:latin typeface="Calibri" pitchFamily="34" charset="0"/>
                <a:ea typeface="Calibri" pitchFamily="34" charset="-122"/>
                <a:cs typeface="Calibri" pitchFamily="34" charset="-120"/>
              </a:rPr>
              <a:t>operating earnings swing</a:t>
            </a:r>
            <a:endParaRPr lang="en-US" sz="1050" dirty="0"/>
          </a:p>
        </p:txBody>
      </p:sp>
      <p:sp>
        <p:nvSpPr>
          <p:cNvPr id="6" name="Text 3"/>
          <p:cNvSpPr/>
          <p:nvPr/>
        </p:nvSpPr>
        <p:spPr>
          <a:xfrm>
            <a:off x="6126480" y="3383280"/>
            <a:ext cx="1783080" cy="502920"/>
          </a:xfrm>
          <a:prstGeom prst="rect">
            <a:avLst/>
          </a:prstGeom>
          <a:noFill/>
          <a:ln/>
        </p:spPr>
        <p:txBody>
          <a:bodyPr wrap="square" lIns="0" tIns="0" rIns="0" bIns="0" rtlCol="0" anchor="ctr"/>
          <a:lstStyle/>
          <a:p>
            <a:pPr indent="0" marL="0">
              <a:buNone/>
            </a:pPr>
            <a:r>
              <a:rPr lang="en-US" sz="2400" b="1" dirty="0">
                <a:solidFill>
                  <a:srgbClr val="E3A94E"/>
                </a:solidFill>
                <a:latin typeface="Cambria" pitchFamily="34" charset="0"/>
                <a:ea typeface="Cambria" pitchFamily="34" charset="-122"/>
                <a:cs typeface="Cambria" pitchFamily="34" charset="-120"/>
              </a:rPr>
              <a:t>C → A</a:t>
            </a:r>
            <a:endParaRPr lang="en-US" sz="2400" dirty="0"/>
          </a:p>
        </p:txBody>
      </p:sp>
      <p:sp>
        <p:nvSpPr>
          <p:cNvPr id="7" name="Text 4"/>
          <p:cNvSpPr/>
          <p:nvPr/>
        </p:nvSpPr>
        <p:spPr>
          <a:xfrm>
            <a:off x="6126480" y="3886200"/>
            <a:ext cx="1783080" cy="548640"/>
          </a:xfrm>
          <a:prstGeom prst="rect">
            <a:avLst/>
          </a:prstGeom>
          <a:noFill/>
          <a:ln/>
        </p:spPr>
        <p:txBody>
          <a:bodyPr wrap="square" lIns="0" tIns="0" rIns="0" bIns="0" rtlCol="0" anchor="ctr"/>
          <a:lstStyle/>
          <a:p>
            <a:pPr indent="0" marL="0">
              <a:buNone/>
            </a:pPr>
            <a:r>
              <a:rPr lang="en-US" sz="1050" dirty="0">
                <a:solidFill>
                  <a:srgbClr val="C9CFDC"/>
                </a:solidFill>
                <a:latin typeface="Calibri" pitchFamily="34" charset="0"/>
                <a:ea typeface="Calibri" pitchFamily="34" charset="-122"/>
                <a:cs typeface="Calibri" pitchFamily="34" charset="-120"/>
              </a:rPr>
              <a:t>credit rating</a:t>
            </a:r>
            <a:endParaRPr lang="en-US" sz="1050" dirty="0"/>
          </a:p>
        </p:txBody>
      </p:sp>
      <p:sp>
        <p:nvSpPr>
          <p:cNvPr id="8" name="Text 5"/>
          <p:cNvSpPr/>
          <p:nvPr/>
        </p:nvSpPr>
        <p:spPr>
          <a:xfrm>
            <a:off x="7955280" y="3383280"/>
            <a:ext cx="1783080" cy="502920"/>
          </a:xfrm>
          <a:prstGeom prst="rect">
            <a:avLst/>
          </a:prstGeom>
          <a:noFill/>
          <a:ln/>
        </p:spPr>
        <p:txBody>
          <a:bodyPr wrap="square" lIns="0" tIns="0" rIns="0" bIns="0" rtlCol="0" anchor="ctr"/>
          <a:lstStyle/>
          <a:p>
            <a:pPr indent="0" marL="0">
              <a:buNone/>
            </a:pPr>
            <a:r>
              <a:rPr lang="en-US" sz="2400" b="1" dirty="0">
                <a:solidFill>
                  <a:srgbClr val="E3A94E"/>
                </a:solidFill>
                <a:latin typeface="Cambria" pitchFamily="34" charset="0"/>
                <a:ea typeface="Cambria" pitchFamily="34" charset="-122"/>
                <a:cs typeface="Cambria" pitchFamily="34" charset="-120"/>
              </a:rPr>
              <a:t>12.2%</a:t>
            </a:r>
            <a:endParaRPr lang="en-US" sz="2400" dirty="0"/>
          </a:p>
        </p:txBody>
      </p:sp>
      <p:sp>
        <p:nvSpPr>
          <p:cNvPr id="9" name="Text 6"/>
          <p:cNvSpPr/>
          <p:nvPr/>
        </p:nvSpPr>
        <p:spPr>
          <a:xfrm>
            <a:off x="7955280" y="3886200"/>
            <a:ext cx="1783080" cy="548640"/>
          </a:xfrm>
          <a:prstGeom prst="rect">
            <a:avLst/>
          </a:prstGeom>
          <a:noFill/>
          <a:ln/>
        </p:spPr>
        <p:txBody>
          <a:bodyPr wrap="square" lIns="0" tIns="0" rIns="0" bIns="0" rtlCol="0" anchor="ctr"/>
          <a:lstStyle/>
          <a:p>
            <a:pPr indent="0" marL="0">
              <a:buNone/>
            </a:pPr>
            <a:r>
              <a:rPr lang="en-US" sz="1050" dirty="0">
                <a:solidFill>
                  <a:srgbClr val="C9CFDC"/>
                </a:solidFill>
                <a:latin typeface="Calibri" pitchFamily="34" charset="0"/>
                <a:ea typeface="Calibri" pitchFamily="34" charset="-122"/>
                <a:cs typeface="Calibri" pitchFamily="34" charset="-120"/>
              </a:rPr>
              <a:t>risk capital</a:t>
            </a:r>
            <a:endParaRPr lang="en-US" sz="1050" dirty="0"/>
          </a:p>
        </p:txBody>
      </p:sp>
      <p:sp>
        <p:nvSpPr>
          <p:cNvPr id="10" name="Text 7"/>
          <p:cNvSpPr/>
          <p:nvPr/>
        </p:nvSpPr>
        <p:spPr>
          <a:xfrm>
            <a:off x="9784080" y="3383280"/>
            <a:ext cx="1783080" cy="502920"/>
          </a:xfrm>
          <a:prstGeom prst="rect">
            <a:avLst/>
          </a:prstGeom>
          <a:noFill/>
          <a:ln/>
        </p:spPr>
        <p:txBody>
          <a:bodyPr wrap="square" lIns="0" tIns="0" rIns="0" bIns="0" rtlCol="0" anchor="ctr"/>
          <a:lstStyle/>
          <a:p>
            <a:pPr indent="0" marL="0">
              <a:buNone/>
            </a:pPr>
            <a:r>
              <a:rPr lang="en-US" sz="2400" b="1" dirty="0">
                <a:solidFill>
                  <a:srgbClr val="E3A94E"/>
                </a:solidFill>
                <a:latin typeface="Cambria" pitchFamily="34" charset="0"/>
                <a:ea typeface="Cambria" pitchFamily="34" charset="-122"/>
                <a:cs typeface="Cambria" pitchFamily="34" charset="-120"/>
              </a:rPr>
              <a:t>$1.40</a:t>
            </a:r>
            <a:endParaRPr lang="en-US" sz="2400" dirty="0"/>
          </a:p>
        </p:txBody>
      </p:sp>
      <p:sp>
        <p:nvSpPr>
          <p:cNvPr id="11" name="Text 8"/>
          <p:cNvSpPr/>
          <p:nvPr/>
        </p:nvSpPr>
        <p:spPr>
          <a:xfrm>
            <a:off x="9784080" y="3886200"/>
            <a:ext cx="1783080" cy="548640"/>
          </a:xfrm>
          <a:prstGeom prst="rect">
            <a:avLst/>
          </a:prstGeom>
          <a:noFill/>
          <a:ln/>
        </p:spPr>
        <p:txBody>
          <a:bodyPr wrap="square" lIns="0" tIns="0" rIns="0" bIns="0" rtlCol="0" anchor="ctr"/>
          <a:lstStyle/>
          <a:p>
            <a:pPr indent="0" marL="0">
              <a:buNone/>
            </a:pPr>
            <a:r>
              <a:rPr lang="en-US" sz="1050" dirty="0">
                <a:solidFill>
                  <a:srgbClr val="C9CFDC"/>
                </a:solidFill>
                <a:latin typeface="Calibri" pitchFamily="34" charset="0"/>
                <a:ea typeface="Calibri" pitchFamily="34" charset="-122"/>
                <a:cs typeface="Calibri" pitchFamily="34" charset="-120"/>
              </a:rPr>
              <a:t>dividends restored</a:t>
            </a:r>
            <a:endParaRPr lang="en-US" sz="1050" dirty="0"/>
          </a:p>
        </p:txBody>
      </p:sp>
      <p:sp>
        <p:nvSpPr>
          <p:cNvPr id="12" name="Text 9"/>
          <p:cNvSpPr/>
          <p:nvPr/>
        </p:nvSpPr>
        <p:spPr>
          <a:xfrm>
            <a:off x="4297680" y="4937760"/>
            <a:ext cx="7223760" cy="457200"/>
          </a:xfrm>
          <a:prstGeom prst="rect">
            <a:avLst/>
          </a:prstGeom>
          <a:noFill/>
          <a:ln/>
        </p:spPr>
        <p:txBody>
          <a:bodyPr wrap="square" lIns="0" tIns="0" rIns="0" bIns="0" rtlCol="0" anchor="ctr"/>
          <a:lstStyle/>
          <a:p>
            <a:pPr indent="0" marL="0">
              <a:buNone/>
            </a:pPr>
            <a:r>
              <a:rPr lang="en-US" sz="1600" i="1" dirty="0">
                <a:solidFill>
                  <a:srgbClr val="C9CFDC"/>
                </a:solidFill>
                <a:latin typeface="Calibri" pitchFamily="34" charset="0"/>
                <a:ea typeface="Calibri" pitchFamily="34" charset="-122"/>
                <a:cs typeface="Calibri" pitchFamily="34" charset="-120"/>
              </a:rPr>
              <a:t>Thank you, shareholders. Questions welcome — we kept the receipts.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2026-07-28T20:31:21Z</dcterms:created>
  <dcterms:modified xsi:type="dcterms:W3CDTF">2026-07-28T20:31:21Z</dcterms:modified>
</cp:coreProperties>
</file>